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76262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1619250" y="1828800"/>
            <a:ext cx="3734842" cy="285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0" b="1" dirty="0">
                <a:solidFill>
                  <a:srgbClr val="2B2B2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DX</a:t>
            </a:r>
            <a:endParaRPr lang="en-US" sz="225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533400"/>
            <a:ext cx="371043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MANUFACTURING × DIGITAL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989189"/>
            <a:ext cx="7912596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人×デジタルで作る製造工程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979789"/>
            <a:ext cx="3249067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単純に見える仕事が、どれだけ奥が深いか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6000750"/>
            <a:ext cx="109728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発表者: 高瀬</a:t>
            </a:r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2026.08.25 – 27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 / 11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86350" y="19896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86350" y="25992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86350" y="32088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908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863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3D2A22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1818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773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86350" y="44280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261521"/>
            <a:ext cx="10972800" cy="409575"/>
          </a:xfrm>
          <a:prstGeom prst="rect">
            <a:avLst/>
          </a:prstGeom>
          <a:solidFill>
            <a:srgbClr val="232321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600" y="6061621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良いモノを安全・安定・ムダなく作り続ける</a:t>
            </a:r>
            <a:endParaRPr lang="en-US" sz="2550" dirty="0"/>
          </a:p>
        </p:txBody>
      </p:sp>
      <p:sp>
        <p:nvSpPr>
          <p:cNvPr id="15" name="Text 13"/>
          <p:cNvSpPr txBox="1"/>
          <p:nvPr/>
        </p:nvSpPr>
        <p:spPr>
          <a:xfrm>
            <a:off x="5772150" y="20373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企画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10200" y="2251621"/>
            <a:ext cx="1066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何を作るか決める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67400" y="24659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72150" y="26469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76875" y="28612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レシピを決める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867400" y="30755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29250" y="3256508"/>
            <a:ext cx="10287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試作・段取り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346799" y="3470821"/>
            <a:ext cx="119360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一度作って味見する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867400" y="36851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調達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581400" y="4080421"/>
            <a:ext cx="5334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買い出し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7625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57721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676900" y="4080421"/>
            <a:ext cx="5334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調理する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8676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物流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572375" y="40804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運ぶ・保管する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9535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705975" y="3866108"/>
            <a:ext cx="85725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出荷・納品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9667875" y="40804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盛り付けて出す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867400" y="431378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↑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5772150" y="44757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保全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5345460" y="4690021"/>
            <a:ext cx="11962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コンロや鍋を整える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09600" y="2561183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ECM｜縦の流れ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609600" y="2775496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何をどう作るかを決める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09600" y="3875633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SCM｜横の流れ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609600" y="4089946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モノが調達から納品へ動く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6991350" y="4523333"/>
            <a:ext cx="247650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保全は、製造を止めないための土台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609600" y="4999583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出力｜</a:t>
            </a:r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QCDSE</a:t>
            </a:r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製造から出てきたものを、この五つで測る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200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品質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295275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コスト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514350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納期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733425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安全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525000" y="5328196"/>
            <a:ext cx="1905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環境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76200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味・栄養・新鮮さ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295275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電気代・材料費・人件費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514350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出てくるまでの早さ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33425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作る人が無事か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9525000" y="5737771"/>
            <a:ext cx="1905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厨房が片付いているか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09600" y="6118771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↻ 出力を見て、次の企画・設計へ返す。考える部署や人が、何人もいる。</a:t>
            </a:r>
            <a:endParaRPr lang="en-US" sz="1350" dirty="0"/>
          </a:p>
        </p:txBody>
      </p:sp>
      <p:sp>
        <p:nvSpPr>
          <p:cNvPr id="55" name="Text 53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 / 11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8194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292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788C5D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390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9C7FB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4488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001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6576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151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336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911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486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336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911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486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01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6576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151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772650" y="3675608"/>
            <a:ext cx="1676400" cy="895350"/>
          </a:xfrm>
          <a:prstGeom prst="roundRect">
            <a:avLst>
              <a:gd name="adj" fmla="val 12766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4008983"/>
            <a:ext cx="8915400" cy="2286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製造の難しさ — 管理項目が多い</a:t>
            </a:r>
            <a:endParaRPr lang="en-US" sz="3600" dirty="0"/>
          </a:p>
        </p:txBody>
      </p:sp>
      <p:sp>
        <p:nvSpPr>
          <p:cNvPr id="23" name="Text 20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要因が動くから、毎回ばらつく</a:t>
            </a:r>
            <a:endParaRPr lang="en-US" sz="2550" dirty="0"/>
          </a:p>
        </p:txBody>
      </p:sp>
      <p:sp>
        <p:nvSpPr>
          <p:cNvPr id="24" name="Text 21"/>
          <p:cNvSpPr txBox="1"/>
          <p:nvPr/>
        </p:nvSpPr>
        <p:spPr>
          <a:xfrm>
            <a:off x="1362373" y="2037308"/>
            <a:ext cx="62805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 品質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3479304" y="2037308"/>
            <a:ext cx="813792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 コスト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5787777" y="2037308"/>
            <a:ext cx="616297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 納期</a:t>
            </a:r>
            <a:endParaRPr lang="en-US" sz="1650" dirty="0"/>
          </a:p>
        </p:txBody>
      </p:sp>
      <p:sp>
        <p:nvSpPr>
          <p:cNvPr id="27" name="Text 24"/>
          <p:cNvSpPr txBox="1"/>
          <p:nvPr/>
        </p:nvSpPr>
        <p:spPr>
          <a:xfrm>
            <a:off x="8006953" y="2037308"/>
            <a:ext cx="59754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安全</a:t>
            </a:r>
            <a:endParaRPr lang="en-US" sz="1650" dirty="0"/>
          </a:p>
        </p:txBody>
      </p:sp>
      <p:sp>
        <p:nvSpPr>
          <p:cNvPr id="28" name="Text 25"/>
          <p:cNvSpPr txBox="1"/>
          <p:nvPr/>
        </p:nvSpPr>
        <p:spPr>
          <a:xfrm>
            <a:off x="10217795" y="2037308"/>
            <a:ext cx="59561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 環境</a:t>
            </a:r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9525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1650" dirty="0"/>
          </a:p>
        </p:txBody>
      </p:sp>
      <p:sp>
        <p:nvSpPr>
          <p:cNvPr id="30" name="Text 27"/>
          <p:cNvSpPr txBox="1"/>
          <p:nvPr/>
        </p:nvSpPr>
        <p:spPr>
          <a:xfrm>
            <a:off x="9525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作業者の熟練度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9525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交代・引き継ぎ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525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体調・疲れ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38100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機械</a:t>
            </a:r>
            <a:endParaRPr lang="en-US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38100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刃物や型の摩耗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38100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治具のガタ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38100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段取り替えの精度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66675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材料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66675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ロットの違い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66675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保管の状態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6675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仕入先の違い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525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9C7FB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方法</a:t>
            </a:r>
            <a:endParaRPr lang="en-US" sz="1650" dirty="0"/>
          </a:p>
        </p:txBody>
      </p:sp>
      <p:sp>
        <p:nvSpPr>
          <p:cNvPr id="42" name="Text 39"/>
          <p:cNvSpPr txBox="1"/>
          <p:nvPr/>
        </p:nvSpPr>
        <p:spPr>
          <a:xfrm>
            <a:off x="9525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手順の解釈違い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25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加工条件の設定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9525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作業標準の更新漏れ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38100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898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</a:t>
            </a:r>
            <a:endParaRPr lang="en-US" sz="1650" dirty="0"/>
          </a:p>
        </p:txBody>
      </p:sp>
      <p:sp>
        <p:nvSpPr>
          <p:cNvPr id="46" name="Text 43"/>
          <p:cNvSpPr txBox="1"/>
          <p:nvPr/>
        </p:nvSpPr>
        <p:spPr>
          <a:xfrm>
            <a:off x="38100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測定器の校正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38100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測る場所とタイミング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38100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測る人による差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6675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AC8A3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</a:t>
            </a:r>
            <a:endParaRPr lang="en-US" sz="1650" dirty="0"/>
          </a:p>
        </p:txBody>
      </p:sp>
      <p:sp>
        <p:nvSpPr>
          <p:cNvPr id="50" name="Text 47"/>
          <p:cNvSpPr txBox="1"/>
          <p:nvPr/>
        </p:nvSpPr>
        <p:spPr>
          <a:xfrm>
            <a:off x="66675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温度・湿度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6675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振動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66675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粉じん・清浄度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0153501" y="3871764"/>
            <a:ext cx="91454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品質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609600" y="6028283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いま開いているのは </a:t>
            </a:r>
            <a:pPr algn="l" indent="0" marL="0">
              <a:buNone/>
            </a:pPr>
            <a:r>
              <a:rPr lang="en-US" sz="13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Q（品質）</a:t>
            </a:r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の例。C・D・S・E にも同じだけ管理項目がある。次は同じことを料理で。</a:t>
            </a:r>
            <a:endParaRPr lang="en-US" sz="1350" dirty="0"/>
          </a:p>
        </p:txBody>
      </p:sp>
      <p:sp>
        <p:nvSpPr>
          <p:cNvPr id="55" name="Text 52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 / 11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261146"/>
            <a:ext cx="876300" cy="495300"/>
          </a:xfrm>
          <a:prstGeom prst="roundRect">
            <a:avLst>
              <a:gd name="adj" fmla="val 50000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097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959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390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82150" y="2261146"/>
            <a:ext cx="1009650" cy="495300"/>
          </a:xfrm>
          <a:prstGeom prst="roundRect">
            <a:avLst>
              <a:gd name="adj" fmla="val 50000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52850" y="30612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01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576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1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336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911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86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36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911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486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01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576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151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72650" y="4237583"/>
            <a:ext cx="1676400" cy="666750"/>
          </a:xfrm>
          <a:prstGeom prst="roundRect">
            <a:avLst>
              <a:gd name="adj" fmla="val 17143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" y="5475833"/>
            <a:ext cx="10972800" cy="704850"/>
          </a:xfrm>
          <a:prstGeom prst="roundRect">
            <a:avLst>
              <a:gd name="adj" fmla="val 16216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2850" y="2261146"/>
            <a:ext cx="1619250" cy="495300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4485233"/>
            <a:ext cx="89154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グループワーク①（20分）</a:t>
            </a:r>
            <a:endParaRPr lang="en-US" sz="3600" dirty="0"/>
          </a:p>
        </p:txBody>
      </p:sp>
      <p:sp>
        <p:nvSpPr>
          <p:cNvPr id="26" name="Text 22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味噌汁の味を毎回同じように出すにはどうすればいいか考えよう</a:t>
            </a:r>
            <a:endParaRPr lang="en-US" sz="2550" dirty="0"/>
          </a:p>
        </p:txBody>
      </p:sp>
      <p:sp>
        <p:nvSpPr>
          <p:cNvPr id="27" name="Text 23"/>
          <p:cNvSpPr txBox="1"/>
          <p:nvPr/>
        </p:nvSpPr>
        <p:spPr>
          <a:xfrm>
            <a:off x="609600" y="1989683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作る工程を描く</a:t>
            </a:r>
            <a:pPr algn="l" indent="0" marL="0">
              <a:buNone/>
            </a:pPr>
            <a:r>
              <a:rPr lang="en-US" sz="1350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開始から完成まで。判断が入るところは ◇ で</a:t>
            </a:r>
            <a:endParaRPr lang="en-US" sz="1350" dirty="0"/>
          </a:p>
        </p:txBody>
      </p:sp>
      <p:sp>
        <p:nvSpPr>
          <p:cNvPr id="28" name="Text 24"/>
          <p:cNvSpPr txBox="1"/>
          <p:nvPr/>
        </p:nvSpPr>
        <p:spPr>
          <a:xfrm>
            <a:off x="876300" y="2388840"/>
            <a:ext cx="34290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開始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9915525" y="2388840"/>
            <a:ext cx="34290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15430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34861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54292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73723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3154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5562600" y="2203996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はい</a:t>
            </a:r>
            <a:endParaRPr lang="en-US" sz="1050" dirty="0"/>
          </a:p>
        </p:txBody>
      </p:sp>
      <p:sp>
        <p:nvSpPr>
          <p:cNvPr id="36" name="Text 32"/>
          <p:cNvSpPr txBox="1"/>
          <p:nvPr/>
        </p:nvSpPr>
        <p:spPr>
          <a:xfrm>
            <a:off x="3867150" y="2851696"/>
            <a:ext cx="4000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いいえ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457700" y="2794546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5429250" y="32231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Text 35"/>
          <p:cNvSpPr txBox="1"/>
          <p:nvPr/>
        </p:nvSpPr>
        <p:spPr>
          <a:xfrm>
            <a:off x="5753100" y="3175546"/>
            <a:ext cx="4000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破線のところに、やることと判断を書き込む</a:t>
            </a:r>
            <a:endParaRPr lang="en-US" sz="1350" dirty="0"/>
          </a:p>
        </p:txBody>
      </p:sp>
      <p:sp>
        <p:nvSpPr>
          <p:cNvPr id="40" name="Text 36"/>
          <p:cNvSpPr txBox="1"/>
          <p:nvPr/>
        </p:nvSpPr>
        <p:spPr>
          <a:xfrm>
            <a:off x="609600" y="3556546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味がばらつく原因を書き出す</a:t>
            </a:r>
            <a:pPr algn="l" indent="0" marL="0">
              <a:buNone/>
            </a:pPr>
            <a:r>
              <a:rPr lang="en-US" sz="1350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六つの分類ごとに、思いつくだけ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9525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1650" dirty="0"/>
          </a:p>
        </p:txBody>
      </p:sp>
      <p:sp>
        <p:nvSpPr>
          <p:cNvPr id="42" name="Text 38"/>
          <p:cNvSpPr txBox="1"/>
          <p:nvPr/>
        </p:nvSpPr>
        <p:spPr>
          <a:xfrm>
            <a:off x="38100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機械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66675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材料</a:t>
            </a:r>
            <a:endParaRPr lang="en-US" sz="1650" dirty="0"/>
          </a:p>
        </p:txBody>
      </p:sp>
      <p:sp>
        <p:nvSpPr>
          <p:cNvPr id="44" name="Text 40"/>
          <p:cNvSpPr txBox="1"/>
          <p:nvPr/>
        </p:nvSpPr>
        <p:spPr>
          <a:xfrm>
            <a:off x="9525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9C7FB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方法</a:t>
            </a:r>
            <a:endParaRPr lang="en-US" sz="1650" dirty="0"/>
          </a:p>
        </p:txBody>
      </p:sp>
      <p:sp>
        <p:nvSpPr>
          <p:cNvPr id="45" name="Text 41"/>
          <p:cNvSpPr txBox="1"/>
          <p:nvPr/>
        </p:nvSpPr>
        <p:spPr>
          <a:xfrm>
            <a:off x="38100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898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</a:t>
            </a:r>
            <a:endParaRPr lang="en-US" sz="1650" dirty="0"/>
          </a:p>
        </p:txBody>
      </p:sp>
      <p:sp>
        <p:nvSpPr>
          <p:cNvPr id="46" name="Text 42"/>
          <p:cNvSpPr txBox="1"/>
          <p:nvPr/>
        </p:nvSpPr>
        <p:spPr>
          <a:xfrm>
            <a:off x="66675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AC8A3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</a:t>
            </a:r>
            <a:endParaRPr lang="en-US" sz="1650" dirty="0"/>
          </a:p>
        </p:txBody>
      </p:sp>
      <p:sp>
        <p:nvSpPr>
          <p:cNvPr id="47" name="Text 43"/>
          <p:cNvSpPr txBox="1"/>
          <p:nvPr/>
        </p:nvSpPr>
        <p:spPr>
          <a:xfrm>
            <a:off x="10382101" y="4319439"/>
            <a:ext cx="45734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</a:t>
            </a:r>
            <a:endParaRPr lang="en-US" sz="3600" dirty="0"/>
          </a:p>
        </p:txBody>
      </p:sp>
      <p:sp>
        <p:nvSpPr>
          <p:cNvPr id="48" name="Text 44"/>
          <p:cNvSpPr txBox="1"/>
          <p:nvPr/>
        </p:nvSpPr>
        <p:spPr>
          <a:xfrm>
            <a:off x="942975" y="5618708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豆腐・味噌・水だけの味噌汁 ／ ホワイトボードと模造紙に ／ 20分</a:t>
            </a:r>
            <a:endParaRPr lang="en-US" sz="2250" dirty="0"/>
          </a:p>
        </p:txBody>
      </p:sp>
      <p:sp>
        <p:nvSpPr>
          <p:cNvPr id="49" name="Text 45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 / 11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438275"/>
            <a:ext cx="10972800" cy="3238500"/>
          </a:xfrm>
          <a:prstGeom prst="roundRect">
            <a:avLst>
              <a:gd name="adj" fmla="val 3529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05050" y="4943475"/>
            <a:ext cx="3695700" cy="742950"/>
          </a:xfrm>
          <a:prstGeom prst="roundRect">
            <a:avLst>
              <a:gd name="adj" fmla="val 15385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96150" y="4914900"/>
            <a:ext cx="3657600" cy="704850"/>
          </a:xfrm>
          <a:prstGeom prst="roundRect">
            <a:avLst>
              <a:gd name="adj" fmla="val 16216"/>
            </a:avLst>
          </a:prstGeom>
          <a:solidFill>
            <a:srgbClr val="3D2A22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4848225"/>
            <a:ext cx="838200" cy="8382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4848225"/>
            <a:ext cx="838200" cy="838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819150" y="1590675"/>
            <a:ext cx="28397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解答例のフローチャート — 貼り付け領域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2495550" y="5057775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単純な料理なのに、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2495550" y="5314950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こんなにも管理する項目が多いんだ！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467600" y="5010150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品質以外にも、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467600" y="5267325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コストや時間も管理せなあかんねん…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 / 11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3263801" cy="1489472"/>
          </a:xfrm>
          <a:prstGeom prst="roundRect">
            <a:avLst>
              <a:gd name="adj" fmla="val 7674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463951" y="2109639"/>
            <a:ext cx="3263950" cy="1249561"/>
          </a:xfrm>
          <a:prstGeom prst="roundRect">
            <a:avLst>
              <a:gd name="adj" fmla="val 9147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18450" y="2109639"/>
            <a:ext cx="3263950" cy="1249561"/>
          </a:xfrm>
          <a:prstGeom prst="roundRect">
            <a:avLst>
              <a:gd name="adj" fmla="val 9147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3707755"/>
            <a:ext cx="5372100" cy="2162770"/>
          </a:xfrm>
          <a:prstGeom prst="roundRect">
            <a:avLst>
              <a:gd name="adj" fmla="val 5285"/>
            </a:avLst>
          </a:prstGeom>
          <a:solidFill>
            <a:srgbClr val="1D1D1B"/>
          </a:solidFill>
          <a:ln w="19050">
            <a:solidFill>
              <a:srgbClr val="1D1D1B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10300" y="3707755"/>
            <a:ext cx="5372100" cy="2162770"/>
          </a:xfrm>
          <a:prstGeom prst="roundRect">
            <a:avLst>
              <a:gd name="adj" fmla="val 5285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製造におけるDX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データで、仕事のやり方そのものを変える</a:t>
            </a:r>
            <a:endParaRPr lang="en-US" sz="2550" dirty="0"/>
          </a:p>
        </p:txBody>
      </p:sp>
      <p:sp>
        <p:nvSpPr>
          <p:cNvPr id="10" name="Text 8"/>
          <p:cNvSpPr txBox="1"/>
          <p:nvPr/>
        </p:nvSpPr>
        <p:spPr>
          <a:xfrm>
            <a:off x="781050" y="2142083"/>
            <a:ext cx="292090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集める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81050" y="2465933"/>
            <a:ext cx="292090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記録に残す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781050" y="2846933"/>
            <a:ext cx="2920901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温度・時間・分量・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81050" y="3086963"/>
            <a:ext cx="2920901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作り手を数字にする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025801" y="2524869"/>
            <a:ext cx="2857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35401" y="2262039"/>
            <a:ext cx="2921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つなぐ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35401" y="2585889"/>
            <a:ext cx="2921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味と結びつける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4635401" y="2966889"/>
            <a:ext cx="292105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どの条件のとき美味しかったか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880300" y="2524869"/>
            <a:ext cx="2857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8489900" y="2262039"/>
            <a:ext cx="2921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変える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89900" y="2585889"/>
            <a:ext cx="2921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決め方が変わる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489900" y="2966889"/>
            <a:ext cx="292105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勘から数字へ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7250" y="3879205"/>
            <a:ext cx="487680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人駆動型の仕事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123950" y="4464993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味見して、人が気づく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123950" y="487635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「もう少し煮よう」と、人が決めて動かす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1123950" y="528771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うまくいった理由は、その人の中に残る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6457950" y="3879205"/>
            <a:ext cx="487680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データ駆動型の仕事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6724650" y="4464993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温度がずれたと、センサーが気づく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6724650" y="487635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決めておいた通りに、火加減が自動で変わる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6724650" y="528771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人は結果を確かめ、基準がずれていたら直す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609600" y="6099125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記録を取っただけでは、まだDXではない。決め方が変わって初めて、仕事のやり方が変わったと言える。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 / 11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10972800" cy="3238500"/>
          </a:xfrm>
          <a:prstGeom prst="roundRect">
            <a:avLst>
              <a:gd name="adj" fmla="val 3529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05050" y="5494883"/>
            <a:ext cx="3695700" cy="742950"/>
          </a:xfrm>
          <a:prstGeom prst="roundRect">
            <a:avLst>
              <a:gd name="adj" fmla="val 15385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96150" y="5466308"/>
            <a:ext cx="3657600" cy="704850"/>
          </a:xfrm>
          <a:prstGeom prst="roundRect">
            <a:avLst>
              <a:gd name="adj" fmla="val 16216"/>
            </a:avLst>
          </a:prstGeom>
          <a:solidFill>
            <a:srgbClr val="3D2A22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5399633"/>
            <a:ext cx="838200" cy="8382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5399633"/>
            <a:ext cx="838200" cy="838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グループワーク②（10分）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勘で決めている判断を見つけ、データで決める形に変えよう</a:t>
            </a:r>
            <a:endParaRPr lang="en-US" sz="2550" dirty="0"/>
          </a:p>
        </p:txBody>
      </p:sp>
      <p:sp>
        <p:nvSpPr>
          <p:cNvPr id="10" name="Text 6"/>
          <p:cNvSpPr txBox="1"/>
          <p:nvPr/>
        </p:nvSpPr>
        <p:spPr>
          <a:xfrm>
            <a:off x="819150" y="2142083"/>
            <a:ext cx="340176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さきほど描いた工程図（解答例）— 貼り付け領域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2495550" y="5609183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フローチャートの「判断」のところ、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2495550" y="5866358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何を見て決めてる？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467600" y="5561558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その判断、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7467600" y="5818733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勘やなくて数字で決められへん？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07 / 11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438275"/>
            <a:ext cx="10972800" cy="3476625"/>
          </a:xfrm>
          <a:prstGeom prst="roundRect">
            <a:avLst>
              <a:gd name="adj" fmla="val 328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19150" y="1590675"/>
            <a:ext cx="52781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改善後のフローチャート（データで決めるように変えた版） — 貼り付け領域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5143500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増えた線は、出てきた結果をもう一度作り方に戻している。測って、ずれたら戻す。エアコンが設定温度を保つのと同じ形。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400675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ただし、何を測るか・狙いをどこに置くかを決めるのは人。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08 / 11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33450" y="2313533"/>
            <a:ext cx="2857500" cy="214313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434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0" y="2313533"/>
            <a:ext cx="2857500" cy="214313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0772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01050" y="2313533"/>
            <a:ext cx="2857500" cy="214313"/>
          </a:xfrm>
          <a:prstGeom prst="roundRect">
            <a:avLst>
              <a:gd name="adj" fmla="val 50000"/>
            </a:avLst>
          </a:prstGeom>
          <a:solidFill>
            <a:srgbClr val="788C5D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4647754"/>
            <a:ext cx="10972800" cy="933450"/>
          </a:xfrm>
          <a:prstGeom prst="roundRect">
            <a:avLst>
              <a:gd name="adj" fmla="val 12245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日本の製造業がいま抱えている問題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人手は減るのに、管理は増えていく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9334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1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334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人が足りない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334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働き手が減り、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9334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若い人が現場を選びにくい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6672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6672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管理のレベルが上がる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72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見る項目が増え、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6672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やり方も高度になる。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4667250" y="376038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多品種少量も効く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4010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3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4010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デジタル化が追いつかない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4010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担う人がまた足りず、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84010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現場のやり方も揃っていない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942975" y="4904929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三つは絡んでいる ／ 人手は減るのに、管理は増えていく</a:t>
            </a:r>
            <a:endParaRPr lang="en-US" sz="2250" dirty="0"/>
          </a:p>
        </p:txBody>
      </p:sp>
      <p:sp>
        <p:nvSpPr>
          <p:cNvPr id="26" name="Text 24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09 / 11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00100" y="2218283"/>
            <a:ext cx="6286500" cy="2686050"/>
          </a:xfrm>
          <a:prstGeom prst="roundRect">
            <a:avLst>
              <a:gd name="adj" fmla="val 4255"/>
            </a:avLst>
          </a:prstGeom>
          <a:solidFill>
            <a:srgbClr val="6A9BCC">
              <a:alpha val="55000"/>
            </a:srgbClr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105400" y="2218283"/>
            <a:ext cx="6286500" cy="2686050"/>
          </a:xfrm>
          <a:prstGeom prst="roundRect">
            <a:avLst>
              <a:gd name="adj" fmla="val 4255"/>
            </a:avLst>
          </a:prstGeom>
          <a:solidFill>
            <a:srgbClr val="788C5D">
              <a:alpha val="55000"/>
            </a:srgbClr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人がする仕事と、デジタルがする仕事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創るのは人、こなすのはデジタル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2809875" y="2664768"/>
            <a:ext cx="28575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2250" dirty="0"/>
          </a:p>
        </p:txBody>
      </p:sp>
      <p:sp>
        <p:nvSpPr>
          <p:cNvPr id="8" name="Text 6"/>
          <p:cNvSpPr txBox="1"/>
          <p:nvPr/>
        </p:nvSpPr>
        <p:spPr>
          <a:xfrm>
            <a:off x="2009775" y="3155305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目的と要件を決める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009775" y="3481060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設備や製品を設計する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009775" y="3806815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合意をつくる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009775" y="4132570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安全かどうかを判断する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70578" y="2827586"/>
            <a:ext cx="1137345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</a:t>
            </a:r>
            <a:endParaRPr lang="en-US" sz="2250" dirty="0"/>
          </a:p>
        </p:txBody>
      </p:sp>
      <p:sp>
        <p:nvSpPr>
          <p:cNvPr id="13" name="Text 11"/>
          <p:cNvSpPr txBox="1"/>
          <p:nvPr/>
        </p:nvSpPr>
        <p:spPr>
          <a:xfrm>
            <a:off x="8210550" y="3318123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大量に速く正確に処理する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10550" y="3643878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繰り返す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210550" y="3969633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予測する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753100" y="3172718"/>
            <a:ext cx="685800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標準化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753100" y="3561338"/>
            <a:ext cx="685800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管理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09600" y="5361533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役割を分けると、楽に・速く・正確になる。人が減った分を機械で埋める話ではなく、人が人にしかできない仕事へ動ける話。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 / 11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39077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1666875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335280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2628900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431482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3590925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788C5D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52768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600" y="4552950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438775"/>
            <a:ext cx="10972800" cy="933450"/>
          </a:xfrm>
          <a:prstGeom prst="roundRect">
            <a:avLst>
              <a:gd name="adj" fmla="val 12245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1666875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2250" dirty="0"/>
          </a:p>
        </p:txBody>
      </p:sp>
      <p:sp>
        <p:nvSpPr>
          <p:cNvPr id="14" name="Text 12"/>
          <p:cNvSpPr txBox="1"/>
          <p:nvPr/>
        </p:nvSpPr>
        <p:spPr>
          <a:xfrm>
            <a:off x="1480245" y="1666875"/>
            <a:ext cx="662940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製造の仕事は、良いモノを安全・安定・ムダなく作り続けること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628900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2250" dirty="0"/>
          </a:p>
        </p:txBody>
      </p:sp>
      <p:sp>
        <p:nvSpPr>
          <p:cNvPr id="16" name="Text 14"/>
          <p:cNvSpPr txBox="1"/>
          <p:nvPr/>
        </p:nvSpPr>
        <p:spPr>
          <a:xfrm>
            <a:off x="1480245" y="2628900"/>
            <a:ext cx="5925294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難しさは、ブレなく作るための管理項目がとても多いこと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62000" y="3590925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2250" dirty="0"/>
          </a:p>
        </p:txBody>
      </p:sp>
      <p:sp>
        <p:nvSpPr>
          <p:cNvPr id="18" name="Text 16"/>
          <p:cNvSpPr txBox="1"/>
          <p:nvPr/>
        </p:nvSpPr>
        <p:spPr>
          <a:xfrm>
            <a:off x="1480245" y="3590925"/>
            <a:ext cx="506789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データで、仕事のやり方そのものを変えるのがDX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2000" y="4552950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2250" dirty="0"/>
          </a:p>
        </p:txBody>
      </p:sp>
      <p:sp>
        <p:nvSpPr>
          <p:cNvPr id="20" name="Text 18"/>
          <p:cNvSpPr txBox="1"/>
          <p:nvPr/>
        </p:nvSpPr>
        <p:spPr>
          <a:xfrm>
            <a:off x="1480245" y="4552950"/>
            <a:ext cx="639633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創るのは人、こなすのはデジタル。標準化と管理は両方でやる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42975" y="5695950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製造の仕事は作り方を作り、決めた通りに作って管理する</a:t>
            </a:r>
            <a:endParaRPr lang="en-US" sz="2250" dirty="0"/>
          </a:p>
        </p:txBody>
      </p:sp>
      <p:sp>
        <p:nvSpPr>
          <p:cNvPr id="22" name="Text 20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 / 11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人×デジタルで作る製造工程</dc:title>
  <dc:subject>高専生向けセミナー 55分</dc:subject>
  <dc:creator/>
  <cp:lastModifiedBy/>
  <cp:revision>1</cp:revision>
  <dcterms:created xsi:type="dcterms:W3CDTF">2026-08-23T21:11:41Z</dcterms:created>
  <dcterms:modified xsi:type="dcterms:W3CDTF">2026-08-23T21:11:41Z</dcterms:modified>
</cp:coreProperties>
</file>