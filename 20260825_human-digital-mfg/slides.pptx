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5762625"/>
            <a:ext cx="10972800" cy="9525"/>
          </a:xfrm>
          <a:prstGeom prst="rect">
            <a:avLst/>
          </a:prstGeom>
          <a:solidFill>
            <a:srgbClr val="3D3D3A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 txBox="1"/>
          <p:nvPr/>
        </p:nvSpPr>
        <p:spPr>
          <a:xfrm>
            <a:off x="1619250" y="1828800"/>
            <a:ext cx="3734842" cy="2857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500" b="1" dirty="0">
                <a:solidFill>
                  <a:srgbClr val="2B2B29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DX</a:t>
            </a:r>
            <a:endParaRPr lang="en-US" sz="22500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533400"/>
            <a:ext cx="3710434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D977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MANUFACTURING × DIGITAL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609600" y="3989189"/>
            <a:ext cx="7912596" cy="7620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人×デジタルで作る製造工程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609600" y="4979789"/>
            <a:ext cx="3249067" cy="32575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単純に見える仕事が、どれだけ奥が深いか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09600" y="6000750"/>
            <a:ext cx="1097280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発表者: 高瀬</a:t>
            </a:r>
            <a:pPr algn="l" indent="0" marL="0">
              <a:buNone/>
            </a:pPr>
            <a:r>
              <a:rPr lang="en-US" sz="13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2026.08.25 – 27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1326713" y="6438900"/>
            <a:ext cx="40808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01 / 11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675358"/>
            <a:ext cx="10972800" cy="9525"/>
          </a:xfrm>
          <a:prstGeom prst="rect">
            <a:avLst/>
          </a:prstGeom>
          <a:solidFill>
            <a:srgbClr val="3D3D3A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086350" y="1989683"/>
            <a:ext cx="1714500" cy="476250"/>
          </a:xfrm>
          <a:prstGeom prst="roundRect">
            <a:avLst>
              <a:gd name="adj" fmla="val 12000"/>
            </a:avLst>
          </a:prstGeom>
          <a:solidFill>
            <a:srgbClr val="232321"/>
          </a:solidFill>
          <a:ln w="19050">
            <a:solidFill>
              <a:srgbClr val="6A9BCC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086350" y="2599283"/>
            <a:ext cx="1714500" cy="476250"/>
          </a:xfrm>
          <a:prstGeom prst="roundRect">
            <a:avLst>
              <a:gd name="adj" fmla="val 12000"/>
            </a:avLst>
          </a:prstGeom>
          <a:solidFill>
            <a:srgbClr val="232321"/>
          </a:solidFill>
          <a:ln w="19050">
            <a:solidFill>
              <a:srgbClr val="6A9BCC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086350" y="3208883"/>
            <a:ext cx="1714500" cy="476250"/>
          </a:xfrm>
          <a:prstGeom prst="roundRect">
            <a:avLst>
              <a:gd name="adj" fmla="val 12000"/>
            </a:avLst>
          </a:prstGeom>
          <a:solidFill>
            <a:srgbClr val="232321"/>
          </a:solidFill>
          <a:ln w="19050">
            <a:solidFill>
              <a:srgbClr val="6A9BCC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2990850" y="3818483"/>
            <a:ext cx="1714500" cy="476250"/>
          </a:xfrm>
          <a:prstGeom prst="roundRect">
            <a:avLst>
              <a:gd name="adj" fmla="val 12000"/>
            </a:avLst>
          </a:prstGeom>
          <a:solidFill>
            <a:srgbClr val="232321"/>
          </a:solidFill>
          <a:ln w="19050">
            <a:solidFill>
              <a:srgbClr val="788C5D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5086350" y="3818483"/>
            <a:ext cx="1714500" cy="476250"/>
          </a:xfrm>
          <a:prstGeom prst="roundRect">
            <a:avLst>
              <a:gd name="adj" fmla="val 12000"/>
            </a:avLst>
          </a:prstGeom>
          <a:solidFill>
            <a:srgbClr val="3D2A22"/>
          </a:solidFill>
          <a:ln w="28575">
            <a:solidFill>
              <a:srgbClr val="D97757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7181850" y="3818483"/>
            <a:ext cx="1714500" cy="476250"/>
          </a:xfrm>
          <a:prstGeom prst="roundRect">
            <a:avLst>
              <a:gd name="adj" fmla="val 12000"/>
            </a:avLst>
          </a:prstGeom>
          <a:solidFill>
            <a:srgbClr val="232321"/>
          </a:solidFill>
          <a:ln w="19050">
            <a:solidFill>
              <a:srgbClr val="788C5D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9277350" y="3818483"/>
            <a:ext cx="1714500" cy="476250"/>
          </a:xfrm>
          <a:prstGeom prst="roundRect">
            <a:avLst>
              <a:gd name="adj" fmla="val 12000"/>
            </a:avLst>
          </a:prstGeom>
          <a:solidFill>
            <a:srgbClr val="232321"/>
          </a:solidFill>
          <a:ln w="19050">
            <a:solidFill>
              <a:srgbClr val="788C5D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5086350" y="4428083"/>
            <a:ext cx="1714500" cy="476250"/>
          </a:xfrm>
          <a:prstGeom prst="roundRect">
            <a:avLst>
              <a:gd name="adj" fmla="val 12000"/>
            </a:avLst>
          </a:prstGeom>
          <a:solidFill>
            <a:srgbClr val="232321"/>
          </a:solidFill>
          <a:ln w="19050">
            <a:solidFill>
              <a:srgbClr val="3D3D3A"/>
            </a:solidFill>
            <a:prstDash val="dash"/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09600" y="5261521"/>
            <a:ext cx="10972800" cy="409575"/>
          </a:xfrm>
          <a:prstGeom prst="rect">
            <a:avLst/>
          </a:prstGeom>
          <a:solidFill>
            <a:srgbClr val="232321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609600" y="6061621"/>
            <a:ext cx="10972800" cy="9525"/>
          </a:xfrm>
          <a:prstGeom prst="rect">
            <a:avLst/>
          </a:prstGeom>
          <a:solidFill>
            <a:srgbClr val="3D3D3A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 txBox="1"/>
          <p:nvPr/>
        </p:nvSpPr>
        <p:spPr>
          <a:xfrm>
            <a:off x="609600" y="457200"/>
            <a:ext cx="109728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製造の仕事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609600" y="1123950"/>
            <a:ext cx="9715500" cy="43719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良いモノを安全・安定・ムダなく作り続ける</a:t>
            </a:r>
            <a:endParaRPr lang="en-US" sz="2550" dirty="0"/>
          </a:p>
        </p:txBody>
      </p:sp>
      <p:sp>
        <p:nvSpPr>
          <p:cNvPr id="15" name="Text 13"/>
          <p:cNvSpPr txBox="1"/>
          <p:nvPr/>
        </p:nvSpPr>
        <p:spPr>
          <a:xfrm>
            <a:off x="5772150" y="2037308"/>
            <a:ext cx="34290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企画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5410200" y="2251621"/>
            <a:ext cx="1066800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何を作るか決める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5867400" y="2465933"/>
            <a:ext cx="22860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A9BC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↓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5772150" y="2646908"/>
            <a:ext cx="34290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設計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5476875" y="2861221"/>
            <a:ext cx="933450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レシピを決める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5867400" y="3075533"/>
            <a:ext cx="22860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A9BC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↓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5429250" y="3256508"/>
            <a:ext cx="102870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試作・段取り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5346799" y="3470821"/>
            <a:ext cx="1193602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一度作って味見する</a:t>
            </a:r>
            <a:endParaRPr lang="en-US" sz="1050" dirty="0"/>
          </a:p>
        </p:txBody>
      </p:sp>
      <p:sp>
        <p:nvSpPr>
          <p:cNvPr id="23" name="Text 21"/>
          <p:cNvSpPr txBox="1"/>
          <p:nvPr/>
        </p:nvSpPr>
        <p:spPr>
          <a:xfrm>
            <a:off x="5867400" y="3685133"/>
            <a:ext cx="22860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6A9BC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↓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3676650" y="3866108"/>
            <a:ext cx="34290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調達</a:t>
            </a:r>
            <a:endParaRPr lang="en-US" sz="1350" dirty="0"/>
          </a:p>
        </p:txBody>
      </p:sp>
      <p:sp>
        <p:nvSpPr>
          <p:cNvPr id="25" name="Text 23"/>
          <p:cNvSpPr txBox="1"/>
          <p:nvPr/>
        </p:nvSpPr>
        <p:spPr>
          <a:xfrm>
            <a:off x="3581400" y="4080421"/>
            <a:ext cx="533400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買い出し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4762500" y="3913733"/>
            <a:ext cx="22860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788C5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5772150" y="3866108"/>
            <a:ext cx="34290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製造</a:t>
            </a:r>
            <a:endParaRPr lang="en-US" sz="1350" dirty="0"/>
          </a:p>
        </p:txBody>
      </p:sp>
      <p:sp>
        <p:nvSpPr>
          <p:cNvPr id="28" name="Text 26"/>
          <p:cNvSpPr txBox="1"/>
          <p:nvPr/>
        </p:nvSpPr>
        <p:spPr>
          <a:xfrm>
            <a:off x="5676900" y="4080421"/>
            <a:ext cx="533400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調理する</a:t>
            </a:r>
            <a:endParaRPr lang="en-US" sz="1050" dirty="0"/>
          </a:p>
        </p:txBody>
      </p:sp>
      <p:sp>
        <p:nvSpPr>
          <p:cNvPr id="29" name="Text 27"/>
          <p:cNvSpPr txBox="1"/>
          <p:nvPr/>
        </p:nvSpPr>
        <p:spPr>
          <a:xfrm>
            <a:off x="6858000" y="3913733"/>
            <a:ext cx="22860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788C5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</a:t>
            </a:r>
            <a:endParaRPr lang="en-US" sz="1800" dirty="0"/>
          </a:p>
        </p:txBody>
      </p:sp>
      <p:sp>
        <p:nvSpPr>
          <p:cNvPr id="30" name="Text 28"/>
          <p:cNvSpPr txBox="1"/>
          <p:nvPr/>
        </p:nvSpPr>
        <p:spPr>
          <a:xfrm>
            <a:off x="7867650" y="3866108"/>
            <a:ext cx="34290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物流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7572375" y="4080421"/>
            <a:ext cx="933450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運ぶ・保管する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8953500" y="3913733"/>
            <a:ext cx="22860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788C5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9705975" y="3866108"/>
            <a:ext cx="85725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出荷・納品</a:t>
            </a:r>
            <a:endParaRPr lang="en-US" sz="1350" dirty="0"/>
          </a:p>
        </p:txBody>
      </p:sp>
      <p:sp>
        <p:nvSpPr>
          <p:cNvPr id="34" name="Text 32"/>
          <p:cNvSpPr txBox="1"/>
          <p:nvPr/>
        </p:nvSpPr>
        <p:spPr>
          <a:xfrm>
            <a:off x="9667875" y="4080421"/>
            <a:ext cx="933450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盛り付けて出す</a:t>
            </a:r>
            <a:endParaRPr lang="en-US" sz="1050" dirty="0"/>
          </a:p>
        </p:txBody>
      </p:sp>
      <p:sp>
        <p:nvSpPr>
          <p:cNvPr id="35" name="Text 33"/>
          <p:cNvSpPr txBox="1"/>
          <p:nvPr/>
        </p:nvSpPr>
        <p:spPr>
          <a:xfrm>
            <a:off x="5867400" y="4313783"/>
            <a:ext cx="22860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↑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5772150" y="4475708"/>
            <a:ext cx="34290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保全</a:t>
            </a:r>
            <a:endParaRPr lang="en-US" sz="1350" dirty="0"/>
          </a:p>
        </p:txBody>
      </p:sp>
      <p:sp>
        <p:nvSpPr>
          <p:cNvPr id="37" name="Text 35"/>
          <p:cNvSpPr txBox="1"/>
          <p:nvPr/>
        </p:nvSpPr>
        <p:spPr>
          <a:xfrm>
            <a:off x="5345460" y="4690021"/>
            <a:ext cx="1196280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コンロや鍋を整える</a:t>
            </a:r>
            <a:endParaRPr lang="en-US" sz="1050" dirty="0"/>
          </a:p>
        </p:txBody>
      </p:sp>
      <p:sp>
        <p:nvSpPr>
          <p:cNvPr id="38" name="Text 36"/>
          <p:cNvSpPr txBox="1"/>
          <p:nvPr/>
        </p:nvSpPr>
        <p:spPr>
          <a:xfrm>
            <a:off x="609600" y="2561183"/>
            <a:ext cx="209550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6A9BC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ECM｜縦の流れ</a:t>
            </a:r>
            <a:endParaRPr lang="en-US" sz="1350" dirty="0"/>
          </a:p>
        </p:txBody>
      </p:sp>
      <p:sp>
        <p:nvSpPr>
          <p:cNvPr id="39" name="Text 37"/>
          <p:cNvSpPr txBox="1"/>
          <p:nvPr/>
        </p:nvSpPr>
        <p:spPr>
          <a:xfrm>
            <a:off x="609600" y="2775496"/>
            <a:ext cx="209550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6A9BC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何をどう作るかを決める</a:t>
            </a:r>
            <a:endParaRPr lang="en-US" sz="1350" dirty="0"/>
          </a:p>
        </p:txBody>
      </p:sp>
      <p:sp>
        <p:nvSpPr>
          <p:cNvPr id="40" name="Text 38"/>
          <p:cNvSpPr txBox="1"/>
          <p:nvPr/>
        </p:nvSpPr>
        <p:spPr>
          <a:xfrm>
            <a:off x="609600" y="3875633"/>
            <a:ext cx="209550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788C5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SCM｜横の流れ</a:t>
            </a:r>
            <a:endParaRPr lang="en-US" sz="1350" dirty="0"/>
          </a:p>
        </p:txBody>
      </p:sp>
      <p:sp>
        <p:nvSpPr>
          <p:cNvPr id="41" name="Text 39"/>
          <p:cNvSpPr txBox="1"/>
          <p:nvPr/>
        </p:nvSpPr>
        <p:spPr>
          <a:xfrm>
            <a:off x="609600" y="4089946"/>
            <a:ext cx="209550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788C5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モノが調達から納品へ動く</a:t>
            </a:r>
            <a:endParaRPr lang="en-US" sz="1350" dirty="0"/>
          </a:p>
        </p:txBody>
      </p:sp>
      <p:sp>
        <p:nvSpPr>
          <p:cNvPr id="42" name="Text 40"/>
          <p:cNvSpPr txBox="1"/>
          <p:nvPr/>
        </p:nvSpPr>
        <p:spPr>
          <a:xfrm>
            <a:off x="6991350" y="4523333"/>
            <a:ext cx="2476500" cy="42862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保全は、製造を止めないための土台</a:t>
            </a:r>
            <a:endParaRPr lang="en-US" sz="1350" dirty="0"/>
          </a:p>
        </p:txBody>
      </p:sp>
      <p:sp>
        <p:nvSpPr>
          <p:cNvPr id="43" name="Text 41"/>
          <p:cNvSpPr txBox="1"/>
          <p:nvPr/>
        </p:nvSpPr>
        <p:spPr>
          <a:xfrm>
            <a:off x="609600" y="4999583"/>
            <a:ext cx="1097280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E5977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出力｜</a:t>
            </a:r>
            <a:pPr algn="l" indent="0" marL="0">
              <a:buNone/>
            </a:pPr>
            <a:r>
              <a:rPr lang="en-US" sz="1350" b="1" dirty="0">
                <a:solidFill>
                  <a:srgbClr val="E5977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QCDSE</a:t>
            </a:r>
            <a:pPr algn="l" indent="0" marL="0">
              <a:buNone/>
            </a:pPr>
            <a:r>
              <a:rPr lang="en-US" sz="1350" b="1" dirty="0">
                <a:solidFill>
                  <a:srgbClr val="E5977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製造から出てきたものを、この五つで測る</a:t>
            </a:r>
            <a:endParaRPr lang="en-US" sz="1350" dirty="0"/>
          </a:p>
        </p:txBody>
      </p:sp>
      <p:sp>
        <p:nvSpPr>
          <p:cNvPr id="44" name="Text 42"/>
          <p:cNvSpPr txBox="1"/>
          <p:nvPr/>
        </p:nvSpPr>
        <p:spPr>
          <a:xfrm>
            <a:off x="762000" y="5328196"/>
            <a:ext cx="18859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E5977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Q</a:t>
            </a:r>
            <a:pPr algn="l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品質</a:t>
            </a:r>
            <a:endParaRPr lang="en-US" sz="1350" dirty="0"/>
          </a:p>
        </p:txBody>
      </p:sp>
      <p:sp>
        <p:nvSpPr>
          <p:cNvPr id="45" name="Text 43"/>
          <p:cNvSpPr txBox="1"/>
          <p:nvPr/>
        </p:nvSpPr>
        <p:spPr>
          <a:xfrm>
            <a:off x="2952750" y="5328196"/>
            <a:ext cx="18859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E5977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</a:t>
            </a:r>
            <a:pPr algn="l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コスト</a:t>
            </a:r>
            <a:endParaRPr lang="en-US" sz="1350" dirty="0"/>
          </a:p>
        </p:txBody>
      </p:sp>
      <p:sp>
        <p:nvSpPr>
          <p:cNvPr id="46" name="Text 44"/>
          <p:cNvSpPr txBox="1"/>
          <p:nvPr/>
        </p:nvSpPr>
        <p:spPr>
          <a:xfrm>
            <a:off x="5143500" y="5328196"/>
            <a:ext cx="18859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E5977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</a:t>
            </a:r>
            <a:pPr algn="l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納期</a:t>
            </a:r>
            <a:endParaRPr lang="en-US" sz="1350" dirty="0"/>
          </a:p>
        </p:txBody>
      </p:sp>
      <p:sp>
        <p:nvSpPr>
          <p:cNvPr id="47" name="Text 45"/>
          <p:cNvSpPr txBox="1"/>
          <p:nvPr/>
        </p:nvSpPr>
        <p:spPr>
          <a:xfrm>
            <a:off x="7334250" y="5328196"/>
            <a:ext cx="18859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E5977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</a:t>
            </a:r>
            <a:pPr algn="l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安全</a:t>
            </a:r>
            <a:endParaRPr lang="en-US" sz="1350" dirty="0"/>
          </a:p>
        </p:txBody>
      </p:sp>
      <p:sp>
        <p:nvSpPr>
          <p:cNvPr id="48" name="Text 46"/>
          <p:cNvSpPr txBox="1"/>
          <p:nvPr/>
        </p:nvSpPr>
        <p:spPr>
          <a:xfrm>
            <a:off x="9525000" y="5328196"/>
            <a:ext cx="19050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E5977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E</a:t>
            </a:r>
            <a:pPr algn="l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環境</a:t>
            </a:r>
            <a:endParaRPr lang="en-US" sz="1350" dirty="0"/>
          </a:p>
        </p:txBody>
      </p:sp>
      <p:sp>
        <p:nvSpPr>
          <p:cNvPr id="49" name="Text 47"/>
          <p:cNvSpPr txBox="1"/>
          <p:nvPr/>
        </p:nvSpPr>
        <p:spPr>
          <a:xfrm>
            <a:off x="762000" y="5737771"/>
            <a:ext cx="18859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味・栄養・新鮮さ</a:t>
            </a:r>
            <a:endParaRPr lang="en-US" sz="1350" dirty="0"/>
          </a:p>
        </p:txBody>
      </p:sp>
      <p:sp>
        <p:nvSpPr>
          <p:cNvPr id="50" name="Text 48"/>
          <p:cNvSpPr txBox="1"/>
          <p:nvPr/>
        </p:nvSpPr>
        <p:spPr>
          <a:xfrm>
            <a:off x="2952750" y="5737771"/>
            <a:ext cx="18859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電気代・材料費・人件費</a:t>
            </a:r>
            <a:endParaRPr lang="en-US" sz="1350" dirty="0"/>
          </a:p>
        </p:txBody>
      </p:sp>
      <p:sp>
        <p:nvSpPr>
          <p:cNvPr id="51" name="Text 49"/>
          <p:cNvSpPr txBox="1"/>
          <p:nvPr/>
        </p:nvSpPr>
        <p:spPr>
          <a:xfrm>
            <a:off x="5143500" y="5737771"/>
            <a:ext cx="18859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出てくるまでの早さ</a:t>
            </a:r>
            <a:endParaRPr lang="en-US" sz="1350" dirty="0"/>
          </a:p>
        </p:txBody>
      </p:sp>
      <p:sp>
        <p:nvSpPr>
          <p:cNvPr id="52" name="Text 50"/>
          <p:cNvSpPr txBox="1"/>
          <p:nvPr/>
        </p:nvSpPr>
        <p:spPr>
          <a:xfrm>
            <a:off x="7334250" y="5737771"/>
            <a:ext cx="18859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作る人が無事か</a:t>
            </a:r>
            <a:endParaRPr lang="en-US" sz="1350" dirty="0"/>
          </a:p>
        </p:txBody>
      </p:sp>
      <p:sp>
        <p:nvSpPr>
          <p:cNvPr id="53" name="Text 51"/>
          <p:cNvSpPr txBox="1"/>
          <p:nvPr/>
        </p:nvSpPr>
        <p:spPr>
          <a:xfrm>
            <a:off x="9525000" y="5737771"/>
            <a:ext cx="19050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厨房が片付いているか</a:t>
            </a:r>
            <a:endParaRPr lang="en-US" sz="1350" dirty="0"/>
          </a:p>
        </p:txBody>
      </p:sp>
      <p:sp>
        <p:nvSpPr>
          <p:cNvPr id="54" name="Text 52"/>
          <p:cNvSpPr txBox="1"/>
          <p:nvPr/>
        </p:nvSpPr>
        <p:spPr>
          <a:xfrm>
            <a:off x="609600" y="6118771"/>
            <a:ext cx="1097280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↻ 出力を見て、次の企画・設計へ返す。考える部署や人が、何人もいる。</a:t>
            </a:r>
            <a:endParaRPr lang="en-US" sz="1350" dirty="0"/>
          </a:p>
        </p:txBody>
      </p:sp>
      <p:sp>
        <p:nvSpPr>
          <p:cNvPr id="55" name="Text 53"/>
          <p:cNvSpPr txBox="1"/>
          <p:nvPr/>
        </p:nvSpPr>
        <p:spPr>
          <a:xfrm>
            <a:off x="11326713" y="6438900"/>
            <a:ext cx="40808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02 / 11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675358"/>
            <a:ext cx="10972800" cy="9525"/>
          </a:xfrm>
          <a:prstGeom prst="rect">
            <a:avLst/>
          </a:prstGeom>
          <a:solidFill>
            <a:srgbClr val="3D3D3A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95313" y="1975396"/>
            <a:ext cx="2162175" cy="428625"/>
          </a:xfrm>
          <a:prstGeom prst="roundRect">
            <a:avLst>
              <a:gd name="adj" fmla="val 50000"/>
            </a:avLst>
          </a:prstGeom>
          <a:ln w="28575">
            <a:solidFill>
              <a:srgbClr val="D97757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09600" y="1989683"/>
            <a:ext cx="2133600" cy="40005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2819400" y="1989683"/>
            <a:ext cx="2133600" cy="400050"/>
          </a:xfrm>
          <a:prstGeom prst="roundRect">
            <a:avLst>
              <a:gd name="adj" fmla="val 50000"/>
            </a:avLst>
          </a:prstGeom>
          <a:solidFill>
            <a:srgbClr val="6A9BCC">
              <a:alpha val="40000"/>
            </a:srgbClr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029200" y="1989683"/>
            <a:ext cx="2133600" cy="400050"/>
          </a:xfrm>
          <a:prstGeom prst="roundRect">
            <a:avLst>
              <a:gd name="adj" fmla="val 50000"/>
            </a:avLst>
          </a:prstGeom>
          <a:solidFill>
            <a:srgbClr val="788C5D">
              <a:alpha val="40000"/>
            </a:srgbClr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239000" y="1989683"/>
            <a:ext cx="2133600" cy="400050"/>
          </a:xfrm>
          <a:prstGeom prst="roundRect">
            <a:avLst>
              <a:gd name="adj" fmla="val 50000"/>
            </a:avLst>
          </a:prstGeom>
          <a:solidFill>
            <a:srgbClr val="9C7FB5">
              <a:alpha val="40000"/>
            </a:srgbClr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9448800" y="1989683"/>
            <a:ext cx="2133600" cy="400050"/>
          </a:xfrm>
          <a:prstGeom prst="roundRect">
            <a:avLst>
              <a:gd name="adj" fmla="val 50000"/>
            </a:avLst>
          </a:prstGeom>
          <a:solidFill>
            <a:srgbClr val="D97757">
              <a:alpha val="40000"/>
            </a:srgbClr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00100" y="2504033"/>
            <a:ext cx="2667000" cy="1210270"/>
          </a:xfrm>
          <a:prstGeom prst="roundRect">
            <a:avLst>
              <a:gd name="adj" fmla="val 9444"/>
            </a:avLst>
          </a:prstGeom>
          <a:solidFill>
            <a:srgbClr val="232321"/>
          </a:solidFill>
          <a:ln w="19050">
            <a:solidFill>
              <a:srgbClr val="3D3D3A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657600" y="2504033"/>
            <a:ext cx="2667000" cy="1210270"/>
          </a:xfrm>
          <a:prstGeom prst="roundRect">
            <a:avLst>
              <a:gd name="adj" fmla="val 9444"/>
            </a:avLst>
          </a:prstGeom>
          <a:solidFill>
            <a:srgbClr val="232321"/>
          </a:solidFill>
          <a:ln w="19050">
            <a:solidFill>
              <a:srgbClr val="3D3D3A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515100" y="2504033"/>
            <a:ext cx="2667000" cy="1210270"/>
          </a:xfrm>
          <a:prstGeom prst="roundRect">
            <a:avLst>
              <a:gd name="adj" fmla="val 9444"/>
            </a:avLst>
          </a:prstGeom>
          <a:solidFill>
            <a:srgbClr val="232321"/>
          </a:solidFill>
          <a:ln w="19050">
            <a:solidFill>
              <a:srgbClr val="3D3D3A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2133600" y="3627983"/>
            <a:ext cx="19050" cy="495300"/>
          </a:xfrm>
          <a:prstGeom prst="rect">
            <a:avLst/>
          </a:prstGeom>
          <a:solidFill>
            <a:srgbClr val="B0AEA5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991100" y="3627983"/>
            <a:ext cx="19050" cy="495300"/>
          </a:xfrm>
          <a:prstGeom prst="rect">
            <a:avLst/>
          </a:prstGeom>
          <a:solidFill>
            <a:srgbClr val="B0AEA5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848600" y="3627983"/>
            <a:ext cx="19050" cy="495300"/>
          </a:xfrm>
          <a:prstGeom prst="rect">
            <a:avLst/>
          </a:prstGeom>
          <a:solidFill>
            <a:srgbClr val="B0AEA5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2133600" y="4123283"/>
            <a:ext cx="19050" cy="495300"/>
          </a:xfrm>
          <a:prstGeom prst="rect">
            <a:avLst/>
          </a:prstGeom>
          <a:solidFill>
            <a:srgbClr val="B0AEA5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991100" y="4123283"/>
            <a:ext cx="19050" cy="495300"/>
          </a:xfrm>
          <a:prstGeom prst="rect">
            <a:avLst/>
          </a:prstGeom>
          <a:solidFill>
            <a:srgbClr val="B0AEA5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848600" y="4123283"/>
            <a:ext cx="19050" cy="495300"/>
          </a:xfrm>
          <a:prstGeom prst="rect">
            <a:avLst/>
          </a:prstGeom>
          <a:solidFill>
            <a:srgbClr val="B0AEA5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00100" y="4618583"/>
            <a:ext cx="2667000" cy="1210270"/>
          </a:xfrm>
          <a:prstGeom prst="roundRect">
            <a:avLst>
              <a:gd name="adj" fmla="val 9444"/>
            </a:avLst>
          </a:prstGeom>
          <a:solidFill>
            <a:srgbClr val="232321"/>
          </a:solidFill>
          <a:ln w="19050">
            <a:solidFill>
              <a:srgbClr val="3D3D3A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3657600" y="4618583"/>
            <a:ext cx="2667000" cy="1210270"/>
          </a:xfrm>
          <a:prstGeom prst="roundRect">
            <a:avLst>
              <a:gd name="adj" fmla="val 9444"/>
            </a:avLst>
          </a:prstGeom>
          <a:solidFill>
            <a:srgbClr val="232321"/>
          </a:solidFill>
          <a:ln w="19050">
            <a:solidFill>
              <a:srgbClr val="3D3D3A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515100" y="4618583"/>
            <a:ext cx="2667000" cy="1210270"/>
          </a:xfrm>
          <a:prstGeom prst="roundRect">
            <a:avLst>
              <a:gd name="adj" fmla="val 9444"/>
            </a:avLst>
          </a:prstGeom>
          <a:solidFill>
            <a:srgbClr val="232321"/>
          </a:solidFill>
          <a:ln w="19050">
            <a:solidFill>
              <a:srgbClr val="3D3D3A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9772650" y="3675608"/>
            <a:ext cx="1676400" cy="895350"/>
          </a:xfrm>
          <a:prstGeom prst="roundRect">
            <a:avLst>
              <a:gd name="adj" fmla="val 12766"/>
            </a:avLst>
          </a:prstGeom>
          <a:solidFill>
            <a:srgbClr val="3D2A22"/>
          </a:solidFill>
          <a:ln w="19050">
            <a:solidFill>
              <a:srgbClr val="D97757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2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100" y="4008983"/>
            <a:ext cx="8915400" cy="228600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609600" y="457200"/>
            <a:ext cx="109728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製造の難しさ — 管理項目が多い</a:t>
            </a:r>
            <a:endParaRPr lang="en-US" sz="3600" dirty="0"/>
          </a:p>
        </p:txBody>
      </p:sp>
      <p:sp>
        <p:nvSpPr>
          <p:cNvPr id="24" name="Text 21"/>
          <p:cNvSpPr txBox="1"/>
          <p:nvPr/>
        </p:nvSpPr>
        <p:spPr>
          <a:xfrm>
            <a:off x="609600" y="1123950"/>
            <a:ext cx="9715500" cy="43719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要因が動くから、毎回ばらつく</a:t>
            </a:r>
            <a:endParaRPr lang="en-US" sz="2550" dirty="0"/>
          </a:p>
        </p:txBody>
      </p:sp>
      <p:sp>
        <p:nvSpPr>
          <p:cNvPr id="25" name="Text 22"/>
          <p:cNvSpPr txBox="1"/>
          <p:nvPr/>
        </p:nvSpPr>
        <p:spPr>
          <a:xfrm>
            <a:off x="1362373" y="2037308"/>
            <a:ext cx="628055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Q 品質</a:t>
            </a:r>
            <a:endParaRPr lang="en-US" sz="1650" dirty="0"/>
          </a:p>
        </p:txBody>
      </p:sp>
      <p:sp>
        <p:nvSpPr>
          <p:cNvPr id="26" name="Text 23"/>
          <p:cNvSpPr txBox="1"/>
          <p:nvPr/>
        </p:nvSpPr>
        <p:spPr>
          <a:xfrm>
            <a:off x="3479304" y="2037308"/>
            <a:ext cx="813792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70706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C コスト</a:t>
            </a:r>
            <a:endParaRPr lang="en-US" sz="1650" dirty="0"/>
          </a:p>
        </p:txBody>
      </p:sp>
      <p:sp>
        <p:nvSpPr>
          <p:cNvPr id="27" name="Text 24"/>
          <p:cNvSpPr txBox="1"/>
          <p:nvPr/>
        </p:nvSpPr>
        <p:spPr>
          <a:xfrm>
            <a:off x="5787777" y="2037308"/>
            <a:ext cx="616297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70706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D 納期</a:t>
            </a:r>
            <a:endParaRPr lang="en-US" sz="1650" dirty="0"/>
          </a:p>
        </p:txBody>
      </p:sp>
      <p:sp>
        <p:nvSpPr>
          <p:cNvPr id="28" name="Text 25"/>
          <p:cNvSpPr txBox="1"/>
          <p:nvPr/>
        </p:nvSpPr>
        <p:spPr>
          <a:xfrm>
            <a:off x="8006953" y="2037308"/>
            <a:ext cx="597545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70706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S 安全</a:t>
            </a:r>
            <a:endParaRPr lang="en-US" sz="1650" dirty="0"/>
          </a:p>
        </p:txBody>
      </p:sp>
      <p:sp>
        <p:nvSpPr>
          <p:cNvPr id="29" name="Text 26"/>
          <p:cNvSpPr txBox="1"/>
          <p:nvPr/>
        </p:nvSpPr>
        <p:spPr>
          <a:xfrm>
            <a:off x="10217795" y="2037308"/>
            <a:ext cx="59561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70706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E 環境</a:t>
            </a:r>
            <a:endParaRPr lang="en-US" sz="1650" dirty="0"/>
          </a:p>
        </p:txBody>
      </p:sp>
      <p:sp>
        <p:nvSpPr>
          <p:cNvPr id="30" name="Text 27"/>
          <p:cNvSpPr txBox="1"/>
          <p:nvPr/>
        </p:nvSpPr>
        <p:spPr>
          <a:xfrm>
            <a:off x="952500" y="2618333"/>
            <a:ext cx="2362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D977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人</a:t>
            </a:r>
            <a:endParaRPr lang="en-US" sz="1650" dirty="0"/>
          </a:p>
        </p:txBody>
      </p:sp>
      <p:sp>
        <p:nvSpPr>
          <p:cNvPr id="31" name="Text 28"/>
          <p:cNvSpPr txBox="1"/>
          <p:nvPr/>
        </p:nvSpPr>
        <p:spPr>
          <a:xfrm>
            <a:off x="952500" y="2980283"/>
            <a:ext cx="2362200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作業者の熟練度</a:t>
            </a:r>
            <a:endParaRPr lang="en-US" sz="1050" dirty="0"/>
          </a:p>
        </p:txBody>
      </p:sp>
      <p:sp>
        <p:nvSpPr>
          <p:cNvPr id="32" name="Text 29"/>
          <p:cNvSpPr txBox="1"/>
          <p:nvPr/>
        </p:nvSpPr>
        <p:spPr>
          <a:xfrm>
            <a:off x="952500" y="3186976"/>
            <a:ext cx="2362200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交代・引き継ぎ</a:t>
            </a:r>
            <a:endParaRPr lang="en-US" sz="1050" dirty="0"/>
          </a:p>
        </p:txBody>
      </p:sp>
      <p:sp>
        <p:nvSpPr>
          <p:cNvPr id="33" name="Text 30"/>
          <p:cNvSpPr txBox="1"/>
          <p:nvPr/>
        </p:nvSpPr>
        <p:spPr>
          <a:xfrm>
            <a:off x="952500" y="3393668"/>
            <a:ext cx="2362200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体調・疲れ</a:t>
            </a:r>
            <a:endParaRPr lang="en-US" sz="1050" dirty="0"/>
          </a:p>
        </p:txBody>
      </p:sp>
      <p:sp>
        <p:nvSpPr>
          <p:cNvPr id="34" name="Text 31"/>
          <p:cNvSpPr txBox="1"/>
          <p:nvPr/>
        </p:nvSpPr>
        <p:spPr>
          <a:xfrm>
            <a:off x="3810000" y="2618333"/>
            <a:ext cx="2362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6A9BC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機械</a:t>
            </a:r>
            <a:endParaRPr lang="en-US" sz="1650" dirty="0"/>
          </a:p>
        </p:txBody>
      </p:sp>
      <p:sp>
        <p:nvSpPr>
          <p:cNvPr id="35" name="Text 32"/>
          <p:cNvSpPr txBox="1"/>
          <p:nvPr/>
        </p:nvSpPr>
        <p:spPr>
          <a:xfrm>
            <a:off x="3810000" y="2980283"/>
            <a:ext cx="2362200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刃物や型の摩耗</a:t>
            </a:r>
            <a:endParaRPr lang="en-US" sz="1050" dirty="0"/>
          </a:p>
        </p:txBody>
      </p:sp>
      <p:sp>
        <p:nvSpPr>
          <p:cNvPr id="36" name="Text 33"/>
          <p:cNvSpPr txBox="1"/>
          <p:nvPr/>
        </p:nvSpPr>
        <p:spPr>
          <a:xfrm>
            <a:off x="3810000" y="3186976"/>
            <a:ext cx="2362200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治具のガタ</a:t>
            </a:r>
            <a:endParaRPr lang="en-US" sz="1050" dirty="0"/>
          </a:p>
        </p:txBody>
      </p:sp>
      <p:sp>
        <p:nvSpPr>
          <p:cNvPr id="37" name="Text 34"/>
          <p:cNvSpPr txBox="1"/>
          <p:nvPr/>
        </p:nvSpPr>
        <p:spPr>
          <a:xfrm>
            <a:off x="3810000" y="3393668"/>
            <a:ext cx="2362200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段取り替えの精度</a:t>
            </a:r>
            <a:endParaRPr lang="en-US" sz="1050" dirty="0"/>
          </a:p>
        </p:txBody>
      </p:sp>
      <p:sp>
        <p:nvSpPr>
          <p:cNvPr id="38" name="Text 35"/>
          <p:cNvSpPr txBox="1"/>
          <p:nvPr/>
        </p:nvSpPr>
        <p:spPr>
          <a:xfrm>
            <a:off x="6667500" y="2618333"/>
            <a:ext cx="2362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788C5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材料</a:t>
            </a:r>
            <a:endParaRPr lang="en-US" sz="1650" dirty="0"/>
          </a:p>
        </p:txBody>
      </p:sp>
      <p:sp>
        <p:nvSpPr>
          <p:cNvPr id="39" name="Text 36"/>
          <p:cNvSpPr txBox="1"/>
          <p:nvPr/>
        </p:nvSpPr>
        <p:spPr>
          <a:xfrm>
            <a:off x="6667500" y="2980283"/>
            <a:ext cx="2362200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ロットの違い</a:t>
            </a:r>
            <a:endParaRPr lang="en-US" sz="1050" dirty="0"/>
          </a:p>
        </p:txBody>
      </p:sp>
      <p:sp>
        <p:nvSpPr>
          <p:cNvPr id="40" name="Text 37"/>
          <p:cNvSpPr txBox="1"/>
          <p:nvPr/>
        </p:nvSpPr>
        <p:spPr>
          <a:xfrm>
            <a:off x="6667500" y="3186976"/>
            <a:ext cx="2362200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保管の状態</a:t>
            </a:r>
            <a:endParaRPr lang="en-US" sz="1050" dirty="0"/>
          </a:p>
        </p:txBody>
      </p:sp>
      <p:sp>
        <p:nvSpPr>
          <p:cNvPr id="41" name="Text 38"/>
          <p:cNvSpPr txBox="1"/>
          <p:nvPr/>
        </p:nvSpPr>
        <p:spPr>
          <a:xfrm>
            <a:off x="6667500" y="3393668"/>
            <a:ext cx="2362200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仕入先の違い</a:t>
            </a:r>
            <a:endParaRPr lang="en-US" sz="1050" dirty="0"/>
          </a:p>
        </p:txBody>
      </p:sp>
      <p:sp>
        <p:nvSpPr>
          <p:cNvPr id="42" name="Text 39"/>
          <p:cNvSpPr txBox="1"/>
          <p:nvPr/>
        </p:nvSpPr>
        <p:spPr>
          <a:xfrm>
            <a:off x="952500" y="4732883"/>
            <a:ext cx="2362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9C7FB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方法</a:t>
            </a:r>
            <a:endParaRPr lang="en-US" sz="1650" dirty="0"/>
          </a:p>
        </p:txBody>
      </p:sp>
      <p:sp>
        <p:nvSpPr>
          <p:cNvPr id="43" name="Text 40"/>
          <p:cNvSpPr txBox="1"/>
          <p:nvPr/>
        </p:nvSpPr>
        <p:spPr>
          <a:xfrm>
            <a:off x="952500" y="5094833"/>
            <a:ext cx="2362200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手順の解釈違い</a:t>
            </a:r>
            <a:endParaRPr lang="en-US" sz="1050" dirty="0"/>
          </a:p>
        </p:txBody>
      </p:sp>
      <p:sp>
        <p:nvSpPr>
          <p:cNvPr id="44" name="Text 41"/>
          <p:cNvSpPr txBox="1"/>
          <p:nvPr/>
        </p:nvSpPr>
        <p:spPr>
          <a:xfrm>
            <a:off x="952500" y="5301526"/>
            <a:ext cx="2362200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加工条件の設定</a:t>
            </a:r>
            <a:endParaRPr lang="en-US" sz="1050" dirty="0"/>
          </a:p>
        </p:txBody>
      </p:sp>
      <p:sp>
        <p:nvSpPr>
          <p:cNvPr id="45" name="Text 42"/>
          <p:cNvSpPr txBox="1"/>
          <p:nvPr/>
        </p:nvSpPr>
        <p:spPr>
          <a:xfrm>
            <a:off x="952500" y="5508218"/>
            <a:ext cx="2362200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作業標準の更新漏れ</a:t>
            </a:r>
            <a:endParaRPr lang="en-US" sz="1050" dirty="0"/>
          </a:p>
        </p:txBody>
      </p:sp>
      <p:sp>
        <p:nvSpPr>
          <p:cNvPr id="46" name="Text 43"/>
          <p:cNvSpPr txBox="1"/>
          <p:nvPr/>
        </p:nvSpPr>
        <p:spPr>
          <a:xfrm>
            <a:off x="3810000" y="4732883"/>
            <a:ext cx="2362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58989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測定</a:t>
            </a:r>
            <a:endParaRPr lang="en-US" sz="1650" dirty="0"/>
          </a:p>
        </p:txBody>
      </p:sp>
      <p:sp>
        <p:nvSpPr>
          <p:cNvPr id="47" name="Text 44"/>
          <p:cNvSpPr txBox="1"/>
          <p:nvPr/>
        </p:nvSpPr>
        <p:spPr>
          <a:xfrm>
            <a:off x="3810000" y="5094833"/>
            <a:ext cx="2362200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測定器の校正</a:t>
            </a:r>
            <a:endParaRPr lang="en-US" sz="1050" dirty="0"/>
          </a:p>
        </p:txBody>
      </p:sp>
      <p:sp>
        <p:nvSpPr>
          <p:cNvPr id="48" name="Text 45"/>
          <p:cNvSpPr txBox="1"/>
          <p:nvPr/>
        </p:nvSpPr>
        <p:spPr>
          <a:xfrm>
            <a:off x="3810000" y="5301526"/>
            <a:ext cx="2362200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測る場所とタイミング</a:t>
            </a:r>
            <a:endParaRPr lang="en-US" sz="1050" dirty="0"/>
          </a:p>
        </p:txBody>
      </p:sp>
      <p:sp>
        <p:nvSpPr>
          <p:cNvPr id="49" name="Text 46"/>
          <p:cNvSpPr txBox="1"/>
          <p:nvPr/>
        </p:nvSpPr>
        <p:spPr>
          <a:xfrm>
            <a:off x="3810000" y="5508218"/>
            <a:ext cx="2362200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測る人による差</a:t>
            </a:r>
            <a:endParaRPr lang="en-US" sz="1050" dirty="0"/>
          </a:p>
        </p:txBody>
      </p:sp>
      <p:sp>
        <p:nvSpPr>
          <p:cNvPr id="50" name="Text 47"/>
          <p:cNvSpPr txBox="1"/>
          <p:nvPr/>
        </p:nvSpPr>
        <p:spPr>
          <a:xfrm>
            <a:off x="6667500" y="4732883"/>
            <a:ext cx="2362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AC8A3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環境</a:t>
            </a:r>
            <a:endParaRPr lang="en-US" sz="1650" dirty="0"/>
          </a:p>
        </p:txBody>
      </p:sp>
      <p:sp>
        <p:nvSpPr>
          <p:cNvPr id="51" name="Text 48"/>
          <p:cNvSpPr txBox="1"/>
          <p:nvPr/>
        </p:nvSpPr>
        <p:spPr>
          <a:xfrm>
            <a:off x="6667500" y="5094833"/>
            <a:ext cx="2362200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温度・湿度</a:t>
            </a:r>
            <a:endParaRPr lang="en-US" sz="1050" dirty="0"/>
          </a:p>
        </p:txBody>
      </p:sp>
      <p:sp>
        <p:nvSpPr>
          <p:cNvPr id="52" name="Text 49"/>
          <p:cNvSpPr txBox="1"/>
          <p:nvPr/>
        </p:nvSpPr>
        <p:spPr>
          <a:xfrm>
            <a:off x="6667500" y="5301526"/>
            <a:ext cx="2362200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振動</a:t>
            </a:r>
            <a:endParaRPr lang="en-US" sz="1050" dirty="0"/>
          </a:p>
        </p:txBody>
      </p:sp>
      <p:sp>
        <p:nvSpPr>
          <p:cNvPr id="53" name="Text 50"/>
          <p:cNvSpPr txBox="1"/>
          <p:nvPr/>
        </p:nvSpPr>
        <p:spPr>
          <a:xfrm>
            <a:off x="6667500" y="5508218"/>
            <a:ext cx="2362200" cy="2066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粉じん・清浄度</a:t>
            </a:r>
            <a:endParaRPr lang="en-US" sz="1050" dirty="0"/>
          </a:p>
        </p:txBody>
      </p:sp>
      <p:sp>
        <p:nvSpPr>
          <p:cNvPr id="54" name="Text 51"/>
          <p:cNvSpPr txBox="1"/>
          <p:nvPr/>
        </p:nvSpPr>
        <p:spPr>
          <a:xfrm>
            <a:off x="10153501" y="3871764"/>
            <a:ext cx="914549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977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品質</a:t>
            </a:r>
            <a:endParaRPr lang="en-US" sz="3600" dirty="0"/>
          </a:p>
        </p:txBody>
      </p:sp>
      <p:sp>
        <p:nvSpPr>
          <p:cNvPr id="55" name="Text 52"/>
          <p:cNvSpPr txBox="1"/>
          <p:nvPr/>
        </p:nvSpPr>
        <p:spPr>
          <a:xfrm>
            <a:off x="609600" y="6028283"/>
            <a:ext cx="100012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いま開いているのは </a:t>
            </a:r>
            <a:pPr algn="l" indent="0" marL="0">
              <a:buNone/>
            </a:pPr>
            <a:r>
              <a:rPr lang="en-US" sz="1350" b="1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Q（品質）</a:t>
            </a:r>
            <a:pPr algn="l" indent="0" marL="0">
              <a:buNone/>
            </a:pPr>
            <a:r>
              <a:rPr lang="en-US" sz="13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 の例。C・D・S・E にも同じだけ管理項目がある。次は同じことを料理で。</a:t>
            </a:r>
            <a:endParaRPr lang="en-US" sz="1350" dirty="0"/>
          </a:p>
        </p:txBody>
      </p:sp>
      <p:sp>
        <p:nvSpPr>
          <p:cNvPr id="56" name="Text 53"/>
          <p:cNvSpPr txBox="1"/>
          <p:nvPr/>
        </p:nvSpPr>
        <p:spPr>
          <a:xfrm>
            <a:off x="11326713" y="6438900"/>
            <a:ext cx="40808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03 / 11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675358"/>
            <a:ext cx="10972800" cy="9525"/>
          </a:xfrm>
          <a:prstGeom prst="rect">
            <a:avLst/>
          </a:prstGeom>
          <a:solidFill>
            <a:srgbClr val="3D3D3A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2261146"/>
            <a:ext cx="876300" cy="495300"/>
          </a:xfrm>
          <a:prstGeom prst="roundRect">
            <a:avLst>
              <a:gd name="adj" fmla="val 50000"/>
            </a:avLst>
          </a:prstGeom>
          <a:solidFill>
            <a:srgbClr val="232321"/>
          </a:solidFill>
          <a:ln w="19050">
            <a:solidFill>
              <a:srgbClr val="D97757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1809750" y="2261146"/>
            <a:ext cx="1619250" cy="495300"/>
          </a:xfrm>
          <a:prstGeom prst="roundRect">
            <a:avLst>
              <a:gd name="adj" fmla="val 11538"/>
            </a:avLst>
          </a:prstGeom>
          <a:solidFill>
            <a:srgbClr val="1D1D1B"/>
          </a:solidFill>
          <a:ln w="19050">
            <a:solidFill>
              <a:srgbClr val="3D3D3A"/>
            </a:solidFill>
            <a:prstDash val="dash"/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5695950" y="2261146"/>
            <a:ext cx="1619250" cy="495300"/>
          </a:xfrm>
          <a:prstGeom prst="roundRect">
            <a:avLst>
              <a:gd name="adj" fmla="val 11538"/>
            </a:avLst>
          </a:prstGeom>
          <a:solidFill>
            <a:srgbClr val="1D1D1B"/>
          </a:solidFill>
          <a:ln w="19050">
            <a:solidFill>
              <a:srgbClr val="3D3D3A"/>
            </a:solidFill>
            <a:prstDash val="dash"/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7639050" y="2261146"/>
            <a:ext cx="1619250" cy="495300"/>
          </a:xfrm>
          <a:prstGeom prst="roundRect">
            <a:avLst>
              <a:gd name="adj" fmla="val 11538"/>
            </a:avLst>
          </a:prstGeom>
          <a:solidFill>
            <a:srgbClr val="1D1D1B"/>
          </a:solidFill>
          <a:ln w="19050">
            <a:solidFill>
              <a:srgbClr val="3D3D3A"/>
            </a:solidFill>
            <a:prstDash val="dash"/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9582150" y="2261146"/>
            <a:ext cx="1009650" cy="495300"/>
          </a:xfrm>
          <a:prstGeom prst="roundRect">
            <a:avLst>
              <a:gd name="adj" fmla="val 50000"/>
            </a:avLst>
          </a:prstGeom>
          <a:solidFill>
            <a:srgbClr val="3D2A22"/>
          </a:solidFill>
          <a:ln w="19050">
            <a:solidFill>
              <a:srgbClr val="D97757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3752850" y="3061246"/>
            <a:ext cx="1619250" cy="495300"/>
          </a:xfrm>
          <a:prstGeom prst="roundRect">
            <a:avLst>
              <a:gd name="adj" fmla="val 11538"/>
            </a:avLst>
          </a:prstGeom>
          <a:solidFill>
            <a:srgbClr val="1D1D1B"/>
          </a:solidFill>
          <a:ln w="19050">
            <a:solidFill>
              <a:srgbClr val="3D3D3A"/>
            </a:solidFill>
            <a:prstDash val="dash"/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00100" y="3818483"/>
            <a:ext cx="2667000" cy="552450"/>
          </a:xfrm>
          <a:prstGeom prst="roundRect">
            <a:avLst>
              <a:gd name="adj" fmla="val 20690"/>
            </a:avLst>
          </a:prstGeom>
          <a:solidFill>
            <a:srgbClr val="1D1D1B"/>
          </a:solidFill>
          <a:ln w="19050">
            <a:solidFill>
              <a:srgbClr val="3D3D3A"/>
            </a:solidFill>
            <a:prstDash val="dash"/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3657600" y="3818483"/>
            <a:ext cx="2667000" cy="552450"/>
          </a:xfrm>
          <a:prstGeom prst="roundRect">
            <a:avLst>
              <a:gd name="adj" fmla="val 20690"/>
            </a:avLst>
          </a:prstGeom>
          <a:solidFill>
            <a:srgbClr val="1D1D1B"/>
          </a:solidFill>
          <a:ln w="19050">
            <a:solidFill>
              <a:srgbClr val="3D3D3A"/>
            </a:solidFill>
            <a:prstDash val="dash"/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515100" y="3818483"/>
            <a:ext cx="2667000" cy="552450"/>
          </a:xfrm>
          <a:prstGeom prst="roundRect">
            <a:avLst>
              <a:gd name="adj" fmla="val 20690"/>
            </a:avLst>
          </a:prstGeom>
          <a:solidFill>
            <a:srgbClr val="1D1D1B"/>
          </a:solidFill>
          <a:ln w="19050">
            <a:solidFill>
              <a:srgbClr val="3D3D3A"/>
            </a:solidFill>
            <a:prstDash val="dash"/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2133600" y="4370933"/>
            <a:ext cx="19050" cy="228600"/>
          </a:xfrm>
          <a:prstGeom prst="rect">
            <a:avLst/>
          </a:prstGeom>
          <a:solidFill>
            <a:srgbClr val="B0AEA5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4991100" y="4370933"/>
            <a:ext cx="19050" cy="228600"/>
          </a:xfrm>
          <a:prstGeom prst="rect">
            <a:avLst/>
          </a:prstGeom>
          <a:solidFill>
            <a:srgbClr val="B0AEA5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7848600" y="4370933"/>
            <a:ext cx="19050" cy="228600"/>
          </a:xfrm>
          <a:prstGeom prst="rect">
            <a:avLst/>
          </a:prstGeom>
          <a:solidFill>
            <a:srgbClr val="B0AEA5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2133600" y="4599533"/>
            <a:ext cx="19050" cy="266700"/>
          </a:xfrm>
          <a:prstGeom prst="rect">
            <a:avLst/>
          </a:prstGeom>
          <a:solidFill>
            <a:srgbClr val="B0AEA5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991100" y="4599533"/>
            <a:ext cx="19050" cy="266700"/>
          </a:xfrm>
          <a:prstGeom prst="rect">
            <a:avLst/>
          </a:prstGeom>
          <a:solidFill>
            <a:srgbClr val="B0AEA5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7848600" y="4599533"/>
            <a:ext cx="19050" cy="266700"/>
          </a:xfrm>
          <a:prstGeom prst="rect">
            <a:avLst/>
          </a:prstGeom>
          <a:solidFill>
            <a:srgbClr val="B0AEA5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800100" y="4866233"/>
            <a:ext cx="2667000" cy="552450"/>
          </a:xfrm>
          <a:prstGeom prst="roundRect">
            <a:avLst>
              <a:gd name="adj" fmla="val 20690"/>
            </a:avLst>
          </a:prstGeom>
          <a:solidFill>
            <a:srgbClr val="1D1D1B"/>
          </a:solidFill>
          <a:ln w="19050">
            <a:solidFill>
              <a:srgbClr val="3D3D3A"/>
            </a:solidFill>
            <a:prstDash val="dash"/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3657600" y="4866233"/>
            <a:ext cx="2667000" cy="552450"/>
          </a:xfrm>
          <a:prstGeom prst="roundRect">
            <a:avLst>
              <a:gd name="adj" fmla="val 20690"/>
            </a:avLst>
          </a:prstGeom>
          <a:solidFill>
            <a:srgbClr val="1D1D1B"/>
          </a:solidFill>
          <a:ln w="19050">
            <a:solidFill>
              <a:srgbClr val="3D3D3A"/>
            </a:solidFill>
            <a:prstDash val="dash"/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515100" y="4866233"/>
            <a:ext cx="2667000" cy="552450"/>
          </a:xfrm>
          <a:prstGeom prst="roundRect">
            <a:avLst>
              <a:gd name="adj" fmla="val 20690"/>
            </a:avLst>
          </a:prstGeom>
          <a:solidFill>
            <a:srgbClr val="1D1D1B"/>
          </a:solidFill>
          <a:ln w="19050">
            <a:solidFill>
              <a:srgbClr val="3D3D3A"/>
            </a:solidFill>
            <a:prstDash val="dash"/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9772650" y="4237583"/>
            <a:ext cx="1676400" cy="666750"/>
          </a:xfrm>
          <a:prstGeom prst="roundRect">
            <a:avLst>
              <a:gd name="adj" fmla="val 17143"/>
            </a:avLst>
          </a:prstGeom>
          <a:solidFill>
            <a:srgbClr val="3D2A22"/>
          </a:solidFill>
          <a:ln w="19050">
            <a:solidFill>
              <a:srgbClr val="D97757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09600" y="5475833"/>
            <a:ext cx="10972800" cy="704850"/>
          </a:xfrm>
          <a:prstGeom prst="roundRect">
            <a:avLst>
              <a:gd name="adj" fmla="val 16216"/>
            </a:avLst>
          </a:prstGeom>
          <a:solidFill>
            <a:srgbClr val="232321"/>
          </a:solidFill>
          <a:ln w="28575">
            <a:solidFill>
              <a:srgbClr val="D97757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2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52850" y="2261146"/>
            <a:ext cx="1619250" cy="495300"/>
          </a:xfrm>
          <a:prstGeom prst="rect">
            <a:avLst/>
          </a:prstGeom>
        </p:spPr>
      </p:pic>
      <p:pic>
        <p:nvPicPr>
          <p:cNvPr id="2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" y="4485233"/>
            <a:ext cx="8915400" cy="228600"/>
          </a:xfrm>
          <a:prstGeom prst="rect">
            <a:avLst/>
          </a:prstGeom>
        </p:spPr>
      </p:pic>
      <p:sp>
        <p:nvSpPr>
          <p:cNvPr id="25" name="Text 21"/>
          <p:cNvSpPr txBox="1"/>
          <p:nvPr/>
        </p:nvSpPr>
        <p:spPr>
          <a:xfrm>
            <a:off x="609600" y="457200"/>
            <a:ext cx="109728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グループワーク①（20分）</a:t>
            </a:r>
            <a:endParaRPr lang="en-US" sz="3600" dirty="0"/>
          </a:p>
        </p:txBody>
      </p:sp>
      <p:sp>
        <p:nvSpPr>
          <p:cNvPr id="26" name="Text 22"/>
          <p:cNvSpPr txBox="1"/>
          <p:nvPr/>
        </p:nvSpPr>
        <p:spPr>
          <a:xfrm>
            <a:off x="609600" y="1123950"/>
            <a:ext cx="9715500" cy="43719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味噌汁の味を毎回同じように出すにはどうすればいいか考えよう</a:t>
            </a:r>
            <a:endParaRPr lang="en-US" sz="2550" dirty="0"/>
          </a:p>
        </p:txBody>
      </p:sp>
      <p:sp>
        <p:nvSpPr>
          <p:cNvPr id="27" name="Text 23"/>
          <p:cNvSpPr txBox="1"/>
          <p:nvPr/>
        </p:nvSpPr>
        <p:spPr>
          <a:xfrm>
            <a:off x="609600" y="1989683"/>
            <a:ext cx="1097280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6A9BC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① 作る工程を描く</a:t>
            </a:r>
            <a:pPr algn="l" indent="0" marL="0">
              <a:buNone/>
            </a:pPr>
            <a:r>
              <a:rPr lang="en-US" sz="1350" dirty="0">
                <a:solidFill>
                  <a:srgbClr val="6A9BC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開始から完成まで。判断が入るところは ◇ で</a:t>
            </a:r>
            <a:endParaRPr lang="en-US" sz="1350" dirty="0"/>
          </a:p>
        </p:txBody>
      </p:sp>
      <p:sp>
        <p:nvSpPr>
          <p:cNvPr id="28" name="Text 24"/>
          <p:cNvSpPr txBox="1"/>
          <p:nvPr/>
        </p:nvSpPr>
        <p:spPr>
          <a:xfrm>
            <a:off x="876300" y="2388840"/>
            <a:ext cx="342900" cy="240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開始</a:t>
            </a:r>
            <a:endParaRPr lang="en-US" sz="1350" dirty="0"/>
          </a:p>
        </p:txBody>
      </p:sp>
      <p:sp>
        <p:nvSpPr>
          <p:cNvPr id="29" name="Text 25"/>
          <p:cNvSpPr txBox="1"/>
          <p:nvPr/>
        </p:nvSpPr>
        <p:spPr>
          <a:xfrm>
            <a:off x="9915525" y="2388840"/>
            <a:ext cx="342900" cy="240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完成</a:t>
            </a:r>
            <a:endParaRPr lang="en-US" sz="1350" dirty="0"/>
          </a:p>
        </p:txBody>
      </p:sp>
      <p:sp>
        <p:nvSpPr>
          <p:cNvPr id="30" name="Text 26"/>
          <p:cNvSpPr txBox="1"/>
          <p:nvPr/>
        </p:nvSpPr>
        <p:spPr>
          <a:xfrm>
            <a:off x="1543050" y="2423071"/>
            <a:ext cx="22860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</a:t>
            </a:r>
            <a:endParaRPr lang="en-US" sz="1800" dirty="0"/>
          </a:p>
        </p:txBody>
      </p:sp>
      <p:sp>
        <p:nvSpPr>
          <p:cNvPr id="31" name="Text 27"/>
          <p:cNvSpPr txBox="1"/>
          <p:nvPr/>
        </p:nvSpPr>
        <p:spPr>
          <a:xfrm>
            <a:off x="3486150" y="2423071"/>
            <a:ext cx="22860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</a:t>
            </a:r>
            <a:endParaRPr lang="en-US" sz="1800" dirty="0"/>
          </a:p>
        </p:txBody>
      </p:sp>
      <p:sp>
        <p:nvSpPr>
          <p:cNvPr id="32" name="Text 28"/>
          <p:cNvSpPr txBox="1"/>
          <p:nvPr/>
        </p:nvSpPr>
        <p:spPr>
          <a:xfrm>
            <a:off x="5429250" y="2423071"/>
            <a:ext cx="22860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</a:t>
            </a:r>
            <a:endParaRPr lang="en-US" sz="1800" dirty="0"/>
          </a:p>
        </p:txBody>
      </p:sp>
      <p:sp>
        <p:nvSpPr>
          <p:cNvPr id="33" name="Text 29"/>
          <p:cNvSpPr txBox="1"/>
          <p:nvPr/>
        </p:nvSpPr>
        <p:spPr>
          <a:xfrm>
            <a:off x="7372350" y="2423071"/>
            <a:ext cx="22860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</a:t>
            </a:r>
            <a:endParaRPr lang="en-US" sz="1800" dirty="0"/>
          </a:p>
        </p:txBody>
      </p:sp>
      <p:sp>
        <p:nvSpPr>
          <p:cNvPr id="34" name="Text 30"/>
          <p:cNvSpPr txBox="1"/>
          <p:nvPr/>
        </p:nvSpPr>
        <p:spPr>
          <a:xfrm>
            <a:off x="9315450" y="2423071"/>
            <a:ext cx="22860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</a:t>
            </a:r>
            <a:endParaRPr lang="en-US" sz="1800" dirty="0"/>
          </a:p>
        </p:txBody>
      </p:sp>
      <p:sp>
        <p:nvSpPr>
          <p:cNvPr id="35" name="Text 31"/>
          <p:cNvSpPr txBox="1"/>
          <p:nvPr/>
        </p:nvSpPr>
        <p:spPr>
          <a:xfrm>
            <a:off x="5562600" y="2203996"/>
            <a:ext cx="266700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A9BC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はい</a:t>
            </a:r>
            <a:endParaRPr lang="en-US" sz="1050" dirty="0"/>
          </a:p>
        </p:txBody>
      </p:sp>
      <p:sp>
        <p:nvSpPr>
          <p:cNvPr id="36" name="Text 32"/>
          <p:cNvSpPr txBox="1"/>
          <p:nvPr/>
        </p:nvSpPr>
        <p:spPr>
          <a:xfrm>
            <a:off x="3867150" y="2851696"/>
            <a:ext cx="400050" cy="1666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b="1" dirty="0">
                <a:solidFill>
                  <a:srgbClr val="6A9BC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いいえ</a:t>
            </a:r>
            <a:endParaRPr lang="en-US" sz="1050" dirty="0"/>
          </a:p>
        </p:txBody>
      </p:sp>
      <p:sp>
        <p:nvSpPr>
          <p:cNvPr id="37" name="Text 33"/>
          <p:cNvSpPr txBox="1"/>
          <p:nvPr/>
        </p:nvSpPr>
        <p:spPr>
          <a:xfrm>
            <a:off x="4457700" y="2794546"/>
            <a:ext cx="22860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↓</a:t>
            </a:r>
            <a:endParaRPr lang="en-US" sz="1800" dirty="0"/>
          </a:p>
        </p:txBody>
      </p:sp>
      <p:sp>
        <p:nvSpPr>
          <p:cNvPr id="38" name="Text 34"/>
          <p:cNvSpPr txBox="1"/>
          <p:nvPr/>
        </p:nvSpPr>
        <p:spPr>
          <a:xfrm>
            <a:off x="5429250" y="3223171"/>
            <a:ext cx="22860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</a:t>
            </a:r>
            <a:endParaRPr lang="en-US" sz="1800" dirty="0"/>
          </a:p>
        </p:txBody>
      </p:sp>
      <p:sp>
        <p:nvSpPr>
          <p:cNvPr id="39" name="Text 35"/>
          <p:cNvSpPr txBox="1"/>
          <p:nvPr/>
        </p:nvSpPr>
        <p:spPr>
          <a:xfrm>
            <a:off x="5753100" y="3175546"/>
            <a:ext cx="400050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破線のところに、やることと判断を書き込む</a:t>
            </a:r>
            <a:endParaRPr lang="en-US" sz="1350" dirty="0"/>
          </a:p>
        </p:txBody>
      </p:sp>
      <p:sp>
        <p:nvSpPr>
          <p:cNvPr id="40" name="Text 36"/>
          <p:cNvSpPr txBox="1"/>
          <p:nvPr/>
        </p:nvSpPr>
        <p:spPr>
          <a:xfrm>
            <a:off x="609600" y="3556546"/>
            <a:ext cx="1097280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788C5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② 味がばらつく原因を書き出す</a:t>
            </a:r>
            <a:pPr algn="l" indent="0" marL="0">
              <a:buNone/>
            </a:pPr>
            <a:r>
              <a:rPr lang="en-US" sz="1350" dirty="0">
                <a:solidFill>
                  <a:srgbClr val="788C5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　六つの分類ごとに、思いつくだけ</a:t>
            </a:r>
            <a:endParaRPr lang="en-US" sz="1350" dirty="0"/>
          </a:p>
        </p:txBody>
      </p:sp>
      <p:sp>
        <p:nvSpPr>
          <p:cNvPr id="41" name="Text 37"/>
          <p:cNvSpPr txBox="1"/>
          <p:nvPr/>
        </p:nvSpPr>
        <p:spPr>
          <a:xfrm>
            <a:off x="952500" y="3932783"/>
            <a:ext cx="2362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D977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人</a:t>
            </a:r>
            <a:endParaRPr lang="en-US" sz="1650" dirty="0"/>
          </a:p>
        </p:txBody>
      </p:sp>
      <p:sp>
        <p:nvSpPr>
          <p:cNvPr id="42" name="Text 38"/>
          <p:cNvSpPr txBox="1"/>
          <p:nvPr/>
        </p:nvSpPr>
        <p:spPr>
          <a:xfrm>
            <a:off x="3810000" y="3932783"/>
            <a:ext cx="2362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6A9BC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機械</a:t>
            </a:r>
            <a:endParaRPr lang="en-US" sz="1650" dirty="0"/>
          </a:p>
        </p:txBody>
      </p:sp>
      <p:sp>
        <p:nvSpPr>
          <p:cNvPr id="43" name="Text 39"/>
          <p:cNvSpPr txBox="1"/>
          <p:nvPr/>
        </p:nvSpPr>
        <p:spPr>
          <a:xfrm>
            <a:off x="6667500" y="3932783"/>
            <a:ext cx="2362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788C5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材料</a:t>
            </a:r>
            <a:endParaRPr lang="en-US" sz="1650" dirty="0"/>
          </a:p>
        </p:txBody>
      </p:sp>
      <p:sp>
        <p:nvSpPr>
          <p:cNvPr id="44" name="Text 40"/>
          <p:cNvSpPr txBox="1"/>
          <p:nvPr/>
        </p:nvSpPr>
        <p:spPr>
          <a:xfrm>
            <a:off x="952500" y="4980533"/>
            <a:ext cx="2362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9C7FB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方法</a:t>
            </a:r>
            <a:endParaRPr lang="en-US" sz="1650" dirty="0"/>
          </a:p>
        </p:txBody>
      </p:sp>
      <p:sp>
        <p:nvSpPr>
          <p:cNvPr id="45" name="Text 41"/>
          <p:cNvSpPr txBox="1"/>
          <p:nvPr/>
        </p:nvSpPr>
        <p:spPr>
          <a:xfrm>
            <a:off x="3810000" y="4980533"/>
            <a:ext cx="2362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58989B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測定</a:t>
            </a:r>
            <a:endParaRPr lang="en-US" sz="1650" dirty="0"/>
          </a:p>
        </p:txBody>
      </p:sp>
      <p:sp>
        <p:nvSpPr>
          <p:cNvPr id="46" name="Text 42"/>
          <p:cNvSpPr txBox="1"/>
          <p:nvPr/>
        </p:nvSpPr>
        <p:spPr>
          <a:xfrm>
            <a:off x="6667500" y="4980533"/>
            <a:ext cx="23622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AC8A3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環境</a:t>
            </a:r>
            <a:endParaRPr lang="en-US" sz="1650" dirty="0"/>
          </a:p>
        </p:txBody>
      </p:sp>
      <p:sp>
        <p:nvSpPr>
          <p:cNvPr id="47" name="Text 43"/>
          <p:cNvSpPr txBox="1"/>
          <p:nvPr/>
        </p:nvSpPr>
        <p:spPr>
          <a:xfrm>
            <a:off x="10382101" y="4319439"/>
            <a:ext cx="457349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977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味</a:t>
            </a:r>
            <a:endParaRPr lang="en-US" sz="3600" dirty="0"/>
          </a:p>
        </p:txBody>
      </p:sp>
      <p:sp>
        <p:nvSpPr>
          <p:cNvPr id="48" name="Text 44"/>
          <p:cNvSpPr txBox="1"/>
          <p:nvPr/>
        </p:nvSpPr>
        <p:spPr>
          <a:xfrm>
            <a:off x="942975" y="5618708"/>
            <a:ext cx="103060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D977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豆腐・味噌・水だけの味噌汁 ／ ホワイトボードと模造紙に ／ 20分</a:t>
            </a:r>
            <a:endParaRPr lang="en-US" sz="2250" dirty="0"/>
          </a:p>
        </p:txBody>
      </p:sp>
      <p:sp>
        <p:nvSpPr>
          <p:cNvPr id="49" name="Text 45"/>
          <p:cNvSpPr txBox="1"/>
          <p:nvPr/>
        </p:nvSpPr>
        <p:spPr>
          <a:xfrm>
            <a:off x="11326713" y="6438900"/>
            <a:ext cx="40808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04 / 11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123950"/>
            <a:ext cx="10972800" cy="9525"/>
          </a:xfrm>
          <a:prstGeom prst="rect">
            <a:avLst/>
          </a:prstGeom>
          <a:solidFill>
            <a:srgbClr val="3D3D3A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1438275"/>
            <a:ext cx="10972800" cy="3238500"/>
          </a:xfrm>
          <a:prstGeom prst="roundRect">
            <a:avLst>
              <a:gd name="adj" fmla="val 3529"/>
            </a:avLst>
          </a:prstGeom>
          <a:solidFill>
            <a:srgbClr val="1D1D1B"/>
          </a:solidFill>
          <a:ln w="19050">
            <a:solidFill>
              <a:srgbClr val="3D3D3A"/>
            </a:solidFill>
            <a:prstDash val="dash"/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305050" y="4943475"/>
            <a:ext cx="3695700" cy="742950"/>
          </a:xfrm>
          <a:prstGeom prst="roundRect">
            <a:avLst>
              <a:gd name="adj" fmla="val 15385"/>
            </a:avLst>
          </a:prstGeom>
          <a:solidFill>
            <a:srgbClr val="1D1D1B"/>
          </a:solidFill>
          <a:ln w="19050">
            <a:solidFill>
              <a:srgbClr val="3D3D3A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296150" y="4914900"/>
            <a:ext cx="3657600" cy="704850"/>
          </a:xfrm>
          <a:prstGeom prst="roundRect">
            <a:avLst>
              <a:gd name="adj" fmla="val 16216"/>
            </a:avLst>
          </a:prstGeom>
          <a:solidFill>
            <a:srgbClr val="3D2A22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8250" y="4848225"/>
            <a:ext cx="838200" cy="838200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9350" y="4848225"/>
            <a:ext cx="838200" cy="8382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09600" y="457200"/>
            <a:ext cx="109728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解答例</a:t>
            </a:r>
            <a:endParaRPr lang="en-US" sz="3600" dirty="0"/>
          </a:p>
        </p:txBody>
      </p:sp>
      <p:sp>
        <p:nvSpPr>
          <p:cNvPr id="9" name="Text 5"/>
          <p:cNvSpPr txBox="1"/>
          <p:nvPr/>
        </p:nvSpPr>
        <p:spPr>
          <a:xfrm>
            <a:off x="819150" y="1590675"/>
            <a:ext cx="28397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解答例のフローチャート — 貼り付け領域</a:t>
            </a:r>
            <a:endParaRPr lang="en-US" sz="1050" dirty="0"/>
          </a:p>
        </p:txBody>
      </p:sp>
      <p:sp>
        <p:nvSpPr>
          <p:cNvPr id="10" name="Text 6"/>
          <p:cNvSpPr txBox="1"/>
          <p:nvPr/>
        </p:nvSpPr>
        <p:spPr>
          <a:xfrm>
            <a:off x="2495550" y="5057775"/>
            <a:ext cx="33147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単純な料理なのに、</a:t>
            </a:r>
            <a:endParaRPr lang="en-US" sz="1350" dirty="0"/>
          </a:p>
        </p:txBody>
      </p:sp>
      <p:sp>
        <p:nvSpPr>
          <p:cNvPr id="11" name="Text 7"/>
          <p:cNvSpPr txBox="1"/>
          <p:nvPr/>
        </p:nvSpPr>
        <p:spPr>
          <a:xfrm>
            <a:off x="2495550" y="5314950"/>
            <a:ext cx="33147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こんなにも管理する項目が多いんだ！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7467600" y="5010150"/>
            <a:ext cx="33147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品質以外にも、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7467600" y="5267325"/>
            <a:ext cx="33147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コストや時間も管理せなあかんねん…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11326713" y="6438900"/>
            <a:ext cx="40808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05 / 11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675358"/>
            <a:ext cx="10972800" cy="9525"/>
          </a:xfrm>
          <a:prstGeom prst="rect">
            <a:avLst/>
          </a:prstGeom>
          <a:solidFill>
            <a:srgbClr val="3D3D3A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1989683"/>
            <a:ext cx="3263801" cy="1489472"/>
          </a:xfrm>
          <a:prstGeom prst="roundRect">
            <a:avLst>
              <a:gd name="adj" fmla="val 7674"/>
            </a:avLst>
          </a:prstGeom>
          <a:solidFill>
            <a:srgbClr val="232321"/>
          </a:solidFill>
          <a:ln w="19050">
            <a:solidFill>
              <a:srgbClr val="D97757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463951" y="2109639"/>
            <a:ext cx="3263950" cy="1249561"/>
          </a:xfrm>
          <a:prstGeom prst="roundRect">
            <a:avLst>
              <a:gd name="adj" fmla="val 9147"/>
            </a:avLst>
          </a:prstGeom>
          <a:solidFill>
            <a:srgbClr val="232321"/>
          </a:solidFill>
          <a:ln w="19050">
            <a:solidFill>
              <a:srgbClr val="D97757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318450" y="2109639"/>
            <a:ext cx="3263950" cy="1249561"/>
          </a:xfrm>
          <a:prstGeom prst="roundRect">
            <a:avLst>
              <a:gd name="adj" fmla="val 9147"/>
            </a:avLst>
          </a:prstGeom>
          <a:solidFill>
            <a:srgbClr val="232321"/>
          </a:solidFill>
          <a:ln w="19050">
            <a:solidFill>
              <a:srgbClr val="D97757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09600" y="3707755"/>
            <a:ext cx="5372100" cy="2162770"/>
          </a:xfrm>
          <a:prstGeom prst="roundRect">
            <a:avLst>
              <a:gd name="adj" fmla="val 5285"/>
            </a:avLst>
          </a:prstGeom>
          <a:solidFill>
            <a:srgbClr val="1D1D1B"/>
          </a:solidFill>
          <a:ln w="19050">
            <a:solidFill>
              <a:srgbClr val="1D1D1B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210300" y="3707755"/>
            <a:ext cx="5372100" cy="2162770"/>
          </a:xfrm>
          <a:prstGeom prst="roundRect">
            <a:avLst>
              <a:gd name="adj" fmla="val 5285"/>
            </a:avLst>
          </a:prstGeom>
          <a:solidFill>
            <a:srgbClr val="232321"/>
          </a:solidFill>
          <a:ln w="19050">
            <a:solidFill>
              <a:srgbClr val="D97757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 txBox="1"/>
          <p:nvPr/>
        </p:nvSpPr>
        <p:spPr>
          <a:xfrm>
            <a:off x="609600" y="457200"/>
            <a:ext cx="109728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製造におけるDX</a:t>
            </a:r>
            <a:endParaRPr lang="en-US" sz="3600" dirty="0"/>
          </a:p>
        </p:txBody>
      </p:sp>
      <p:sp>
        <p:nvSpPr>
          <p:cNvPr id="9" name="Text 7"/>
          <p:cNvSpPr txBox="1"/>
          <p:nvPr/>
        </p:nvSpPr>
        <p:spPr>
          <a:xfrm>
            <a:off x="609600" y="1123950"/>
            <a:ext cx="9715500" cy="43719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データで、仕事のやり方そのものを変える</a:t>
            </a:r>
            <a:endParaRPr lang="en-US" sz="2550" dirty="0"/>
          </a:p>
        </p:txBody>
      </p:sp>
      <p:sp>
        <p:nvSpPr>
          <p:cNvPr id="10" name="Text 8"/>
          <p:cNvSpPr txBox="1"/>
          <p:nvPr/>
        </p:nvSpPr>
        <p:spPr>
          <a:xfrm>
            <a:off x="781050" y="2142083"/>
            <a:ext cx="2920901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D977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① 集める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781050" y="2465933"/>
            <a:ext cx="2920901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記録に残す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781050" y="2846933"/>
            <a:ext cx="2920901" cy="240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温度・時間・分量・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781050" y="3086963"/>
            <a:ext cx="2920901" cy="240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作り手を数字にする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4025801" y="2524869"/>
            <a:ext cx="2857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D977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</a:t>
            </a:r>
            <a:endParaRPr lang="en-US" sz="2250" dirty="0"/>
          </a:p>
        </p:txBody>
      </p:sp>
      <p:sp>
        <p:nvSpPr>
          <p:cNvPr id="15" name="Text 13"/>
          <p:cNvSpPr txBox="1"/>
          <p:nvPr/>
        </p:nvSpPr>
        <p:spPr>
          <a:xfrm>
            <a:off x="4635401" y="2262039"/>
            <a:ext cx="292105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D977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② つなぐ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4635401" y="2585889"/>
            <a:ext cx="292105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味と結びつける</a:t>
            </a:r>
            <a:endParaRPr lang="en-US" sz="1650" dirty="0"/>
          </a:p>
        </p:txBody>
      </p:sp>
      <p:sp>
        <p:nvSpPr>
          <p:cNvPr id="17" name="Text 15"/>
          <p:cNvSpPr txBox="1"/>
          <p:nvPr/>
        </p:nvSpPr>
        <p:spPr>
          <a:xfrm>
            <a:off x="4635401" y="2966889"/>
            <a:ext cx="2921050" cy="240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どの条件のとき美味しかったか</a:t>
            </a:r>
            <a:endParaRPr lang="en-US" sz="1350" dirty="0"/>
          </a:p>
        </p:txBody>
      </p:sp>
      <p:sp>
        <p:nvSpPr>
          <p:cNvPr id="18" name="Text 16"/>
          <p:cNvSpPr txBox="1"/>
          <p:nvPr/>
        </p:nvSpPr>
        <p:spPr>
          <a:xfrm>
            <a:off x="7880300" y="2524869"/>
            <a:ext cx="2857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D977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→</a:t>
            </a:r>
            <a:endParaRPr lang="en-US" sz="2250" dirty="0"/>
          </a:p>
        </p:txBody>
      </p:sp>
      <p:sp>
        <p:nvSpPr>
          <p:cNvPr id="19" name="Text 17"/>
          <p:cNvSpPr txBox="1"/>
          <p:nvPr/>
        </p:nvSpPr>
        <p:spPr>
          <a:xfrm>
            <a:off x="8489900" y="2262039"/>
            <a:ext cx="2921050" cy="24765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D977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③ 変える</a:t>
            </a:r>
            <a:endParaRPr lang="en-US" sz="1350" dirty="0"/>
          </a:p>
        </p:txBody>
      </p:sp>
      <p:sp>
        <p:nvSpPr>
          <p:cNvPr id="20" name="Text 18"/>
          <p:cNvSpPr txBox="1"/>
          <p:nvPr/>
        </p:nvSpPr>
        <p:spPr>
          <a:xfrm>
            <a:off x="8489900" y="2585889"/>
            <a:ext cx="292105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決め方が変わる</a:t>
            </a:r>
            <a:endParaRPr lang="en-US" sz="1650" dirty="0"/>
          </a:p>
        </p:txBody>
      </p:sp>
      <p:sp>
        <p:nvSpPr>
          <p:cNvPr id="21" name="Text 19"/>
          <p:cNvSpPr txBox="1"/>
          <p:nvPr/>
        </p:nvSpPr>
        <p:spPr>
          <a:xfrm>
            <a:off x="8489900" y="2966889"/>
            <a:ext cx="2921050" cy="24003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勘から数字へ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857250" y="3879205"/>
            <a:ext cx="4876800" cy="3571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人駆動型の仕事</a:t>
            </a:r>
            <a:endParaRPr lang="en-US" sz="2250" dirty="0"/>
          </a:p>
        </p:txBody>
      </p:sp>
      <p:sp>
        <p:nvSpPr>
          <p:cNvPr id="23" name="Text 21"/>
          <p:cNvSpPr txBox="1"/>
          <p:nvPr/>
        </p:nvSpPr>
        <p:spPr>
          <a:xfrm>
            <a:off x="1123950" y="4464993"/>
            <a:ext cx="46101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味見して、人が気づく</a:t>
            </a:r>
            <a:endParaRPr lang="en-US" sz="1650" dirty="0"/>
          </a:p>
        </p:txBody>
      </p:sp>
      <p:sp>
        <p:nvSpPr>
          <p:cNvPr id="24" name="Text 22"/>
          <p:cNvSpPr txBox="1"/>
          <p:nvPr/>
        </p:nvSpPr>
        <p:spPr>
          <a:xfrm>
            <a:off x="1123950" y="4876354"/>
            <a:ext cx="46101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「もう少し煮よう」と、人が決めて動かす</a:t>
            </a:r>
            <a:endParaRPr lang="en-US" sz="1650" dirty="0"/>
          </a:p>
        </p:txBody>
      </p:sp>
      <p:sp>
        <p:nvSpPr>
          <p:cNvPr id="25" name="Text 23"/>
          <p:cNvSpPr txBox="1"/>
          <p:nvPr/>
        </p:nvSpPr>
        <p:spPr>
          <a:xfrm>
            <a:off x="1123950" y="5287714"/>
            <a:ext cx="46101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うまくいった理由は、その人の中に残る</a:t>
            </a:r>
            <a:endParaRPr lang="en-US" sz="1650" dirty="0"/>
          </a:p>
        </p:txBody>
      </p:sp>
      <p:sp>
        <p:nvSpPr>
          <p:cNvPr id="26" name="Text 24"/>
          <p:cNvSpPr txBox="1"/>
          <p:nvPr/>
        </p:nvSpPr>
        <p:spPr>
          <a:xfrm>
            <a:off x="6457950" y="3879205"/>
            <a:ext cx="4876800" cy="3571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250" b="1" dirty="0">
                <a:solidFill>
                  <a:srgbClr val="D977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データ駆動型の仕事</a:t>
            </a:r>
            <a:endParaRPr lang="en-US" sz="2250" dirty="0"/>
          </a:p>
        </p:txBody>
      </p:sp>
      <p:sp>
        <p:nvSpPr>
          <p:cNvPr id="27" name="Text 25"/>
          <p:cNvSpPr txBox="1"/>
          <p:nvPr/>
        </p:nvSpPr>
        <p:spPr>
          <a:xfrm>
            <a:off x="6724650" y="4464993"/>
            <a:ext cx="46101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温度がずれたと、センサーが気づく</a:t>
            </a:r>
            <a:endParaRPr lang="en-US" sz="1650" dirty="0"/>
          </a:p>
        </p:txBody>
      </p:sp>
      <p:sp>
        <p:nvSpPr>
          <p:cNvPr id="28" name="Text 26"/>
          <p:cNvSpPr txBox="1"/>
          <p:nvPr/>
        </p:nvSpPr>
        <p:spPr>
          <a:xfrm>
            <a:off x="6724650" y="4876354"/>
            <a:ext cx="46101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決めておいた通りに、火加減が自動で変わる</a:t>
            </a:r>
            <a:endParaRPr lang="en-US" sz="1650" dirty="0"/>
          </a:p>
        </p:txBody>
      </p:sp>
      <p:sp>
        <p:nvSpPr>
          <p:cNvPr id="29" name="Text 27"/>
          <p:cNvSpPr txBox="1"/>
          <p:nvPr/>
        </p:nvSpPr>
        <p:spPr>
          <a:xfrm>
            <a:off x="6724650" y="5287714"/>
            <a:ext cx="46101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人は結果を確かめ、基準がずれていたら直す</a:t>
            </a:r>
            <a:endParaRPr lang="en-US" sz="1650" dirty="0"/>
          </a:p>
        </p:txBody>
      </p:sp>
      <p:sp>
        <p:nvSpPr>
          <p:cNvPr id="30" name="Text 28"/>
          <p:cNvSpPr txBox="1"/>
          <p:nvPr/>
        </p:nvSpPr>
        <p:spPr>
          <a:xfrm>
            <a:off x="609600" y="6099125"/>
            <a:ext cx="100012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記録を取っただけでは、まだDXではない。決め方が変わって初めて、仕事のやり方が変わったと言える。</a:t>
            </a:r>
            <a:endParaRPr lang="en-US" sz="1350" dirty="0"/>
          </a:p>
        </p:txBody>
      </p:sp>
      <p:sp>
        <p:nvSpPr>
          <p:cNvPr id="31" name="Text 29"/>
          <p:cNvSpPr txBox="1"/>
          <p:nvPr/>
        </p:nvSpPr>
        <p:spPr>
          <a:xfrm>
            <a:off x="11326713" y="6438900"/>
            <a:ext cx="40808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06 / 11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675358"/>
            <a:ext cx="10972800" cy="9525"/>
          </a:xfrm>
          <a:prstGeom prst="rect">
            <a:avLst/>
          </a:prstGeom>
          <a:solidFill>
            <a:srgbClr val="3D3D3A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1989683"/>
            <a:ext cx="10972800" cy="3238500"/>
          </a:xfrm>
          <a:prstGeom prst="roundRect">
            <a:avLst>
              <a:gd name="adj" fmla="val 3529"/>
            </a:avLst>
          </a:prstGeom>
          <a:solidFill>
            <a:srgbClr val="1D1D1B"/>
          </a:solidFill>
          <a:ln w="19050">
            <a:solidFill>
              <a:srgbClr val="3D3D3A"/>
            </a:solidFill>
            <a:prstDash val="dash"/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2305050" y="5494883"/>
            <a:ext cx="3695700" cy="742950"/>
          </a:xfrm>
          <a:prstGeom prst="roundRect">
            <a:avLst>
              <a:gd name="adj" fmla="val 15385"/>
            </a:avLst>
          </a:prstGeom>
          <a:solidFill>
            <a:srgbClr val="1D1D1B"/>
          </a:solidFill>
          <a:ln w="19050">
            <a:solidFill>
              <a:srgbClr val="3D3D3A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7296150" y="5466308"/>
            <a:ext cx="3657600" cy="704850"/>
          </a:xfrm>
          <a:prstGeom prst="roundRect">
            <a:avLst>
              <a:gd name="adj" fmla="val 16216"/>
            </a:avLst>
          </a:prstGeom>
          <a:solidFill>
            <a:srgbClr val="3D2A22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8250" y="5399633"/>
            <a:ext cx="838200" cy="838200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9350" y="5399633"/>
            <a:ext cx="838200" cy="83820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609600" y="457200"/>
            <a:ext cx="109728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グループワーク②（10分）</a:t>
            </a:r>
            <a:endParaRPr lang="en-US" sz="3600" dirty="0"/>
          </a:p>
        </p:txBody>
      </p:sp>
      <p:sp>
        <p:nvSpPr>
          <p:cNvPr id="9" name="Text 5"/>
          <p:cNvSpPr txBox="1"/>
          <p:nvPr/>
        </p:nvSpPr>
        <p:spPr>
          <a:xfrm>
            <a:off x="609600" y="1123950"/>
            <a:ext cx="9715500" cy="43719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勘で決めている判断を見つけ、データで決める形に変えよう</a:t>
            </a:r>
            <a:endParaRPr lang="en-US" sz="2550" dirty="0"/>
          </a:p>
        </p:txBody>
      </p:sp>
      <p:sp>
        <p:nvSpPr>
          <p:cNvPr id="10" name="Text 6"/>
          <p:cNvSpPr txBox="1"/>
          <p:nvPr/>
        </p:nvSpPr>
        <p:spPr>
          <a:xfrm>
            <a:off x="819150" y="2142083"/>
            <a:ext cx="3401764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さきほど描いた工程図（解答例）— 貼り付け領域</a:t>
            </a:r>
            <a:endParaRPr lang="en-US" sz="1050" dirty="0"/>
          </a:p>
        </p:txBody>
      </p:sp>
      <p:sp>
        <p:nvSpPr>
          <p:cNvPr id="11" name="Text 7"/>
          <p:cNvSpPr txBox="1"/>
          <p:nvPr/>
        </p:nvSpPr>
        <p:spPr>
          <a:xfrm>
            <a:off x="2495550" y="5609183"/>
            <a:ext cx="33147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フローチャートの「判断」のところ、</a:t>
            </a:r>
            <a:endParaRPr lang="en-US" sz="1350" dirty="0"/>
          </a:p>
        </p:txBody>
      </p:sp>
      <p:sp>
        <p:nvSpPr>
          <p:cNvPr id="12" name="Text 8"/>
          <p:cNvSpPr txBox="1"/>
          <p:nvPr/>
        </p:nvSpPr>
        <p:spPr>
          <a:xfrm>
            <a:off x="2495550" y="5866358"/>
            <a:ext cx="33147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何を見て決めてる？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7467600" y="5561558"/>
            <a:ext cx="33147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その判断、</a:t>
            </a:r>
            <a:endParaRPr lang="en-US" sz="1350" dirty="0"/>
          </a:p>
        </p:txBody>
      </p:sp>
      <p:sp>
        <p:nvSpPr>
          <p:cNvPr id="14" name="Text 10"/>
          <p:cNvSpPr txBox="1"/>
          <p:nvPr/>
        </p:nvSpPr>
        <p:spPr>
          <a:xfrm>
            <a:off x="7467600" y="5818733"/>
            <a:ext cx="331470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勘やなくて数字で決められへん？</a:t>
            </a:r>
            <a:endParaRPr lang="en-US" sz="1350" dirty="0"/>
          </a:p>
        </p:txBody>
      </p:sp>
      <p:sp>
        <p:nvSpPr>
          <p:cNvPr id="15" name="Text 11"/>
          <p:cNvSpPr txBox="1"/>
          <p:nvPr/>
        </p:nvSpPr>
        <p:spPr>
          <a:xfrm>
            <a:off x="11326713" y="6438900"/>
            <a:ext cx="40808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07 / 11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123950"/>
            <a:ext cx="10972800" cy="9525"/>
          </a:xfrm>
          <a:prstGeom prst="rect">
            <a:avLst/>
          </a:prstGeom>
          <a:solidFill>
            <a:srgbClr val="3D3D3A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1438275"/>
            <a:ext cx="10972800" cy="3476625"/>
          </a:xfrm>
          <a:prstGeom prst="roundRect">
            <a:avLst>
              <a:gd name="adj" fmla="val 3288"/>
            </a:avLst>
          </a:prstGeom>
          <a:solidFill>
            <a:srgbClr val="1D1D1B"/>
          </a:solidFill>
          <a:ln w="19050">
            <a:solidFill>
              <a:srgbClr val="3D3D3A"/>
            </a:solidFill>
            <a:prstDash val="dash"/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 txBox="1"/>
          <p:nvPr/>
        </p:nvSpPr>
        <p:spPr>
          <a:xfrm>
            <a:off x="609600" y="457200"/>
            <a:ext cx="109728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解答例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819150" y="1590675"/>
            <a:ext cx="5278189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改善後のフローチャート（データで決めるように変えた版） — 貼り付け領域</a:t>
            </a:r>
            <a:endParaRPr lang="en-US" sz="1050" dirty="0"/>
          </a:p>
        </p:txBody>
      </p:sp>
      <p:sp>
        <p:nvSpPr>
          <p:cNvPr id="6" name="Text 4"/>
          <p:cNvSpPr txBox="1"/>
          <p:nvPr/>
        </p:nvSpPr>
        <p:spPr>
          <a:xfrm>
            <a:off x="609600" y="5143500"/>
            <a:ext cx="100012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増えた線は、出てきた結果をもう一度作り方に戻している。測って、ずれたら戻す。エアコンが設定温度を保つのと同じ形。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609600" y="5400675"/>
            <a:ext cx="100012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ただし、何を測るか・狙いをどこに置くかを決めるのは人。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11326713" y="6438900"/>
            <a:ext cx="40808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08 / 11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675358"/>
            <a:ext cx="10972800" cy="9525"/>
          </a:xfrm>
          <a:prstGeom prst="rect">
            <a:avLst/>
          </a:prstGeom>
          <a:solidFill>
            <a:srgbClr val="3D3D3A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1989683"/>
            <a:ext cx="3505200" cy="2429470"/>
          </a:xfrm>
          <a:prstGeom prst="roundRect">
            <a:avLst>
              <a:gd name="adj" fmla="val 4705"/>
            </a:avLst>
          </a:prstGeom>
          <a:solidFill>
            <a:srgbClr val="232321"/>
          </a:solidFill>
          <a:ln w="19050">
            <a:solidFill>
              <a:srgbClr val="3D3D3A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4343400" y="1989683"/>
            <a:ext cx="3505200" cy="2429470"/>
          </a:xfrm>
          <a:prstGeom prst="roundRect">
            <a:avLst>
              <a:gd name="adj" fmla="val 4705"/>
            </a:avLst>
          </a:prstGeom>
          <a:solidFill>
            <a:srgbClr val="232321"/>
          </a:solidFill>
          <a:ln w="19050">
            <a:solidFill>
              <a:srgbClr val="3D3D3A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8077200" y="1989683"/>
            <a:ext cx="3505200" cy="2429470"/>
          </a:xfrm>
          <a:prstGeom prst="roundRect">
            <a:avLst>
              <a:gd name="adj" fmla="val 4705"/>
            </a:avLst>
          </a:prstGeom>
          <a:solidFill>
            <a:srgbClr val="232321"/>
          </a:solidFill>
          <a:ln w="19050">
            <a:solidFill>
              <a:srgbClr val="3D3D3A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09600" y="4647754"/>
            <a:ext cx="10972800" cy="933450"/>
          </a:xfrm>
          <a:prstGeom prst="roundRect">
            <a:avLst>
              <a:gd name="adj" fmla="val 12245"/>
            </a:avLst>
          </a:prstGeom>
          <a:solidFill>
            <a:srgbClr val="232321"/>
          </a:solidFill>
          <a:ln w="28575">
            <a:solidFill>
              <a:srgbClr val="D97757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 txBox="1"/>
          <p:nvPr/>
        </p:nvSpPr>
        <p:spPr>
          <a:xfrm>
            <a:off x="609600" y="457200"/>
            <a:ext cx="109728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日本の製造業がいま抱えている問題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609600" y="1123950"/>
            <a:ext cx="9715500" cy="43719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人手は減るのに、管理は増えていく</a:t>
            </a:r>
            <a:endParaRPr lang="en-US" sz="2550" dirty="0"/>
          </a:p>
        </p:txBody>
      </p:sp>
      <p:sp>
        <p:nvSpPr>
          <p:cNvPr id="9" name="Text 7"/>
          <p:cNvSpPr txBox="1"/>
          <p:nvPr/>
        </p:nvSpPr>
        <p:spPr>
          <a:xfrm>
            <a:off x="933450" y="2313533"/>
            <a:ext cx="285750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D977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問題 1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933450" y="2604046"/>
            <a:ext cx="285750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人が足りない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933450" y="3089821"/>
            <a:ext cx="28575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働き手が減り、</a:t>
            </a:r>
            <a:endParaRPr lang="en-US" sz="1650" dirty="0"/>
          </a:p>
        </p:txBody>
      </p:sp>
      <p:sp>
        <p:nvSpPr>
          <p:cNvPr id="12" name="Text 10"/>
          <p:cNvSpPr txBox="1"/>
          <p:nvPr/>
        </p:nvSpPr>
        <p:spPr>
          <a:xfrm>
            <a:off x="933450" y="3425101"/>
            <a:ext cx="28575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若い人が現場を選びにくい</a:t>
            </a:r>
            <a:endParaRPr lang="en-US" sz="1650" dirty="0"/>
          </a:p>
        </p:txBody>
      </p:sp>
      <p:sp>
        <p:nvSpPr>
          <p:cNvPr id="13" name="Text 11"/>
          <p:cNvSpPr txBox="1"/>
          <p:nvPr/>
        </p:nvSpPr>
        <p:spPr>
          <a:xfrm>
            <a:off x="4667250" y="2313533"/>
            <a:ext cx="285750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6A9BC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問題 2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4667250" y="2604046"/>
            <a:ext cx="285750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管理のレベルが上がる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4667250" y="3089821"/>
            <a:ext cx="28575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見る項目が増え、</a:t>
            </a:r>
            <a:endParaRPr lang="en-US" sz="1650" dirty="0"/>
          </a:p>
        </p:txBody>
      </p:sp>
      <p:sp>
        <p:nvSpPr>
          <p:cNvPr id="16" name="Text 14"/>
          <p:cNvSpPr txBox="1"/>
          <p:nvPr/>
        </p:nvSpPr>
        <p:spPr>
          <a:xfrm>
            <a:off x="4667250" y="3425101"/>
            <a:ext cx="28575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やり方も高度になる。</a:t>
            </a:r>
            <a:endParaRPr lang="en-US" sz="1650" dirty="0"/>
          </a:p>
        </p:txBody>
      </p:sp>
      <p:sp>
        <p:nvSpPr>
          <p:cNvPr id="17" name="Text 15"/>
          <p:cNvSpPr txBox="1"/>
          <p:nvPr/>
        </p:nvSpPr>
        <p:spPr>
          <a:xfrm>
            <a:off x="4667250" y="3760381"/>
            <a:ext cx="28575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多品種少量も効く</a:t>
            </a:r>
            <a:endParaRPr lang="en-US" sz="1650" dirty="0"/>
          </a:p>
        </p:txBody>
      </p:sp>
      <p:sp>
        <p:nvSpPr>
          <p:cNvPr id="18" name="Text 16"/>
          <p:cNvSpPr txBox="1"/>
          <p:nvPr/>
        </p:nvSpPr>
        <p:spPr>
          <a:xfrm>
            <a:off x="8401050" y="2313533"/>
            <a:ext cx="2857500" cy="214313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788C5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問題 3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8401050" y="2604046"/>
            <a:ext cx="2857500" cy="3333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デジタル化が追いつかない</a:t>
            </a:r>
            <a:endParaRPr lang="en-US" sz="1800" dirty="0"/>
          </a:p>
        </p:txBody>
      </p:sp>
      <p:sp>
        <p:nvSpPr>
          <p:cNvPr id="20" name="Text 18"/>
          <p:cNvSpPr txBox="1"/>
          <p:nvPr/>
        </p:nvSpPr>
        <p:spPr>
          <a:xfrm>
            <a:off x="8401050" y="3089821"/>
            <a:ext cx="28575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担う人がまた足りず、</a:t>
            </a:r>
            <a:endParaRPr lang="en-US" sz="1650" dirty="0"/>
          </a:p>
        </p:txBody>
      </p:sp>
      <p:sp>
        <p:nvSpPr>
          <p:cNvPr id="21" name="Text 19"/>
          <p:cNvSpPr txBox="1"/>
          <p:nvPr/>
        </p:nvSpPr>
        <p:spPr>
          <a:xfrm>
            <a:off x="8401050" y="3425101"/>
            <a:ext cx="2857500" cy="3352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65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現場のやり方も揃っていない</a:t>
            </a:r>
            <a:endParaRPr lang="en-US" sz="1650" dirty="0"/>
          </a:p>
        </p:txBody>
      </p:sp>
      <p:sp>
        <p:nvSpPr>
          <p:cNvPr id="22" name="Text 20"/>
          <p:cNvSpPr txBox="1"/>
          <p:nvPr/>
        </p:nvSpPr>
        <p:spPr>
          <a:xfrm>
            <a:off x="942975" y="4904929"/>
            <a:ext cx="103060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D977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三つは絡んでいる ／ 人手は減るのに、管理は増えていく</a:t>
            </a:r>
            <a:endParaRPr lang="en-US" sz="2250" dirty="0"/>
          </a:p>
        </p:txBody>
      </p:sp>
      <p:sp>
        <p:nvSpPr>
          <p:cNvPr id="23" name="Text 21"/>
          <p:cNvSpPr txBox="1"/>
          <p:nvPr/>
        </p:nvSpPr>
        <p:spPr>
          <a:xfrm>
            <a:off x="11326713" y="6438900"/>
            <a:ext cx="40808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09 / 11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675358"/>
            <a:ext cx="10972800" cy="9525"/>
          </a:xfrm>
          <a:prstGeom prst="rect">
            <a:avLst/>
          </a:prstGeom>
          <a:solidFill>
            <a:srgbClr val="3D3D3A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00100" y="2218283"/>
            <a:ext cx="6286500" cy="2686050"/>
          </a:xfrm>
          <a:prstGeom prst="roundRect">
            <a:avLst>
              <a:gd name="adj" fmla="val 4255"/>
            </a:avLst>
          </a:prstGeom>
          <a:solidFill>
            <a:srgbClr val="6A9BCC">
              <a:alpha val="55000"/>
            </a:srgbClr>
          </a:solidFill>
          <a:ln w="19050">
            <a:solidFill>
              <a:srgbClr val="6A9BCC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105400" y="2218283"/>
            <a:ext cx="6286500" cy="2686050"/>
          </a:xfrm>
          <a:prstGeom prst="roundRect">
            <a:avLst>
              <a:gd name="adj" fmla="val 4255"/>
            </a:avLst>
          </a:prstGeom>
          <a:solidFill>
            <a:srgbClr val="788C5D">
              <a:alpha val="55000"/>
            </a:srgbClr>
          </a:solidFill>
          <a:ln w="19050">
            <a:solidFill>
              <a:srgbClr val="788C5D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 txBox="1"/>
          <p:nvPr/>
        </p:nvSpPr>
        <p:spPr>
          <a:xfrm>
            <a:off x="609600" y="457200"/>
            <a:ext cx="109728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人がする仕事と、デジタルがする仕事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609600" y="1123950"/>
            <a:ext cx="9715500" cy="43719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25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創るのは人、こなすのはデジタル</a:t>
            </a:r>
            <a:endParaRPr lang="en-US" sz="2550" dirty="0"/>
          </a:p>
        </p:txBody>
      </p:sp>
      <p:sp>
        <p:nvSpPr>
          <p:cNvPr id="7" name="Text 5"/>
          <p:cNvSpPr txBox="1"/>
          <p:nvPr/>
        </p:nvSpPr>
        <p:spPr>
          <a:xfrm>
            <a:off x="2809875" y="2664768"/>
            <a:ext cx="285750" cy="3571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6A9BCC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人</a:t>
            </a:r>
            <a:endParaRPr lang="en-US" sz="2250" dirty="0"/>
          </a:p>
        </p:txBody>
      </p:sp>
      <p:sp>
        <p:nvSpPr>
          <p:cNvPr id="8" name="Text 6"/>
          <p:cNvSpPr txBox="1"/>
          <p:nvPr/>
        </p:nvSpPr>
        <p:spPr>
          <a:xfrm>
            <a:off x="2009775" y="3155305"/>
            <a:ext cx="1885950" cy="32575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目的と要件を決める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2009775" y="3481060"/>
            <a:ext cx="1885950" cy="32575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設備や製品を設計する</a:t>
            </a:r>
            <a:endParaRPr lang="en-US" sz="1350" dirty="0"/>
          </a:p>
        </p:txBody>
      </p:sp>
      <p:sp>
        <p:nvSpPr>
          <p:cNvPr id="10" name="Text 8"/>
          <p:cNvSpPr txBox="1"/>
          <p:nvPr/>
        </p:nvSpPr>
        <p:spPr>
          <a:xfrm>
            <a:off x="2009775" y="3806815"/>
            <a:ext cx="1885950" cy="32575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合意をつくる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2009775" y="4132570"/>
            <a:ext cx="1885950" cy="32575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安全かどうかを判断する</a:t>
            </a:r>
            <a:endParaRPr lang="en-US" sz="1350" dirty="0"/>
          </a:p>
        </p:txBody>
      </p:sp>
      <p:sp>
        <p:nvSpPr>
          <p:cNvPr id="12" name="Text 10"/>
          <p:cNvSpPr txBox="1"/>
          <p:nvPr/>
        </p:nvSpPr>
        <p:spPr>
          <a:xfrm>
            <a:off x="8670578" y="2827586"/>
            <a:ext cx="1137345" cy="35718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788C5D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デジタル</a:t>
            </a:r>
            <a:endParaRPr lang="en-US" sz="2250" dirty="0"/>
          </a:p>
        </p:txBody>
      </p:sp>
      <p:sp>
        <p:nvSpPr>
          <p:cNvPr id="13" name="Text 11"/>
          <p:cNvSpPr txBox="1"/>
          <p:nvPr/>
        </p:nvSpPr>
        <p:spPr>
          <a:xfrm>
            <a:off x="8210550" y="3318123"/>
            <a:ext cx="2057400" cy="32575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大量に速く正確に処理する</a:t>
            </a:r>
            <a:endParaRPr lang="en-US" sz="1350" dirty="0"/>
          </a:p>
        </p:txBody>
      </p:sp>
      <p:sp>
        <p:nvSpPr>
          <p:cNvPr id="14" name="Text 12"/>
          <p:cNvSpPr txBox="1"/>
          <p:nvPr/>
        </p:nvSpPr>
        <p:spPr>
          <a:xfrm>
            <a:off x="8210550" y="3643878"/>
            <a:ext cx="2057400" cy="32575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繰り返す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8210550" y="3969633"/>
            <a:ext cx="2057400" cy="32575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予測する</a:t>
            </a:r>
            <a:endParaRPr lang="en-US" sz="1350" dirty="0"/>
          </a:p>
        </p:txBody>
      </p:sp>
      <p:sp>
        <p:nvSpPr>
          <p:cNvPr id="16" name="Text 14"/>
          <p:cNvSpPr txBox="1"/>
          <p:nvPr/>
        </p:nvSpPr>
        <p:spPr>
          <a:xfrm>
            <a:off x="5753100" y="3172718"/>
            <a:ext cx="685800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77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標準化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5753100" y="3561338"/>
            <a:ext cx="685800" cy="3886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D977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管理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09600" y="5361533"/>
            <a:ext cx="10001250" cy="257175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役割を分けると、楽に・速く・正確になる。人が減った分を機械で埋める話ではなく、人が人にしかできない仕事へ動ける話。</a:t>
            </a:r>
            <a:endParaRPr lang="en-US" sz="1350" dirty="0"/>
          </a:p>
        </p:txBody>
      </p:sp>
      <p:sp>
        <p:nvSpPr>
          <p:cNvPr id="19" name="Text 17"/>
          <p:cNvSpPr txBox="1"/>
          <p:nvPr/>
        </p:nvSpPr>
        <p:spPr>
          <a:xfrm>
            <a:off x="11326713" y="6438900"/>
            <a:ext cx="40808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10 / 11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09600" y="1123950"/>
            <a:ext cx="10972800" cy="9525"/>
          </a:xfrm>
          <a:prstGeom prst="rect">
            <a:avLst/>
          </a:prstGeom>
          <a:solidFill>
            <a:srgbClr val="3D3D3A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09600" y="2390775"/>
            <a:ext cx="10972800" cy="9525"/>
          </a:xfrm>
          <a:prstGeom prst="rect">
            <a:avLst/>
          </a:prstGeom>
          <a:solidFill>
            <a:srgbClr val="3D3D3A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09600" y="1666875"/>
            <a:ext cx="642045" cy="49530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09600" y="3352800"/>
            <a:ext cx="10972800" cy="9525"/>
          </a:xfrm>
          <a:prstGeom prst="rect">
            <a:avLst/>
          </a:prstGeom>
          <a:solidFill>
            <a:srgbClr val="3D3D3A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09600" y="2628900"/>
            <a:ext cx="642045" cy="495300"/>
          </a:xfrm>
          <a:prstGeom prst="roundRect">
            <a:avLst>
              <a:gd name="adj" fmla="val 50000"/>
            </a:avLst>
          </a:prstGeom>
          <a:solidFill>
            <a:srgbClr val="6A9BCC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09600" y="4314825"/>
            <a:ext cx="10972800" cy="9525"/>
          </a:xfrm>
          <a:prstGeom prst="rect">
            <a:avLst/>
          </a:prstGeom>
          <a:solidFill>
            <a:srgbClr val="3D3D3A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09600" y="3590925"/>
            <a:ext cx="642045" cy="495300"/>
          </a:xfrm>
          <a:prstGeom prst="roundRect">
            <a:avLst>
              <a:gd name="adj" fmla="val 50000"/>
            </a:avLst>
          </a:prstGeom>
          <a:solidFill>
            <a:srgbClr val="788C5D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609600" y="5276850"/>
            <a:ext cx="10972800" cy="9525"/>
          </a:xfrm>
          <a:prstGeom prst="rect">
            <a:avLst/>
          </a:prstGeom>
          <a:solidFill>
            <a:srgbClr val="3D3D3A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609600" y="4552950"/>
            <a:ext cx="642045" cy="49530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609600" y="5438775"/>
            <a:ext cx="10972800" cy="933450"/>
          </a:xfrm>
          <a:prstGeom prst="roundRect">
            <a:avLst>
              <a:gd name="adj" fmla="val 12245"/>
            </a:avLst>
          </a:prstGeom>
          <a:solidFill>
            <a:srgbClr val="232321"/>
          </a:solidFill>
          <a:ln w="28575">
            <a:solidFill>
              <a:srgbClr val="D97757"/>
            </a:solidFill>
          </a:ln>
        </p:spPr>
        <p:txBody>
          <a:bodyPr wrap="none" lIns="0" tIns="0" rIns="0" bIns="0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 txBox="1"/>
          <p:nvPr/>
        </p:nvSpPr>
        <p:spPr>
          <a:xfrm>
            <a:off x="609600" y="457200"/>
            <a:ext cx="10972800" cy="571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まとめ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762000" y="1666875"/>
            <a:ext cx="337245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01</a:t>
            </a:r>
            <a:endParaRPr lang="en-US" sz="2250" dirty="0"/>
          </a:p>
        </p:txBody>
      </p:sp>
      <p:sp>
        <p:nvSpPr>
          <p:cNvPr id="14" name="Text 12"/>
          <p:cNvSpPr txBox="1"/>
          <p:nvPr/>
        </p:nvSpPr>
        <p:spPr>
          <a:xfrm>
            <a:off x="1480245" y="1666875"/>
            <a:ext cx="6629400" cy="3657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製造の仕事は、良いモノを安全・安定・ムダなく作り続けること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762000" y="2628900"/>
            <a:ext cx="337245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02</a:t>
            </a:r>
            <a:endParaRPr lang="en-US" sz="2250" dirty="0"/>
          </a:p>
        </p:txBody>
      </p:sp>
      <p:sp>
        <p:nvSpPr>
          <p:cNvPr id="16" name="Text 14"/>
          <p:cNvSpPr txBox="1"/>
          <p:nvPr/>
        </p:nvSpPr>
        <p:spPr>
          <a:xfrm>
            <a:off x="1480245" y="2628900"/>
            <a:ext cx="5925294" cy="3657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難しさは、ブレなく作るための管理項目がとても多いこと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762000" y="3590925"/>
            <a:ext cx="337245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03</a:t>
            </a:r>
            <a:endParaRPr lang="en-US" sz="2250" dirty="0"/>
          </a:p>
        </p:txBody>
      </p:sp>
      <p:sp>
        <p:nvSpPr>
          <p:cNvPr id="18" name="Text 16"/>
          <p:cNvSpPr txBox="1"/>
          <p:nvPr/>
        </p:nvSpPr>
        <p:spPr>
          <a:xfrm>
            <a:off x="1480245" y="3590925"/>
            <a:ext cx="5067895" cy="3657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データで、仕事のやり方そのものを変えるのがDX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762000" y="4552950"/>
            <a:ext cx="337245" cy="3429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04</a:t>
            </a:r>
            <a:endParaRPr lang="en-US" sz="2250" dirty="0"/>
          </a:p>
        </p:txBody>
      </p:sp>
      <p:sp>
        <p:nvSpPr>
          <p:cNvPr id="20" name="Text 18"/>
          <p:cNvSpPr txBox="1"/>
          <p:nvPr/>
        </p:nvSpPr>
        <p:spPr>
          <a:xfrm>
            <a:off x="1480245" y="4552950"/>
            <a:ext cx="6396335" cy="3657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FAF9F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創るのは人、こなすのはデジタル。標準化と管理は両方でやる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942975" y="5695950"/>
            <a:ext cx="10306050" cy="4191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>
                <a:solidFill>
                  <a:srgbClr val="D97757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製造の仕事は作り方を作り、決めた通りに作って管理する</a:t>
            </a:r>
            <a:endParaRPr lang="en-US" sz="2250" dirty="0"/>
          </a:p>
        </p:txBody>
      </p:sp>
      <p:sp>
        <p:nvSpPr>
          <p:cNvPr id="22" name="Text 20"/>
          <p:cNvSpPr txBox="1"/>
          <p:nvPr/>
        </p:nvSpPr>
        <p:spPr>
          <a:xfrm>
            <a:off x="11326713" y="6438900"/>
            <a:ext cx="408087" cy="1905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B0AEA5"/>
                </a:solidFill>
                <a:latin typeface="Noto Sans JP" pitchFamily="34" charset="0"/>
                <a:ea typeface="Noto Sans JP" pitchFamily="34" charset="-122"/>
                <a:cs typeface="Noto Sans JP" pitchFamily="34" charset="-120"/>
              </a:rPr>
              <a:t>11 / 11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人×デジタルで作る製造工程</dc:title>
  <dc:subject>高専生向けセミナー 55分</dc:subject>
  <dc:creator/>
  <cp:lastModifiedBy/>
  <cp:revision>1</cp:revision>
  <dcterms:created xsi:type="dcterms:W3CDTF">2026-08-24T15:18:59Z</dcterms:created>
  <dcterms:modified xsi:type="dcterms:W3CDTF">2026-08-24T15:18:59Z</dcterms:modified>
</cp:coreProperties>
</file>