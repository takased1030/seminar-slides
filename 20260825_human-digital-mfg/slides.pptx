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5762625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1619250" y="1828800"/>
            <a:ext cx="3734842" cy="285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0" b="1" dirty="0">
                <a:solidFill>
                  <a:srgbClr val="2B2B2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DX</a:t>
            </a:r>
            <a:endParaRPr lang="en-US" sz="2250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533400"/>
            <a:ext cx="371043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MANUFACTURING × DIGITAL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3989189"/>
            <a:ext cx="7912596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人×デジタルで作る製造工程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4979789"/>
            <a:ext cx="3249067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単純に見える仕事が、どれだけ奥が深いか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09600" y="6000750"/>
            <a:ext cx="1097280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発表者: 高瀬</a:t>
            </a:r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2026.08.25 – 27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 / 11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75358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86350" y="19896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232321"/>
          </a:solidFill>
          <a:ln w="19050">
            <a:solidFill>
              <a:srgbClr val="6A9BCC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86350" y="25992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232321"/>
          </a:solidFill>
          <a:ln w="19050">
            <a:solidFill>
              <a:srgbClr val="6A9BCC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86350" y="32088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232321"/>
          </a:solidFill>
          <a:ln w="19050">
            <a:solidFill>
              <a:srgbClr val="6A9BCC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990850" y="38184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232321"/>
          </a:solidFill>
          <a:ln w="19050">
            <a:solidFill>
              <a:srgbClr val="788C5D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86350" y="38184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3D2A22"/>
          </a:solidFill>
          <a:ln w="28575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181850" y="38184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232321"/>
          </a:solidFill>
          <a:ln w="19050">
            <a:solidFill>
              <a:srgbClr val="788C5D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277350" y="38184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232321"/>
          </a:solidFill>
          <a:ln w="19050">
            <a:solidFill>
              <a:srgbClr val="788C5D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086350" y="44280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09600" y="5261521"/>
            <a:ext cx="10972800" cy="409575"/>
          </a:xfrm>
          <a:prstGeom prst="rect">
            <a:avLst/>
          </a:prstGeom>
          <a:solidFill>
            <a:srgbClr val="232321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09600" y="6061621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製造の仕事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09600" y="1123950"/>
            <a:ext cx="9715500" cy="437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良いモノを安全・安定・ムダなく作り続ける</a:t>
            </a:r>
            <a:endParaRPr lang="en-US" sz="2550" dirty="0"/>
          </a:p>
        </p:txBody>
      </p:sp>
      <p:sp>
        <p:nvSpPr>
          <p:cNvPr id="15" name="Text 13"/>
          <p:cNvSpPr txBox="1"/>
          <p:nvPr/>
        </p:nvSpPr>
        <p:spPr>
          <a:xfrm>
            <a:off x="5772150" y="2037308"/>
            <a:ext cx="3429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企画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10200" y="2251621"/>
            <a:ext cx="10668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何を作るか決める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867400" y="2465933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↓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772150" y="2646908"/>
            <a:ext cx="3429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476875" y="2861221"/>
            <a:ext cx="93345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レシピを決める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867400" y="3075533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↓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29250" y="3256508"/>
            <a:ext cx="10287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試作・段取り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346799" y="3470821"/>
            <a:ext cx="119360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一度作って味見する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867400" y="3685133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↓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3676650" y="3866108"/>
            <a:ext cx="3429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調達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3581400" y="4080421"/>
            <a:ext cx="5334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買い出し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762500" y="3913733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5772150" y="3866108"/>
            <a:ext cx="3429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製造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5676900" y="4080421"/>
            <a:ext cx="5334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調理する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3913733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867650" y="3866108"/>
            <a:ext cx="3429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物流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7572375" y="4080421"/>
            <a:ext cx="93345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運ぶ・保管する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953500" y="3913733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705975" y="3866108"/>
            <a:ext cx="85725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出荷・納品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9667875" y="4080421"/>
            <a:ext cx="93345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盛り付けて出す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5867400" y="4313783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↑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5772150" y="4475708"/>
            <a:ext cx="3429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保全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5345460" y="4690021"/>
            <a:ext cx="119628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コンロや鍋を整える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09600" y="2561183"/>
            <a:ext cx="2095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ECM｜縦の流れ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609600" y="2775496"/>
            <a:ext cx="2095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何をどう作るかを決める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609600" y="3875633"/>
            <a:ext cx="2095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SCM｜横の流れ</a:t>
            </a:r>
            <a:endParaRPr lang="en-US" sz="1350" dirty="0"/>
          </a:p>
        </p:txBody>
      </p:sp>
      <p:sp>
        <p:nvSpPr>
          <p:cNvPr id="41" name="Text 39"/>
          <p:cNvSpPr txBox="1"/>
          <p:nvPr/>
        </p:nvSpPr>
        <p:spPr>
          <a:xfrm>
            <a:off x="609600" y="4089946"/>
            <a:ext cx="2095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モノが調達から納品へ動く</a:t>
            </a:r>
            <a:endParaRPr lang="en-US" sz="1350" dirty="0"/>
          </a:p>
        </p:txBody>
      </p:sp>
      <p:sp>
        <p:nvSpPr>
          <p:cNvPr id="42" name="Text 40"/>
          <p:cNvSpPr txBox="1"/>
          <p:nvPr/>
        </p:nvSpPr>
        <p:spPr>
          <a:xfrm>
            <a:off x="6991350" y="4523333"/>
            <a:ext cx="2476500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保全は、製造を止めないための土台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609600" y="4999583"/>
            <a:ext cx="109728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出力｜</a:t>
            </a:r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QCDSE</a:t>
            </a:r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製造から出てきたものを、この五つで測る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762000" y="5328196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Q</a:t>
            </a:r>
            <a:pPr algn="l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品質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2952750" y="5328196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</a:t>
            </a:r>
            <a:pPr algn="l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コスト</a:t>
            </a:r>
            <a:endParaRPr lang="en-US" sz="1350" dirty="0"/>
          </a:p>
        </p:txBody>
      </p:sp>
      <p:sp>
        <p:nvSpPr>
          <p:cNvPr id="46" name="Text 44"/>
          <p:cNvSpPr txBox="1"/>
          <p:nvPr/>
        </p:nvSpPr>
        <p:spPr>
          <a:xfrm>
            <a:off x="5143500" y="5328196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</a:t>
            </a:r>
            <a:pPr algn="l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納期</a:t>
            </a:r>
            <a:endParaRPr lang="en-US" sz="1350" dirty="0"/>
          </a:p>
        </p:txBody>
      </p:sp>
      <p:sp>
        <p:nvSpPr>
          <p:cNvPr id="47" name="Text 45"/>
          <p:cNvSpPr txBox="1"/>
          <p:nvPr/>
        </p:nvSpPr>
        <p:spPr>
          <a:xfrm>
            <a:off x="7334250" y="5328196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</a:t>
            </a:r>
            <a:pPr algn="l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安全</a:t>
            </a:r>
            <a:endParaRPr lang="en-US" sz="1350" dirty="0"/>
          </a:p>
        </p:txBody>
      </p:sp>
      <p:sp>
        <p:nvSpPr>
          <p:cNvPr id="48" name="Text 46"/>
          <p:cNvSpPr txBox="1"/>
          <p:nvPr/>
        </p:nvSpPr>
        <p:spPr>
          <a:xfrm>
            <a:off x="9525000" y="5328196"/>
            <a:ext cx="19050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</a:t>
            </a:r>
            <a:pPr algn="l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環境</a:t>
            </a:r>
            <a:endParaRPr lang="en-US" sz="1350" dirty="0"/>
          </a:p>
        </p:txBody>
      </p:sp>
      <p:sp>
        <p:nvSpPr>
          <p:cNvPr id="49" name="Text 47"/>
          <p:cNvSpPr txBox="1"/>
          <p:nvPr/>
        </p:nvSpPr>
        <p:spPr>
          <a:xfrm>
            <a:off x="762000" y="5737771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味・栄養・新鮮さ</a:t>
            </a:r>
            <a:endParaRPr lang="en-US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2952750" y="5737771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電気代・材料費・人件費</a:t>
            </a:r>
            <a:endParaRPr lang="en-US" sz="1350" dirty="0"/>
          </a:p>
        </p:txBody>
      </p:sp>
      <p:sp>
        <p:nvSpPr>
          <p:cNvPr id="51" name="Text 49"/>
          <p:cNvSpPr txBox="1"/>
          <p:nvPr/>
        </p:nvSpPr>
        <p:spPr>
          <a:xfrm>
            <a:off x="5143500" y="5737771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出てくるまでの早さ</a:t>
            </a:r>
            <a:endParaRPr lang="en-US" sz="1350" dirty="0"/>
          </a:p>
        </p:txBody>
      </p:sp>
      <p:sp>
        <p:nvSpPr>
          <p:cNvPr id="52" name="Text 50"/>
          <p:cNvSpPr txBox="1"/>
          <p:nvPr/>
        </p:nvSpPr>
        <p:spPr>
          <a:xfrm>
            <a:off x="7334250" y="5737771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作る人が無事か</a:t>
            </a:r>
            <a:endParaRPr lang="en-US" sz="1350" dirty="0"/>
          </a:p>
        </p:txBody>
      </p:sp>
      <p:sp>
        <p:nvSpPr>
          <p:cNvPr id="53" name="Text 51"/>
          <p:cNvSpPr txBox="1"/>
          <p:nvPr/>
        </p:nvSpPr>
        <p:spPr>
          <a:xfrm>
            <a:off x="9525000" y="5737771"/>
            <a:ext cx="19050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厨房が片付いているか</a:t>
            </a:r>
            <a:endParaRPr lang="en-US" sz="1350" dirty="0"/>
          </a:p>
        </p:txBody>
      </p:sp>
      <p:sp>
        <p:nvSpPr>
          <p:cNvPr id="54" name="Text 52"/>
          <p:cNvSpPr txBox="1"/>
          <p:nvPr/>
        </p:nvSpPr>
        <p:spPr>
          <a:xfrm>
            <a:off x="609600" y="6118771"/>
            <a:ext cx="109728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↻ 出力を見て、次の企画・設計へ返す。考える部署や人が、何人もいる。</a:t>
            </a:r>
            <a:endParaRPr lang="en-US" sz="1350" dirty="0"/>
          </a:p>
        </p:txBody>
      </p:sp>
      <p:sp>
        <p:nvSpPr>
          <p:cNvPr id="55" name="Text 53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 / 11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75358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989683"/>
            <a:ext cx="2133600" cy="40005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819400" y="1989683"/>
            <a:ext cx="2133600" cy="400050"/>
          </a:xfrm>
          <a:prstGeom prst="roundRect">
            <a:avLst>
              <a:gd name="adj" fmla="val 50000"/>
            </a:avLst>
          </a:prstGeom>
          <a:solidFill>
            <a:srgbClr val="6A9BCC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29200" y="1989683"/>
            <a:ext cx="2133600" cy="400050"/>
          </a:xfrm>
          <a:prstGeom prst="roundRect">
            <a:avLst>
              <a:gd name="adj" fmla="val 50000"/>
            </a:avLst>
          </a:prstGeom>
          <a:solidFill>
            <a:srgbClr val="788C5D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239000" y="1989683"/>
            <a:ext cx="2133600" cy="400050"/>
          </a:xfrm>
          <a:prstGeom prst="roundRect">
            <a:avLst>
              <a:gd name="adj" fmla="val 50000"/>
            </a:avLst>
          </a:prstGeom>
          <a:solidFill>
            <a:srgbClr val="9C7FB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448800" y="1989683"/>
            <a:ext cx="2133600" cy="40005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00100" y="2504033"/>
            <a:ext cx="2667000" cy="1210270"/>
          </a:xfrm>
          <a:prstGeom prst="roundRect">
            <a:avLst>
              <a:gd name="adj" fmla="val 9444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657600" y="2504033"/>
            <a:ext cx="2667000" cy="1210270"/>
          </a:xfrm>
          <a:prstGeom prst="roundRect">
            <a:avLst>
              <a:gd name="adj" fmla="val 9444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515100" y="2504033"/>
            <a:ext cx="2667000" cy="1210270"/>
          </a:xfrm>
          <a:prstGeom prst="roundRect">
            <a:avLst>
              <a:gd name="adj" fmla="val 9444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33600" y="3627983"/>
            <a:ext cx="19050" cy="4953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991100" y="3627983"/>
            <a:ext cx="19050" cy="4953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848600" y="3627983"/>
            <a:ext cx="19050" cy="4953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133600" y="4123283"/>
            <a:ext cx="19050" cy="4953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991100" y="4123283"/>
            <a:ext cx="19050" cy="4953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848600" y="4123283"/>
            <a:ext cx="19050" cy="4953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00100" y="4618583"/>
            <a:ext cx="2667000" cy="1210270"/>
          </a:xfrm>
          <a:prstGeom prst="roundRect">
            <a:avLst>
              <a:gd name="adj" fmla="val 9444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657600" y="4618583"/>
            <a:ext cx="2667000" cy="1210270"/>
          </a:xfrm>
          <a:prstGeom prst="roundRect">
            <a:avLst>
              <a:gd name="adj" fmla="val 9444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515100" y="4618583"/>
            <a:ext cx="2667000" cy="1210270"/>
          </a:xfrm>
          <a:prstGeom prst="roundRect">
            <a:avLst>
              <a:gd name="adj" fmla="val 9444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772650" y="3675608"/>
            <a:ext cx="1676400" cy="895350"/>
          </a:xfrm>
          <a:prstGeom prst="roundRect">
            <a:avLst>
              <a:gd name="adj" fmla="val 12766"/>
            </a:avLst>
          </a:prstGeom>
          <a:solidFill>
            <a:srgbClr val="3D2A22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4008983"/>
            <a:ext cx="8915400" cy="22860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製造の難しさ — 管理項目が多い</a:t>
            </a:r>
            <a:endParaRPr lang="en-US" sz="3600" dirty="0"/>
          </a:p>
        </p:txBody>
      </p:sp>
      <p:sp>
        <p:nvSpPr>
          <p:cNvPr id="23" name="Text 20"/>
          <p:cNvSpPr txBox="1"/>
          <p:nvPr/>
        </p:nvSpPr>
        <p:spPr>
          <a:xfrm>
            <a:off x="609600" y="1123950"/>
            <a:ext cx="9715500" cy="437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要因が動くから、毎回ばらつく</a:t>
            </a:r>
            <a:endParaRPr lang="en-US" sz="2550" dirty="0"/>
          </a:p>
        </p:txBody>
      </p:sp>
      <p:sp>
        <p:nvSpPr>
          <p:cNvPr id="24" name="Text 21"/>
          <p:cNvSpPr txBox="1"/>
          <p:nvPr/>
        </p:nvSpPr>
        <p:spPr>
          <a:xfrm>
            <a:off x="1362373" y="2037308"/>
            <a:ext cx="62805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Q 品質</a:t>
            </a:r>
            <a:endParaRPr lang="en-US" sz="1650" dirty="0"/>
          </a:p>
        </p:txBody>
      </p:sp>
      <p:sp>
        <p:nvSpPr>
          <p:cNvPr id="25" name="Text 22"/>
          <p:cNvSpPr txBox="1"/>
          <p:nvPr/>
        </p:nvSpPr>
        <p:spPr>
          <a:xfrm>
            <a:off x="3479304" y="2037308"/>
            <a:ext cx="813792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 コスト</a:t>
            </a:r>
            <a:endParaRPr lang="en-US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5787777" y="2037308"/>
            <a:ext cx="616297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 納期</a:t>
            </a:r>
            <a:endParaRPr lang="en-US" sz="1650" dirty="0"/>
          </a:p>
        </p:txBody>
      </p:sp>
      <p:sp>
        <p:nvSpPr>
          <p:cNvPr id="27" name="Text 24"/>
          <p:cNvSpPr txBox="1"/>
          <p:nvPr/>
        </p:nvSpPr>
        <p:spPr>
          <a:xfrm>
            <a:off x="8006953" y="2037308"/>
            <a:ext cx="59754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 安全</a:t>
            </a:r>
            <a:endParaRPr lang="en-US" sz="1650" dirty="0"/>
          </a:p>
        </p:txBody>
      </p:sp>
      <p:sp>
        <p:nvSpPr>
          <p:cNvPr id="28" name="Text 25"/>
          <p:cNvSpPr txBox="1"/>
          <p:nvPr/>
        </p:nvSpPr>
        <p:spPr>
          <a:xfrm>
            <a:off x="10217795" y="2037308"/>
            <a:ext cx="59561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 環境</a:t>
            </a:r>
            <a:endParaRPr lang="en-US" sz="1650" dirty="0"/>
          </a:p>
        </p:txBody>
      </p:sp>
      <p:sp>
        <p:nvSpPr>
          <p:cNvPr id="29" name="Text 26"/>
          <p:cNvSpPr txBox="1"/>
          <p:nvPr/>
        </p:nvSpPr>
        <p:spPr>
          <a:xfrm>
            <a:off x="952500" y="261833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</a:t>
            </a:r>
            <a:endParaRPr lang="en-US" sz="1650" dirty="0"/>
          </a:p>
        </p:txBody>
      </p:sp>
      <p:sp>
        <p:nvSpPr>
          <p:cNvPr id="30" name="Text 27"/>
          <p:cNvSpPr txBox="1"/>
          <p:nvPr/>
        </p:nvSpPr>
        <p:spPr>
          <a:xfrm>
            <a:off x="952500" y="2980283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作業者の熟練度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952500" y="3186976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交代・引き継ぎ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952500" y="3393668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体調・疲れ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3810000" y="261833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機械</a:t>
            </a:r>
            <a:endParaRPr lang="en-US" sz="1650" dirty="0"/>
          </a:p>
        </p:txBody>
      </p:sp>
      <p:sp>
        <p:nvSpPr>
          <p:cNvPr id="34" name="Text 31"/>
          <p:cNvSpPr txBox="1"/>
          <p:nvPr/>
        </p:nvSpPr>
        <p:spPr>
          <a:xfrm>
            <a:off x="3810000" y="2980283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刃物や型の摩耗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3810000" y="3186976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治具のガタ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3810000" y="3393668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段取り替えの精度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6667500" y="261833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材料</a:t>
            </a:r>
            <a:endParaRPr lang="en-US" sz="1650" dirty="0"/>
          </a:p>
        </p:txBody>
      </p:sp>
      <p:sp>
        <p:nvSpPr>
          <p:cNvPr id="38" name="Text 35"/>
          <p:cNvSpPr txBox="1"/>
          <p:nvPr/>
        </p:nvSpPr>
        <p:spPr>
          <a:xfrm>
            <a:off x="6667500" y="2980283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ロットの違い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6667500" y="3186976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保管の状態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6667500" y="3393668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仕入先の違い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952500" y="473288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9C7FB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方法</a:t>
            </a:r>
            <a:endParaRPr lang="en-US" sz="1650" dirty="0"/>
          </a:p>
        </p:txBody>
      </p:sp>
      <p:sp>
        <p:nvSpPr>
          <p:cNvPr id="42" name="Text 39"/>
          <p:cNvSpPr txBox="1"/>
          <p:nvPr/>
        </p:nvSpPr>
        <p:spPr>
          <a:xfrm>
            <a:off x="952500" y="5094833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手順の解釈違い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952500" y="5301526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加工条件の設定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952500" y="5508218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作業標準の更新漏れ</a:t>
            </a:r>
            <a:endParaRPr lang="en-US" sz="1050" dirty="0"/>
          </a:p>
        </p:txBody>
      </p:sp>
      <p:sp>
        <p:nvSpPr>
          <p:cNvPr id="45" name="Text 42"/>
          <p:cNvSpPr txBox="1"/>
          <p:nvPr/>
        </p:nvSpPr>
        <p:spPr>
          <a:xfrm>
            <a:off x="3810000" y="473288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58989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測定</a:t>
            </a:r>
            <a:endParaRPr lang="en-US" sz="1650" dirty="0"/>
          </a:p>
        </p:txBody>
      </p:sp>
      <p:sp>
        <p:nvSpPr>
          <p:cNvPr id="46" name="Text 43"/>
          <p:cNvSpPr txBox="1"/>
          <p:nvPr/>
        </p:nvSpPr>
        <p:spPr>
          <a:xfrm>
            <a:off x="3810000" y="5094833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測定器の校正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3810000" y="5301526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測る場所とタイミング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3810000" y="5508218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測る人による差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6667500" y="473288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AC8A3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環境</a:t>
            </a:r>
            <a:endParaRPr lang="en-US" sz="1650" dirty="0"/>
          </a:p>
        </p:txBody>
      </p:sp>
      <p:sp>
        <p:nvSpPr>
          <p:cNvPr id="50" name="Text 47"/>
          <p:cNvSpPr txBox="1"/>
          <p:nvPr/>
        </p:nvSpPr>
        <p:spPr>
          <a:xfrm>
            <a:off x="6667500" y="5094833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温度・湿度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6667500" y="5301526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振動</a:t>
            </a:r>
            <a:endParaRPr lang="en-US" sz="1050" dirty="0"/>
          </a:p>
        </p:txBody>
      </p:sp>
      <p:sp>
        <p:nvSpPr>
          <p:cNvPr id="52" name="Text 49"/>
          <p:cNvSpPr txBox="1"/>
          <p:nvPr/>
        </p:nvSpPr>
        <p:spPr>
          <a:xfrm>
            <a:off x="6667500" y="5508218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粉じん・清浄度</a:t>
            </a:r>
            <a:endParaRPr lang="en-US" sz="1050" dirty="0"/>
          </a:p>
        </p:txBody>
      </p:sp>
      <p:sp>
        <p:nvSpPr>
          <p:cNvPr id="53" name="Text 50"/>
          <p:cNvSpPr txBox="1"/>
          <p:nvPr/>
        </p:nvSpPr>
        <p:spPr>
          <a:xfrm>
            <a:off x="10153501" y="3871764"/>
            <a:ext cx="91454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品質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609600" y="6028283"/>
            <a:ext cx="100012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いま開いているのは </a:t>
            </a:r>
            <a:pPr algn="l" indent="0" marL="0">
              <a:buNone/>
            </a:pPr>
            <a:r>
              <a:rPr lang="en-US" sz="13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Q（品質）</a:t>
            </a:r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の例。C・D・S・E にも同じだけ管理項目がある。次は同じことを料理で。</a:t>
            </a:r>
            <a:endParaRPr lang="en-US" sz="1350" dirty="0"/>
          </a:p>
        </p:txBody>
      </p:sp>
      <p:sp>
        <p:nvSpPr>
          <p:cNvPr id="55" name="Text 52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 / 11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75358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2261146"/>
            <a:ext cx="876300" cy="495300"/>
          </a:xfrm>
          <a:prstGeom prst="roundRect">
            <a:avLst>
              <a:gd name="adj" fmla="val 50000"/>
            </a:avLst>
          </a:prstGeom>
          <a:solidFill>
            <a:srgbClr val="232321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809750" y="2261146"/>
            <a:ext cx="1619250" cy="495300"/>
          </a:xfrm>
          <a:prstGeom prst="roundRect">
            <a:avLst>
              <a:gd name="adj" fmla="val 11538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695950" y="2261146"/>
            <a:ext cx="1619250" cy="495300"/>
          </a:xfrm>
          <a:prstGeom prst="roundRect">
            <a:avLst>
              <a:gd name="adj" fmla="val 11538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639050" y="2261146"/>
            <a:ext cx="1619250" cy="495300"/>
          </a:xfrm>
          <a:prstGeom prst="roundRect">
            <a:avLst>
              <a:gd name="adj" fmla="val 11538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582150" y="2261146"/>
            <a:ext cx="1009650" cy="495300"/>
          </a:xfrm>
          <a:prstGeom prst="roundRect">
            <a:avLst>
              <a:gd name="adj" fmla="val 50000"/>
            </a:avLst>
          </a:prstGeom>
          <a:solidFill>
            <a:srgbClr val="3D2A22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752850" y="3061246"/>
            <a:ext cx="1619250" cy="495300"/>
          </a:xfrm>
          <a:prstGeom prst="roundRect">
            <a:avLst>
              <a:gd name="adj" fmla="val 11538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00100" y="3818483"/>
            <a:ext cx="2667000" cy="552450"/>
          </a:xfrm>
          <a:prstGeom prst="roundRect">
            <a:avLst>
              <a:gd name="adj" fmla="val 20690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657600" y="3818483"/>
            <a:ext cx="2667000" cy="552450"/>
          </a:xfrm>
          <a:prstGeom prst="roundRect">
            <a:avLst>
              <a:gd name="adj" fmla="val 20690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515100" y="3818483"/>
            <a:ext cx="2667000" cy="552450"/>
          </a:xfrm>
          <a:prstGeom prst="roundRect">
            <a:avLst>
              <a:gd name="adj" fmla="val 20690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133600" y="4370933"/>
            <a:ext cx="19050" cy="2286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991100" y="4370933"/>
            <a:ext cx="19050" cy="2286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848600" y="4370933"/>
            <a:ext cx="19050" cy="2286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133600" y="4599533"/>
            <a:ext cx="19050" cy="2667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991100" y="4599533"/>
            <a:ext cx="19050" cy="2667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848600" y="4599533"/>
            <a:ext cx="19050" cy="2667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0100" y="4866233"/>
            <a:ext cx="2667000" cy="552450"/>
          </a:xfrm>
          <a:prstGeom prst="roundRect">
            <a:avLst>
              <a:gd name="adj" fmla="val 20690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657600" y="4866233"/>
            <a:ext cx="2667000" cy="552450"/>
          </a:xfrm>
          <a:prstGeom prst="roundRect">
            <a:avLst>
              <a:gd name="adj" fmla="val 20690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515100" y="4866233"/>
            <a:ext cx="2667000" cy="552450"/>
          </a:xfrm>
          <a:prstGeom prst="roundRect">
            <a:avLst>
              <a:gd name="adj" fmla="val 20690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772650" y="4237583"/>
            <a:ext cx="1676400" cy="666750"/>
          </a:xfrm>
          <a:prstGeom prst="roundRect">
            <a:avLst>
              <a:gd name="adj" fmla="val 17143"/>
            </a:avLst>
          </a:prstGeom>
          <a:solidFill>
            <a:srgbClr val="3D2A22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9600" y="5475833"/>
            <a:ext cx="10972800" cy="704850"/>
          </a:xfrm>
          <a:prstGeom prst="roundRect">
            <a:avLst>
              <a:gd name="adj" fmla="val 16216"/>
            </a:avLst>
          </a:prstGeom>
          <a:solidFill>
            <a:srgbClr val="232321"/>
          </a:solidFill>
          <a:ln w="28575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52850" y="2261146"/>
            <a:ext cx="1619250" cy="495300"/>
          </a:xfrm>
          <a:prstGeom prst="rect">
            <a:avLst/>
          </a:prstGeom>
        </p:spPr>
      </p:pic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4485233"/>
            <a:ext cx="8915400" cy="22860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グループワーク①（20分）</a:t>
            </a:r>
            <a:endParaRPr lang="en-US" sz="3600" dirty="0"/>
          </a:p>
        </p:txBody>
      </p:sp>
      <p:sp>
        <p:nvSpPr>
          <p:cNvPr id="26" name="Text 22"/>
          <p:cNvSpPr txBox="1"/>
          <p:nvPr/>
        </p:nvSpPr>
        <p:spPr>
          <a:xfrm>
            <a:off x="609600" y="1123950"/>
            <a:ext cx="9715500" cy="437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味噌汁の味を毎回同じように出すにはどうすればいいか考えよう</a:t>
            </a:r>
            <a:endParaRPr lang="en-US" sz="2550" dirty="0"/>
          </a:p>
        </p:txBody>
      </p:sp>
      <p:sp>
        <p:nvSpPr>
          <p:cNvPr id="27" name="Text 23"/>
          <p:cNvSpPr txBox="1"/>
          <p:nvPr/>
        </p:nvSpPr>
        <p:spPr>
          <a:xfrm>
            <a:off x="609600" y="1989683"/>
            <a:ext cx="109728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作る工程を描く</a:t>
            </a:r>
            <a:pPr algn="l" indent="0" marL="0">
              <a:buNone/>
            </a:pPr>
            <a:r>
              <a:rPr lang="en-US" sz="1350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開始から完成まで。判断が入るところは ◇ で</a:t>
            </a:r>
            <a:endParaRPr lang="en-US" sz="1350" dirty="0"/>
          </a:p>
        </p:txBody>
      </p:sp>
      <p:sp>
        <p:nvSpPr>
          <p:cNvPr id="28" name="Text 24"/>
          <p:cNvSpPr txBox="1"/>
          <p:nvPr/>
        </p:nvSpPr>
        <p:spPr>
          <a:xfrm>
            <a:off x="876300" y="2388840"/>
            <a:ext cx="342900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開始</a:t>
            </a:r>
            <a:endParaRPr lang="en-US" sz="1350" dirty="0"/>
          </a:p>
        </p:txBody>
      </p:sp>
      <p:sp>
        <p:nvSpPr>
          <p:cNvPr id="29" name="Text 25"/>
          <p:cNvSpPr txBox="1"/>
          <p:nvPr/>
        </p:nvSpPr>
        <p:spPr>
          <a:xfrm>
            <a:off x="9915525" y="2388840"/>
            <a:ext cx="342900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完成</a:t>
            </a:r>
            <a:endParaRPr lang="en-US" sz="1350" dirty="0"/>
          </a:p>
        </p:txBody>
      </p:sp>
      <p:sp>
        <p:nvSpPr>
          <p:cNvPr id="30" name="Text 26"/>
          <p:cNvSpPr txBox="1"/>
          <p:nvPr/>
        </p:nvSpPr>
        <p:spPr>
          <a:xfrm>
            <a:off x="1543050" y="2423071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Text 27"/>
          <p:cNvSpPr txBox="1"/>
          <p:nvPr/>
        </p:nvSpPr>
        <p:spPr>
          <a:xfrm>
            <a:off x="3486150" y="2423071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5429250" y="2423071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7372350" y="2423071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Text 30"/>
          <p:cNvSpPr txBox="1"/>
          <p:nvPr/>
        </p:nvSpPr>
        <p:spPr>
          <a:xfrm>
            <a:off x="9315450" y="2423071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Text 31"/>
          <p:cNvSpPr txBox="1"/>
          <p:nvPr/>
        </p:nvSpPr>
        <p:spPr>
          <a:xfrm>
            <a:off x="5562600" y="2203996"/>
            <a:ext cx="2667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はい</a:t>
            </a:r>
            <a:endParaRPr lang="en-US" sz="1050" dirty="0"/>
          </a:p>
        </p:txBody>
      </p:sp>
      <p:sp>
        <p:nvSpPr>
          <p:cNvPr id="36" name="Text 32"/>
          <p:cNvSpPr txBox="1"/>
          <p:nvPr/>
        </p:nvSpPr>
        <p:spPr>
          <a:xfrm>
            <a:off x="3867150" y="2851696"/>
            <a:ext cx="40005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いいえ</a:t>
            </a:r>
            <a:endParaRPr lang="en-US" sz="1050" dirty="0"/>
          </a:p>
        </p:txBody>
      </p:sp>
      <p:sp>
        <p:nvSpPr>
          <p:cNvPr id="37" name="Text 33"/>
          <p:cNvSpPr txBox="1"/>
          <p:nvPr/>
        </p:nvSpPr>
        <p:spPr>
          <a:xfrm>
            <a:off x="4457700" y="2794546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↓</a:t>
            </a:r>
            <a:endParaRPr lang="en-US" sz="1800" dirty="0"/>
          </a:p>
        </p:txBody>
      </p:sp>
      <p:sp>
        <p:nvSpPr>
          <p:cNvPr id="38" name="Text 34"/>
          <p:cNvSpPr txBox="1"/>
          <p:nvPr/>
        </p:nvSpPr>
        <p:spPr>
          <a:xfrm>
            <a:off x="5429250" y="3223171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Text 35"/>
          <p:cNvSpPr txBox="1"/>
          <p:nvPr/>
        </p:nvSpPr>
        <p:spPr>
          <a:xfrm>
            <a:off x="5753100" y="3175546"/>
            <a:ext cx="4000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破線のところに、やることと判断を書き込む</a:t>
            </a:r>
            <a:endParaRPr lang="en-US" sz="1350" dirty="0"/>
          </a:p>
        </p:txBody>
      </p:sp>
      <p:sp>
        <p:nvSpPr>
          <p:cNvPr id="40" name="Text 36"/>
          <p:cNvSpPr txBox="1"/>
          <p:nvPr/>
        </p:nvSpPr>
        <p:spPr>
          <a:xfrm>
            <a:off x="609600" y="3556546"/>
            <a:ext cx="109728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味がばらつく原因を書き出す</a:t>
            </a:r>
            <a:pPr algn="l" indent="0" marL="0">
              <a:buNone/>
            </a:pPr>
            <a:r>
              <a:rPr lang="en-US" sz="1350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六つの分類ごとに、思いつくだけ</a:t>
            </a:r>
            <a:endParaRPr lang="en-US" sz="1350" dirty="0"/>
          </a:p>
        </p:txBody>
      </p:sp>
      <p:sp>
        <p:nvSpPr>
          <p:cNvPr id="41" name="Text 37"/>
          <p:cNvSpPr txBox="1"/>
          <p:nvPr/>
        </p:nvSpPr>
        <p:spPr>
          <a:xfrm>
            <a:off x="952500" y="393278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</a:t>
            </a:r>
            <a:endParaRPr lang="en-US" sz="1650" dirty="0"/>
          </a:p>
        </p:txBody>
      </p:sp>
      <p:sp>
        <p:nvSpPr>
          <p:cNvPr id="42" name="Text 38"/>
          <p:cNvSpPr txBox="1"/>
          <p:nvPr/>
        </p:nvSpPr>
        <p:spPr>
          <a:xfrm>
            <a:off x="3810000" y="393278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機械</a:t>
            </a:r>
            <a:endParaRPr lang="en-US" sz="1650" dirty="0"/>
          </a:p>
        </p:txBody>
      </p:sp>
      <p:sp>
        <p:nvSpPr>
          <p:cNvPr id="43" name="Text 39"/>
          <p:cNvSpPr txBox="1"/>
          <p:nvPr/>
        </p:nvSpPr>
        <p:spPr>
          <a:xfrm>
            <a:off x="6667500" y="393278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材料</a:t>
            </a:r>
            <a:endParaRPr lang="en-US" sz="1650" dirty="0"/>
          </a:p>
        </p:txBody>
      </p:sp>
      <p:sp>
        <p:nvSpPr>
          <p:cNvPr id="44" name="Text 40"/>
          <p:cNvSpPr txBox="1"/>
          <p:nvPr/>
        </p:nvSpPr>
        <p:spPr>
          <a:xfrm>
            <a:off x="952500" y="498053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9C7FB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方法</a:t>
            </a:r>
            <a:endParaRPr lang="en-US" sz="1650" dirty="0"/>
          </a:p>
        </p:txBody>
      </p:sp>
      <p:sp>
        <p:nvSpPr>
          <p:cNvPr id="45" name="Text 41"/>
          <p:cNvSpPr txBox="1"/>
          <p:nvPr/>
        </p:nvSpPr>
        <p:spPr>
          <a:xfrm>
            <a:off x="3810000" y="498053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58989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測定</a:t>
            </a:r>
            <a:endParaRPr lang="en-US" sz="1650" dirty="0"/>
          </a:p>
        </p:txBody>
      </p:sp>
      <p:sp>
        <p:nvSpPr>
          <p:cNvPr id="46" name="Text 42"/>
          <p:cNvSpPr txBox="1"/>
          <p:nvPr/>
        </p:nvSpPr>
        <p:spPr>
          <a:xfrm>
            <a:off x="6667500" y="498053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AC8A3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環境</a:t>
            </a:r>
            <a:endParaRPr lang="en-US" sz="1650" dirty="0"/>
          </a:p>
        </p:txBody>
      </p:sp>
      <p:sp>
        <p:nvSpPr>
          <p:cNvPr id="47" name="Text 43"/>
          <p:cNvSpPr txBox="1"/>
          <p:nvPr/>
        </p:nvSpPr>
        <p:spPr>
          <a:xfrm>
            <a:off x="10382101" y="4319439"/>
            <a:ext cx="45734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味</a:t>
            </a:r>
            <a:endParaRPr lang="en-US" sz="3600" dirty="0"/>
          </a:p>
        </p:txBody>
      </p:sp>
      <p:sp>
        <p:nvSpPr>
          <p:cNvPr id="48" name="Text 44"/>
          <p:cNvSpPr txBox="1"/>
          <p:nvPr/>
        </p:nvSpPr>
        <p:spPr>
          <a:xfrm>
            <a:off x="942975" y="5618708"/>
            <a:ext cx="103060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豆腐・味噌・水だけの味噌汁 ／ ホワイトボードと模造紙に ／ 20分</a:t>
            </a:r>
            <a:endParaRPr lang="en-US" sz="2250" dirty="0"/>
          </a:p>
        </p:txBody>
      </p:sp>
      <p:sp>
        <p:nvSpPr>
          <p:cNvPr id="49" name="Text 45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 / 11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123950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438275"/>
            <a:ext cx="10972800" cy="3238500"/>
          </a:xfrm>
          <a:prstGeom prst="roundRect">
            <a:avLst>
              <a:gd name="adj" fmla="val 3529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305050" y="4943475"/>
            <a:ext cx="3695700" cy="742950"/>
          </a:xfrm>
          <a:prstGeom prst="roundRect">
            <a:avLst>
              <a:gd name="adj" fmla="val 15385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296150" y="4914900"/>
            <a:ext cx="3657600" cy="704850"/>
          </a:xfrm>
          <a:prstGeom prst="roundRect">
            <a:avLst>
              <a:gd name="adj" fmla="val 16216"/>
            </a:avLst>
          </a:prstGeom>
          <a:solidFill>
            <a:srgbClr val="3D2A22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8250" y="4848225"/>
            <a:ext cx="838200" cy="838200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9350" y="4848225"/>
            <a:ext cx="838200" cy="838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解答例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819150" y="1590675"/>
            <a:ext cx="28397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解答例のフローチャート — 貼り付け領域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2495550" y="5057775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単純な料理なのに、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2495550" y="5314950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こんなにも管理する項目が多いんだ！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7467600" y="5010150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品質以外にも、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467600" y="5267325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コストや時間も管理せなあかんねん…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 / 11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75358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989683"/>
            <a:ext cx="3263801" cy="1489472"/>
          </a:xfrm>
          <a:prstGeom prst="roundRect">
            <a:avLst>
              <a:gd name="adj" fmla="val 7674"/>
            </a:avLst>
          </a:prstGeom>
          <a:solidFill>
            <a:srgbClr val="232321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463951" y="2109639"/>
            <a:ext cx="3263950" cy="1249561"/>
          </a:xfrm>
          <a:prstGeom prst="roundRect">
            <a:avLst>
              <a:gd name="adj" fmla="val 9147"/>
            </a:avLst>
          </a:prstGeom>
          <a:solidFill>
            <a:srgbClr val="232321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18450" y="2109639"/>
            <a:ext cx="3263950" cy="1249561"/>
          </a:xfrm>
          <a:prstGeom prst="roundRect">
            <a:avLst>
              <a:gd name="adj" fmla="val 9147"/>
            </a:avLst>
          </a:prstGeom>
          <a:solidFill>
            <a:srgbClr val="232321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3707755"/>
            <a:ext cx="5372100" cy="2162770"/>
          </a:xfrm>
          <a:prstGeom prst="roundRect">
            <a:avLst>
              <a:gd name="adj" fmla="val 5285"/>
            </a:avLst>
          </a:prstGeom>
          <a:solidFill>
            <a:srgbClr val="1D1D1B"/>
          </a:solidFill>
          <a:ln w="19050">
            <a:solidFill>
              <a:srgbClr val="1D1D1B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10300" y="3707755"/>
            <a:ext cx="5372100" cy="2162770"/>
          </a:xfrm>
          <a:prstGeom prst="roundRect">
            <a:avLst>
              <a:gd name="adj" fmla="val 5285"/>
            </a:avLst>
          </a:prstGeom>
          <a:solidFill>
            <a:srgbClr val="232321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製造におけるDX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609600" y="1123950"/>
            <a:ext cx="9715500" cy="437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データで、仕事のやり方そのものを変える</a:t>
            </a:r>
            <a:endParaRPr lang="en-US" sz="2550" dirty="0"/>
          </a:p>
        </p:txBody>
      </p:sp>
      <p:sp>
        <p:nvSpPr>
          <p:cNvPr id="10" name="Text 8"/>
          <p:cNvSpPr txBox="1"/>
          <p:nvPr/>
        </p:nvSpPr>
        <p:spPr>
          <a:xfrm>
            <a:off x="781050" y="2142083"/>
            <a:ext cx="2920901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集める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81050" y="2465933"/>
            <a:ext cx="2920901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記録に残す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781050" y="2846933"/>
            <a:ext cx="2920901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温度・時間・分量・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81050" y="3086963"/>
            <a:ext cx="2920901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作り手を数字にする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025801" y="2524869"/>
            <a:ext cx="2857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4635401" y="2262039"/>
            <a:ext cx="29210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つなぐ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635401" y="2585889"/>
            <a:ext cx="29210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味と結びつける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4635401" y="2966889"/>
            <a:ext cx="2921050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どの条件のとき美味しかったか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880300" y="2524869"/>
            <a:ext cx="2857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2250" dirty="0"/>
          </a:p>
        </p:txBody>
      </p:sp>
      <p:sp>
        <p:nvSpPr>
          <p:cNvPr id="19" name="Text 17"/>
          <p:cNvSpPr txBox="1"/>
          <p:nvPr/>
        </p:nvSpPr>
        <p:spPr>
          <a:xfrm>
            <a:off x="8489900" y="2262039"/>
            <a:ext cx="29210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変える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489900" y="2585889"/>
            <a:ext cx="29210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決め方が変わる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489900" y="2966889"/>
            <a:ext cx="2921050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勘から数字へ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57250" y="3879205"/>
            <a:ext cx="4876800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人駆動型の仕事</a:t>
            </a:r>
            <a:endParaRPr lang="en-US" sz="2250" dirty="0"/>
          </a:p>
        </p:txBody>
      </p:sp>
      <p:sp>
        <p:nvSpPr>
          <p:cNvPr id="23" name="Text 21"/>
          <p:cNvSpPr txBox="1"/>
          <p:nvPr/>
        </p:nvSpPr>
        <p:spPr>
          <a:xfrm>
            <a:off x="1123950" y="4464993"/>
            <a:ext cx="46101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味見して、人が気づく</a:t>
            </a:r>
            <a:endParaRPr lang="en-US" sz="1650" dirty="0"/>
          </a:p>
        </p:txBody>
      </p:sp>
      <p:sp>
        <p:nvSpPr>
          <p:cNvPr id="24" name="Text 22"/>
          <p:cNvSpPr txBox="1"/>
          <p:nvPr/>
        </p:nvSpPr>
        <p:spPr>
          <a:xfrm>
            <a:off x="1123950" y="4876354"/>
            <a:ext cx="46101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「もう少し煮よう」と、人が決めて動かす</a:t>
            </a:r>
            <a:endParaRPr lang="en-US" sz="1650" dirty="0"/>
          </a:p>
        </p:txBody>
      </p:sp>
      <p:sp>
        <p:nvSpPr>
          <p:cNvPr id="25" name="Text 23"/>
          <p:cNvSpPr txBox="1"/>
          <p:nvPr/>
        </p:nvSpPr>
        <p:spPr>
          <a:xfrm>
            <a:off x="1123950" y="5287714"/>
            <a:ext cx="46101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うまくいった理由は、その人の中に残る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6457950" y="3879205"/>
            <a:ext cx="4876800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データ駆動型の仕事</a:t>
            </a:r>
            <a:endParaRPr lang="en-US" sz="2250" dirty="0"/>
          </a:p>
        </p:txBody>
      </p:sp>
      <p:sp>
        <p:nvSpPr>
          <p:cNvPr id="27" name="Text 25"/>
          <p:cNvSpPr txBox="1"/>
          <p:nvPr/>
        </p:nvSpPr>
        <p:spPr>
          <a:xfrm>
            <a:off x="6724650" y="4464993"/>
            <a:ext cx="46101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温度がずれたと、センサーが気づく</a:t>
            </a:r>
            <a:endParaRPr lang="en-US" sz="1650" dirty="0"/>
          </a:p>
        </p:txBody>
      </p:sp>
      <p:sp>
        <p:nvSpPr>
          <p:cNvPr id="28" name="Text 26"/>
          <p:cNvSpPr txBox="1"/>
          <p:nvPr/>
        </p:nvSpPr>
        <p:spPr>
          <a:xfrm>
            <a:off x="6724650" y="4876354"/>
            <a:ext cx="46101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決めておいた通りに、火加減が自動で変わる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6724650" y="5287714"/>
            <a:ext cx="46101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人は結果を確かめ、基準がずれていたら直す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609600" y="6099125"/>
            <a:ext cx="100012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記録を取っただけでは、まだDXではない。決め方が変わって初めて、仕事のやり方が変わったと言える。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06 / 11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75358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989683"/>
            <a:ext cx="10972800" cy="3238500"/>
          </a:xfrm>
          <a:prstGeom prst="roundRect">
            <a:avLst>
              <a:gd name="adj" fmla="val 3529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305050" y="5494883"/>
            <a:ext cx="3695700" cy="742950"/>
          </a:xfrm>
          <a:prstGeom prst="roundRect">
            <a:avLst>
              <a:gd name="adj" fmla="val 15385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296150" y="5466308"/>
            <a:ext cx="3657600" cy="704850"/>
          </a:xfrm>
          <a:prstGeom prst="roundRect">
            <a:avLst>
              <a:gd name="adj" fmla="val 16216"/>
            </a:avLst>
          </a:prstGeom>
          <a:solidFill>
            <a:srgbClr val="3D2A22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8250" y="5399633"/>
            <a:ext cx="838200" cy="838200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9350" y="5399633"/>
            <a:ext cx="838200" cy="838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グループワーク②（10分）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609600" y="1123950"/>
            <a:ext cx="9715500" cy="437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勘で決めている判断を見つけ、データで決める形に変えよう</a:t>
            </a:r>
            <a:endParaRPr lang="en-US" sz="2550" dirty="0"/>
          </a:p>
        </p:txBody>
      </p:sp>
      <p:sp>
        <p:nvSpPr>
          <p:cNvPr id="10" name="Text 6"/>
          <p:cNvSpPr txBox="1"/>
          <p:nvPr/>
        </p:nvSpPr>
        <p:spPr>
          <a:xfrm>
            <a:off x="819150" y="2142083"/>
            <a:ext cx="340176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さきほど描いた工程図（解答例）— 貼り付け領域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2495550" y="5609183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フローチャートの「判断」のところ、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2495550" y="5866358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何を見て決めてる？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467600" y="5561558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その判断、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7467600" y="5818733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勘やなくて数字で決められへん？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07 / 11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123950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438275"/>
            <a:ext cx="10972800" cy="3476625"/>
          </a:xfrm>
          <a:prstGeom prst="roundRect">
            <a:avLst>
              <a:gd name="adj" fmla="val 3288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解答例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19150" y="1590675"/>
            <a:ext cx="52781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改善後のフローチャート（データで決めるように変えた版） — 貼り付け領域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5143500"/>
            <a:ext cx="100012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増えた線は、出てきた結果をもう一度作り方に戻している。測って、ずれたら戻す。エアコンが設定温度を保つのと同じ形。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09600" y="5400675"/>
            <a:ext cx="100012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ただし、何を測るか・狙いをどこに置くかを決めるのは人。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08 / 11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75358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989683"/>
            <a:ext cx="3505200" cy="2429470"/>
          </a:xfrm>
          <a:prstGeom prst="roundRect">
            <a:avLst>
              <a:gd name="adj" fmla="val 4705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43400" y="1989683"/>
            <a:ext cx="3505200" cy="2429470"/>
          </a:xfrm>
          <a:prstGeom prst="roundRect">
            <a:avLst>
              <a:gd name="adj" fmla="val 4705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077200" y="1989683"/>
            <a:ext cx="3505200" cy="2429470"/>
          </a:xfrm>
          <a:prstGeom prst="roundRect">
            <a:avLst>
              <a:gd name="adj" fmla="val 4705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4647754"/>
            <a:ext cx="10972800" cy="933450"/>
          </a:xfrm>
          <a:prstGeom prst="roundRect">
            <a:avLst>
              <a:gd name="adj" fmla="val 12245"/>
            </a:avLst>
          </a:prstGeom>
          <a:solidFill>
            <a:srgbClr val="232321"/>
          </a:solidFill>
          <a:ln w="28575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日本の製造業がいま抱えている問題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1123950"/>
            <a:ext cx="9715500" cy="437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人手は減るのに、管理は増えていく</a:t>
            </a:r>
            <a:endParaRPr lang="en-US" sz="2550" dirty="0"/>
          </a:p>
        </p:txBody>
      </p:sp>
      <p:sp>
        <p:nvSpPr>
          <p:cNvPr id="9" name="Text 7"/>
          <p:cNvSpPr txBox="1"/>
          <p:nvPr/>
        </p:nvSpPr>
        <p:spPr>
          <a:xfrm>
            <a:off x="933450" y="2313533"/>
            <a:ext cx="2857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問題 1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33450" y="2604046"/>
            <a:ext cx="28575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人が足りない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933450" y="3089821"/>
            <a:ext cx="28575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働き手が減り、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933450" y="3425101"/>
            <a:ext cx="28575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若い人が現場を選びにくい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4667250" y="2313533"/>
            <a:ext cx="2857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問題 2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667250" y="2604046"/>
            <a:ext cx="28575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管理のレベルが上がる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667250" y="3089821"/>
            <a:ext cx="28575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見る項目が増え、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4667250" y="3425101"/>
            <a:ext cx="28575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やり方も高度になる。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4667250" y="3760381"/>
            <a:ext cx="28575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多品種少量も効く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8401050" y="2313533"/>
            <a:ext cx="2857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問題 3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401050" y="2604046"/>
            <a:ext cx="28575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デジタル化が追いつかない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401050" y="3089821"/>
            <a:ext cx="28575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担う人がまた足りず、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401050" y="3425101"/>
            <a:ext cx="28575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現場のやり方も揃っていない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942975" y="4904929"/>
            <a:ext cx="103060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三つは絡んでいる ／ 人手は減るのに、管理は増えていく</a:t>
            </a:r>
            <a:endParaRPr lang="en-US" sz="2250" dirty="0"/>
          </a:p>
        </p:txBody>
      </p:sp>
      <p:sp>
        <p:nvSpPr>
          <p:cNvPr id="23" name="Text 21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09 / 11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75358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00100" y="2218283"/>
            <a:ext cx="6286500" cy="2686050"/>
          </a:xfrm>
          <a:prstGeom prst="roundRect">
            <a:avLst>
              <a:gd name="adj" fmla="val 4255"/>
            </a:avLst>
          </a:prstGeom>
          <a:solidFill>
            <a:srgbClr val="6A9BCC">
              <a:alpha val="55000"/>
            </a:srgbClr>
          </a:solidFill>
          <a:ln w="19050">
            <a:solidFill>
              <a:srgbClr val="6A9BCC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105400" y="2218283"/>
            <a:ext cx="6286500" cy="2686050"/>
          </a:xfrm>
          <a:prstGeom prst="roundRect">
            <a:avLst>
              <a:gd name="adj" fmla="val 4255"/>
            </a:avLst>
          </a:prstGeom>
          <a:solidFill>
            <a:srgbClr val="788C5D">
              <a:alpha val="55000"/>
            </a:srgbClr>
          </a:solidFill>
          <a:ln w="19050">
            <a:solidFill>
              <a:srgbClr val="788C5D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人がする仕事と、デジタルがする仕事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1123950"/>
            <a:ext cx="9715500" cy="437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創るのは人、こなすのはデジタル</a:t>
            </a:r>
            <a:endParaRPr lang="en-US" sz="2550" dirty="0"/>
          </a:p>
        </p:txBody>
      </p:sp>
      <p:sp>
        <p:nvSpPr>
          <p:cNvPr id="7" name="Text 5"/>
          <p:cNvSpPr txBox="1"/>
          <p:nvPr/>
        </p:nvSpPr>
        <p:spPr>
          <a:xfrm>
            <a:off x="2809875" y="2664768"/>
            <a:ext cx="285750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</a:t>
            </a:r>
            <a:endParaRPr lang="en-US" sz="2250" dirty="0"/>
          </a:p>
        </p:txBody>
      </p:sp>
      <p:sp>
        <p:nvSpPr>
          <p:cNvPr id="8" name="Text 6"/>
          <p:cNvSpPr txBox="1"/>
          <p:nvPr/>
        </p:nvSpPr>
        <p:spPr>
          <a:xfrm>
            <a:off x="2009775" y="3155305"/>
            <a:ext cx="1885950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目的と要件を決める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009775" y="3481060"/>
            <a:ext cx="1885950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設備や製品を設計する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009775" y="3806815"/>
            <a:ext cx="1885950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合意をつくる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009775" y="4132570"/>
            <a:ext cx="1885950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安全かどうかを判断する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70578" y="2827586"/>
            <a:ext cx="1137345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デジタル</a:t>
            </a:r>
            <a:endParaRPr lang="en-US" sz="2250" dirty="0"/>
          </a:p>
        </p:txBody>
      </p:sp>
      <p:sp>
        <p:nvSpPr>
          <p:cNvPr id="13" name="Text 11"/>
          <p:cNvSpPr txBox="1"/>
          <p:nvPr/>
        </p:nvSpPr>
        <p:spPr>
          <a:xfrm>
            <a:off x="8210550" y="3318123"/>
            <a:ext cx="2057400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大量に速く正確に処理する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210550" y="3643878"/>
            <a:ext cx="2057400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繰り返す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210550" y="3969633"/>
            <a:ext cx="2057400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予測する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753100" y="3172718"/>
            <a:ext cx="685800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標準化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753100" y="3561338"/>
            <a:ext cx="685800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管理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09600" y="5361533"/>
            <a:ext cx="100012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役割を分けると、楽に・速く・正確になる。人が減った分を機械で埋める話ではなく、人が人にしかできない仕事へ動ける話。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 / 11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123950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2390775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1666875"/>
            <a:ext cx="642045" cy="4953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3352800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2628900"/>
            <a:ext cx="642045" cy="495300"/>
          </a:xfrm>
          <a:prstGeom prst="roundRect">
            <a:avLst>
              <a:gd name="adj" fmla="val 50000"/>
            </a:avLst>
          </a:prstGeom>
          <a:solidFill>
            <a:srgbClr val="6A9BCC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4314825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3590925"/>
            <a:ext cx="642045" cy="495300"/>
          </a:xfrm>
          <a:prstGeom prst="roundRect">
            <a:avLst>
              <a:gd name="adj" fmla="val 50000"/>
            </a:avLst>
          </a:prstGeom>
          <a:solidFill>
            <a:srgbClr val="788C5D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9600" y="5276850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09600" y="4552950"/>
            <a:ext cx="642045" cy="4953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09600" y="5438775"/>
            <a:ext cx="10972800" cy="933450"/>
          </a:xfrm>
          <a:prstGeom prst="roundRect">
            <a:avLst>
              <a:gd name="adj" fmla="val 12245"/>
            </a:avLst>
          </a:prstGeom>
          <a:solidFill>
            <a:srgbClr val="232321"/>
          </a:solidFill>
          <a:ln w="28575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まとめ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762000" y="1666875"/>
            <a:ext cx="33724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2250" dirty="0"/>
          </a:p>
        </p:txBody>
      </p:sp>
      <p:sp>
        <p:nvSpPr>
          <p:cNvPr id="14" name="Text 12"/>
          <p:cNvSpPr txBox="1"/>
          <p:nvPr/>
        </p:nvSpPr>
        <p:spPr>
          <a:xfrm>
            <a:off x="1480245" y="1666875"/>
            <a:ext cx="662940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製造の仕事は、良いモノを安全・安定・ムダなく作り続けること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2628900"/>
            <a:ext cx="33724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2250" dirty="0"/>
          </a:p>
        </p:txBody>
      </p:sp>
      <p:sp>
        <p:nvSpPr>
          <p:cNvPr id="16" name="Text 14"/>
          <p:cNvSpPr txBox="1"/>
          <p:nvPr/>
        </p:nvSpPr>
        <p:spPr>
          <a:xfrm>
            <a:off x="1480245" y="2628900"/>
            <a:ext cx="5925294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難しさは、ブレなく作るための管理項目がとても多いこと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62000" y="3590925"/>
            <a:ext cx="33724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2250" dirty="0"/>
          </a:p>
        </p:txBody>
      </p:sp>
      <p:sp>
        <p:nvSpPr>
          <p:cNvPr id="18" name="Text 16"/>
          <p:cNvSpPr txBox="1"/>
          <p:nvPr/>
        </p:nvSpPr>
        <p:spPr>
          <a:xfrm>
            <a:off x="1480245" y="3590925"/>
            <a:ext cx="5067895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データで、仕事のやり方そのものを変えるのがDX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2000" y="4552950"/>
            <a:ext cx="33724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2250" dirty="0"/>
          </a:p>
        </p:txBody>
      </p:sp>
      <p:sp>
        <p:nvSpPr>
          <p:cNvPr id="20" name="Text 18"/>
          <p:cNvSpPr txBox="1"/>
          <p:nvPr/>
        </p:nvSpPr>
        <p:spPr>
          <a:xfrm>
            <a:off x="1480245" y="4552950"/>
            <a:ext cx="6396335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創るのは人、こなすのはデジタル。標準化と管理は両方でやる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42975" y="5695950"/>
            <a:ext cx="103060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製造の仕事は作り方を作り、決めた通りに作って管理する</a:t>
            </a:r>
            <a:endParaRPr lang="en-US" sz="2250" dirty="0"/>
          </a:p>
        </p:txBody>
      </p:sp>
      <p:sp>
        <p:nvSpPr>
          <p:cNvPr id="22" name="Text 20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11 / 11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人×デジタルで作る製造工程</dc:title>
  <dc:subject>高専生向けセミナー 55分</dc:subject>
  <dc:creator/>
  <cp:lastModifiedBy/>
  <cp:revision>1</cp:revision>
  <dcterms:created xsi:type="dcterms:W3CDTF">2026-08-24T15:07:35Z</dcterms:created>
  <dcterms:modified xsi:type="dcterms:W3CDTF">2026-08-24T15:07:35Z</dcterms:modified>
</cp:coreProperties>
</file>