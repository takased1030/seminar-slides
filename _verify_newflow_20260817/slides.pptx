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762625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0" y="2362200"/>
            <a:ext cx="12192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B2B2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533400"/>
            <a:ext cx="281508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技術入門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989189"/>
            <a:ext cx="8504039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どこに何があるか、から始める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979789"/>
            <a:ext cx="549190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の技術キーワードと仕組みを知って、自分の環境を仕込む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6000750"/>
            <a:ext cx="10972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発表者: 高瀬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2026.08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 / 32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528691"/>
            <a:ext cx="10972800" cy="1803797"/>
          </a:xfrm>
          <a:prstGeom prst="roundRect">
            <a:avLst>
              <a:gd name="adj" fmla="val 6337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コードを書かずに作った、二つの実物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一行も書かず、日本語で頼んだだけ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2237333"/>
            <a:ext cx="4876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実物 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2561183"/>
            <a:ext cx="4876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音声入力ツール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046958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しゃべった言葉を文字にする。音声は外に出さず、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3382238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手元のパソコンの中だけで処理が終わる。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457950" y="2237333"/>
            <a:ext cx="4876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実物 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57950" y="2561183"/>
            <a:ext cx="4876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イベントログ＋タスク管理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57950" y="3046958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現場の出来事を記録し、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57950" y="3382238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いま抱えている問題と着手順を出す。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457950" y="3717518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実務で試している最中。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933450" y="4852541"/>
            <a:ext cx="103251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けれど、作る間ずっと同じことを打ち込んでいた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3450" y="5338316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回答は日本語で。表はこの形式で。作業用のフォルダは触らないで。一日に何度もだった。今日は、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33450" y="5673596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繰り返しをやめる方法を扱う。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/ 32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263801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63951" y="1989683"/>
            <a:ext cx="3263950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18450" y="1989683"/>
            <a:ext cx="3263950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今日の到達点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今日の到達点は、どこに何があるか分かること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781050" y="2237333"/>
            <a:ext cx="292090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81050" y="2561183"/>
            <a:ext cx="2920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81050" y="2942183"/>
            <a:ext cx="29209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が何をしているか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025801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4635401" y="2237333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35401" y="2561183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四つの技術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35401" y="2942183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動作のどこを人が設計するか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880300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Text 14"/>
          <p:cNvSpPr txBox="1"/>
          <p:nvPr/>
        </p:nvSpPr>
        <p:spPr>
          <a:xfrm>
            <a:off x="8489900" y="2237333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489900" y="2561183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仕込み先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89900" y="2942183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設計をどこに置くか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3658344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用語は平易な言い換えとセットで、初めて出るときに一度だけ説明する。用語だけだと現場で説明できず、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3915519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日本語だけだと後で調べられないため。最後の24分は手を動かし、自分の環境に最初の一行を仕込む。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/ 32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2300288" cy="1123950"/>
          </a:xfrm>
          <a:prstGeom prst="roundRect">
            <a:avLst>
              <a:gd name="adj" fmla="val 1016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0438" y="1989683"/>
            <a:ext cx="2300288" cy="1123950"/>
          </a:xfrm>
          <a:prstGeom prst="roundRect">
            <a:avLst>
              <a:gd name="adj" fmla="val 1016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1275" y="1989683"/>
            <a:ext cx="2300288" cy="1123950"/>
          </a:xfrm>
          <a:prstGeom prst="roundRect">
            <a:avLst>
              <a:gd name="adj" fmla="val 1016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82113" y="1989683"/>
            <a:ext cx="2300288" cy="1123950"/>
          </a:xfrm>
          <a:prstGeom prst="roundRect">
            <a:avLst>
              <a:gd name="adj" fmla="val 1016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266033"/>
            <a:ext cx="35052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43400" y="3266033"/>
            <a:ext cx="35052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7200" y="3266033"/>
            <a:ext cx="35052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基本動作と、止まる場所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頼む→計画→実行→差分を見て承認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81050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81050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062287" y="2342108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 txBox="1"/>
          <p:nvPr/>
        </p:nvSpPr>
        <p:spPr>
          <a:xfrm>
            <a:off x="3671888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71888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5953125" y="2342108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6562725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62725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843963" y="2342108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Text 19"/>
          <p:cNvSpPr txBox="1"/>
          <p:nvPr/>
        </p:nvSpPr>
        <p:spPr>
          <a:xfrm>
            <a:off x="9453563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53563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差分を見て承認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857250" y="351368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権限モード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57250" y="3837533"/>
            <a:ext cx="3009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Manual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57250" y="432330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編集や実行の前に止まり、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857250" y="465858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確認を求める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4591050" y="351368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権限モード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91050" y="3837533"/>
            <a:ext cx="3009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acceptEdits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91050" y="432330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作業フォルダ内なら、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4591050" y="465858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編集を止めずに進む。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4591050" y="499386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差分は後でまとめて見る</a:t>
            </a:r>
            <a:endParaRPr lang="en-US" sz="1650" dirty="0"/>
          </a:p>
        </p:txBody>
      </p:sp>
      <p:sp>
        <p:nvSpPr>
          <p:cNvPr id="32" name="Text 30"/>
          <p:cNvSpPr txBox="1"/>
          <p:nvPr/>
        </p:nvSpPr>
        <p:spPr>
          <a:xfrm>
            <a:off x="8324850" y="351368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権限モード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24850" y="3837533"/>
            <a:ext cx="3009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324850" y="432330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変更を一切せず、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8324850" y="4658588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調べて計画を書いて止まる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609600" y="5805041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つまり、止まる場所は設定で選べる。最初は Manual を勧める。聞かれる面倒が、何が起きているかを知る勉強になるため。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09600" y="606221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自社の既定モードは登壇者が確認して伝える。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/ 32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453283"/>
          </a:xfrm>
          <a:prstGeom prst="roundRect">
            <a:avLst>
              <a:gd name="adj" fmla="val 4659"/>
            </a:avLst>
          </a:prstGeom>
          <a:solidFill>
            <a:srgbClr val="DEDBD0"/>
          </a:solidFill>
          <a:ln w="19050">
            <a:solidFill>
              <a:srgbClr val="DEDBD0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453283"/>
          </a:xfrm>
          <a:prstGeom prst="roundRect">
            <a:avLst>
              <a:gd name="adj" fmla="val 465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差分を見る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差分は、新旧と狙いの二つの見比べ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機械が出せる差分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12001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</a:t>
            </a:r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前後</a:t>
            </a:r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の見比べ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消えた行と増えた行が赤と緑で出る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5341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機械が出せない差分</a:t>
            </a:r>
            <a:endParaRPr lang="en-US" sz="2250" dirty="0"/>
          </a:p>
        </p:txBody>
      </p:sp>
      <p:sp>
        <p:nvSpPr>
          <p:cNvPr id="11" name="Text 9"/>
          <p:cNvSpPr txBox="1"/>
          <p:nvPr/>
        </p:nvSpPr>
        <p:spPr>
          <a:xfrm>
            <a:off x="68008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やってほしかったことと、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00850" y="329651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出てきたもののギャップ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00850" y="37077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人が見るしかない部分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467156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つまり、見る場所を先に二つだけ決めておく。① 触ってほしくないものに触っていないか ② 頼んだとおりの形になっているか。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928741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決めていないと毎回全部を読むことになり、そのうち読まなくなる。違っていたら承認せず、違う一か所だけを言い直す。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/ 32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263801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63951" y="1989683"/>
            <a:ext cx="3263950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18450" y="1989683"/>
            <a:ext cx="3263950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658344"/>
            <a:ext cx="10972800" cy="1803797"/>
          </a:xfrm>
          <a:prstGeom prst="roundRect">
            <a:avLst>
              <a:gd name="adj" fmla="val 6337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エージェントループ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集める→動く→確かめるを繰り返す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781050" y="2237333"/>
            <a:ext cx="292090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GATHER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81050" y="2561183"/>
            <a:ext cx="2920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集める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781050" y="2942183"/>
            <a:ext cx="29209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ファイルを探して読む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025801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3" name="Text 11"/>
          <p:cNvSpPr txBox="1"/>
          <p:nvPr/>
        </p:nvSpPr>
        <p:spPr>
          <a:xfrm>
            <a:off x="4635401" y="2237333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35401" y="2561183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動く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635401" y="2942183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書き換える・テストを走らせる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80300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Text 15"/>
          <p:cNvSpPr txBox="1"/>
          <p:nvPr/>
        </p:nvSpPr>
        <p:spPr>
          <a:xfrm>
            <a:off x="8489900" y="2237333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VERIFY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89900" y="2561183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確かめる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489900" y="2942183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結果を検証して次を決める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33450" y="3982194"/>
            <a:ext cx="103251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↺ 一周ごとに、前の結果を見て次を決める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3450" y="4467969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頼んでから結果が出るまでにツールを何十回も呼ぶ。だから途中でずれると、ずれたまま進む。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933450" y="4803249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確かめるところまで含めて一周になる。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09600" y="5690741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つまり、人が入る理由は基準にある。AI は自分の出力を確認できるが、確認の基準は渡されたものの中にしかない。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09600" y="594791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自社でやってはいけないこと、という基準は、渡さない限り存在しない。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 / 32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43400" y="1989683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7200" y="1989683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 — 人が見る場所を決める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人が見る場所は、自分で決められる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229448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957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320888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その場で切り替える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57083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権限モードを切り替える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91050" y="229448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91050" y="320888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設定に常設する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91050" y="357083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settings.json の権限で宣言する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324850" y="229448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324850" y="320888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機械的に止める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324850" y="357083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hooks で例外なく止める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4351883"/>
            <a:ext cx="10972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手軽なものほどその場限り、強いものほど常設。今日は手軽なほうから順に見ていく。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/ 32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94483"/>
            <a:ext cx="5334000" cy="2209800"/>
          </a:xfrm>
          <a:prstGeom prst="roundRect">
            <a:avLst>
              <a:gd name="adj" fmla="val 5172"/>
            </a:avLst>
          </a:prstGeom>
          <a:solidFill>
            <a:srgbClr val="DEDBD0"/>
          </a:solidFill>
          <a:ln w="28575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76350" y="2827883"/>
            <a:ext cx="4000500" cy="142875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28575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38350" y="3342233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DEDBD0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96100" y="2294483"/>
            <a:ext cx="4476750" cy="2842022"/>
          </a:xfrm>
          <a:prstGeom prst="roundRect">
            <a:avLst>
              <a:gd name="adj" fmla="val 4022"/>
            </a:avLst>
          </a:prstGeom>
          <a:solidFill>
            <a:srgbClr val="DEDBD0"/>
          </a:solidFill>
          <a:ln w="28575">
            <a:solidFill>
              <a:srgbClr val="9C7FB5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53275" y="2913608"/>
            <a:ext cx="3962400" cy="339030"/>
          </a:xfrm>
          <a:prstGeom prst="roundRect">
            <a:avLst>
              <a:gd name="adj" fmla="val 22476"/>
            </a:avLst>
          </a:prstGeom>
          <a:solidFill>
            <a:srgbClr val="FAF9F5"/>
          </a:solidFill>
          <a:ln w="19050">
            <a:solidFill>
              <a:srgbClr val="9C7FB5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53275" y="3405039"/>
            <a:ext cx="3962400" cy="339030"/>
          </a:xfrm>
          <a:prstGeom prst="roundRect">
            <a:avLst>
              <a:gd name="adj" fmla="val 22476"/>
            </a:avLst>
          </a:prstGeom>
          <a:solidFill>
            <a:srgbClr val="FAF9F5"/>
          </a:solidFill>
          <a:ln w="19050">
            <a:solidFill>
              <a:srgbClr val="9C7FB5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53275" y="3896469"/>
            <a:ext cx="3962400" cy="339030"/>
          </a:xfrm>
          <a:prstGeom prst="roundRect">
            <a:avLst>
              <a:gd name="adj" fmla="val 22476"/>
            </a:avLst>
          </a:prstGeom>
          <a:solidFill>
            <a:srgbClr val="FAF9F5"/>
          </a:solidFill>
          <a:ln w="19050">
            <a:solidFill>
              <a:srgbClr val="9C7FB5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53275" y="4387900"/>
            <a:ext cx="3962400" cy="339030"/>
          </a:xfrm>
          <a:prstGeom prst="roundRect">
            <a:avLst>
              <a:gd name="adj" fmla="val 22476"/>
            </a:avLst>
          </a:prstGeom>
          <a:solidFill>
            <a:srgbClr val="FAF9F5"/>
          </a:solidFill>
          <a:ln w="19050">
            <a:solidFill>
              <a:srgbClr val="9C7FB5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四つの技術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頼み方・渡す情報・常設の仕掛け・回し方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1989683"/>
            <a:ext cx="300722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図1｜四つの技術は入れ子になっている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96100" y="1989683"/>
            <a:ext cx="214833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図2｜四つを回すのがループ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9625" y="2418308"/>
            <a:ext cx="4933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ハーネス｜常設の仕掛け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476375" y="2951708"/>
            <a:ext cx="3600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コンテキスト｜渡す情報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2238375" y="3466058"/>
            <a:ext cx="2076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プロンプト｜頼み方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09600" y="4618583"/>
            <a:ext cx="53340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外側にあるものほど、毎回きいてくる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53275" y="2551658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ループ｜回し方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7324725" y="2980283"/>
            <a:ext cx="3619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先に決める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153275" y="3262164"/>
            <a:ext cx="39624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24725" y="3471714"/>
            <a:ext cx="3619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53275" y="3753594"/>
            <a:ext cx="39624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24725" y="3963144"/>
            <a:ext cx="3619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差分を見る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153275" y="4245025"/>
            <a:ext cx="39624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24725" y="4454575"/>
            <a:ext cx="3619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直して寄せる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153275" y="4765030"/>
            <a:ext cx="3962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↩ 何度も回して狙いに寄せる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09600" y="519008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つまり、毎回言っていることは外側へ移していく。四つは「〜エンジニアリング」と呼ばれることもあるが、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09600" y="544725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この分野で使われている呼び方であり、公式が四分類を定義しているわけではない。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 / 32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638175"/>
          </a:xfrm>
          <a:prstGeom prst="rect">
            <a:avLst/>
          </a:prstGeom>
          <a:solidFill>
            <a:srgbClr val="DEDBD0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69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8756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5042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1329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四段階のどこを設計するか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四つの技術は、四段階のどこを設計するかの話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2142083"/>
            <a:ext cx="2019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動作の四段階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314700" y="2142083"/>
            <a:ext cx="2971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設計する技術（人間側）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743700" y="2142083"/>
            <a:ext cx="4610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具体で言うと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38200" y="2780258"/>
            <a:ext cx="2019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頼む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314700" y="2780258"/>
            <a:ext cx="2971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プロンプト｜頼み方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743700" y="2780258"/>
            <a:ext cx="4610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依頼文の書き方そのもの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38200" y="3408908"/>
            <a:ext cx="2019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計画・③ 実行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3314700" y="3408908"/>
            <a:ext cx="2971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コンテキスト｜渡す情報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743700" y="3408908"/>
            <a:ext cx="4610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が読めるファイルと決まりごと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38200" y="4037558"/>
            <a:ext cx="2019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①〜④ の土台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3314700" y="4037558"/>
            <a:ext cx="2971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ハーネス｜常設の仕掛け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743700" y="4037558"/>
            <a:ext cx="4610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毎回打たずに済むよう環境へ置く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838200" y="4666208"/>
            <a:ext cx="2019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確認 → もう一周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3314700" y="4666208"/>
            <a:ext cx="2971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ループ｜回し方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6743700" y="4666208"/>
            <a:ext cx="4610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違えば言い直して、もう一周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609600" y="537105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つまり、四段階は AI が何をしているか、四つの技術は、そのどこを人が設計するか。迷子になったら、四段階は AI 側、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09600" y="562823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四つは人間側と思い出す。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 / 32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07754"/>
            <a:ext cx="1257300" cy="5715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19300" y="2507754"/>
            <a:ext cx="9563100" cy="571500"/>
          </a:xfrm>
          <a:prstGeom prst="roundRect">
            <a:avLst>
              <a:gd name="adj" fmla="val 20000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212604"/>
            <a:ext cx="1257300" cy="571500"/>
          </a:xfrm>
          <a:prstGeom prst="roundRect">
            <a:avLst>
              <a:gd name="adj" fmla="val 50000"/>
            </a:avLst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19300" y="3212604"/>
            <a:ext cx="9563100" cy="571500"/>
          </a:xfrm>
          <a:prstGeom prst="roundRect">
            <a:avLst>
              <a:gd name="adj" fmla="val 20000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917454"/>
            <a:ext cx="1257300" cy="571500"/>
          </a:xfrm>
          <a:prstGeom prst="roundRect">
            <a:avLst>
              <a:gd name="adj" fmla="val 50000"/>
            </a:avLst>
          </a:prstGeom>
          <a:solidFill>
            <a:srgbClr val="788C5D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19300" y="3917454"/>
            <a:ext cx="9563100" cy="571500"/>
          </a:xfrm>
          <a:prstGeom prst="roundRect">
            <a:avLst>
              <a:gd name="adj" fmla="val 20000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622304"/>
            <a:ext cx="1257300" cy="571500"/>
          </a:xfrm>
          <a:prstGeom prst="roundRect">
            <a:avLst>
              <a:gd name="adj" fmla="val 50000"/>
            </a:avLst>
          </a:prstGeom>
          <a:solidFill>
            <a:srgbClr val="9C7FB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19300" y="4622304"/>
            <a:ext cx="9563100" cy="571500"/>
          </a:xfrm>
          <a:prstGeom prst="roundRect">
            <a:avLst>
              <a:gd name="adj" fmla="val 20000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依頼文の構造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依頼文は役割・背景・例・形の四点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1989683"/>
            <a:ext cx="9525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✗「点検データをいい感じに整理して」— 書いていない部分は推測で埋まる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66800" y="2669679"/>
            <a:ext cx="342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247900" y="2641104"/>
            <a:ext cx="44006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あなたは製造現場の品質管理を手伝う担当です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066800" y="3374529"/>
            <a:ext cx="342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247900" y="3345954"/>
            <a:ext cx="44006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月次の報告会で使う資料の下ごしらえをしたい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066800" y="4079379"/>
            <a:ext cx="342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247900" y="4050804"/>
            <a:ext cx="56411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点検記録を設備ごと・月ごとに、異常が何件あったか数えて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981075" y="4784229"/>
            <a:ext cx="5143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形と例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247900" y="4755654"/>
            <a:ext cx="32636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表の形で。例：設備A ／ 7月 ／ 3件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609600" y="5422404"/>
            <a:ext cx="10972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つまり、上から下へ、だんだん具体になる順に置く。役割が以降の読み方を決め、背景が推測の基準になり、そのうえで指示、最後に形と例。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32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1881783"/>
          </a:xfrm>
          <a:prstGeom prst="roundRect">
            <a:avLst>
              <a:gd name="adj" fmla="val 6074"/>
            </a:avLst>
          </a:prstGeom>
          <a:solidFill>
            <a:srgbClr val="141413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23866"/>
            <a:ext cx="3505200" cy="1975247"/>
          </a:xfrm>
          <a:prstGeom prst="roundRect">
            <a:avLst>
              <a:gd name="adj" fmla="val 578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43400" y="4023866"/>
            <a:ext cx="3505200" cy="1975247"/>
          </a:xfrm>
          <a:prstGeom prst="roundRect">
            <a:avLst>
              <a:gd name="adj" fmla="val 578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200" y="4023866"/>
            <a:ext cx="3505200" cy="1975247"/>
          </a:xfrm>
          <a:prstGeom prst="roundRect">
            <a:avLst>
              <a:gd name="adj" fmla="val 578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フューショット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お手本は三〜五個、囲って渡す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838200" y="2218283"/>
            <a:ext cx="105156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&lt;example&gt;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2574429"/>
            <a:ext cx="105156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設備A ／ 7月 ／ 3件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2930575"/>
            <a:ext cx="105156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設備B ／ 7月 ／ 0件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8200" y="3286720"/>
            <a:ext cx="105156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&lt;/example&gt;</a:t>
            </a:r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pPr algn="l"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囲むと、例なのか依頼なのかを区別できる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57250" y="4271516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個数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57250" y="4595366"/>
            <a:ext cx="3009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三〜五個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7250" y="5081141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一つだと特徴に引きずられ、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57250" y="5416421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多すぎても頭打ち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4591050" y="4271516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渡し方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1050" y="4595366"/>
            <a:ext cx="3009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タグで囲う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91050" y="5081141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指示と例の境目がはっきりする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324850" y="4271516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効く理由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24850" y="4595366"/>
            <a:ext cx="3009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体裁が伝わる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24850" y="5081141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表の形や言葉づかいの硬さは、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8324850" y="5416421"/>
            <a:ext cx="30099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文章で書くより速い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32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864644"/>
          </a:xfrm>
          <a:prstGeom prst="roundRect">
            <a:avLst>
              <a:gd name="adj" fmla="val 3990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864644"/>
          </a:xfrm>
          <a:prstGeom prst="roundRect">
            <a:avLst>
              <a:gd name="adj" fmla="val 3990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役割設定と構造化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役割は一文、部品は見出しで分ける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役割設定（＝ 立場を一文で）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12001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「あなたは品質管理を手伝う担当です」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一文でも、返ってくる説明の粒度が変わる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001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人に頼むとき無意識にやっていることを、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00150" y="411923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明示するだけ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341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構造化（＝ 見出しで分ける）</a:t>
            </a:r>
            <a:endParaRPr lang="en-US" sz="2250" dirty="0"/>
          </a:p>
        </p:txBody>
      </p:sp>
      <p:sp>
        <p:nvSpPr>
          <p:cNvPr id="13" name="Text 11"/>
          <p:cNvSpPr txBox="1"/>
          <p:nvPr/>
        </p:nvSpPr>
        <p:spPr>
          <a:xfrm>
            <a:off x="68008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 ／ やってほしいこと ／ 出してほしい形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008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見出し三つでも、だらだら書くより安定する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8008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公式は XML タグでの区切りを勧めている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082927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つまり、どちらも AI に推測させる余地を減らす手当て。身構えて覚える型ではなく、部品が分かれていると伝わればよい。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32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638175"/>
          </a:xfrm>
          <a:prstGeom prst="rect">
            <a:avLst/>
          </a:prstGeom>
          <a:solidFill>
            <a:srgbClr val="DEDBD0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69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8756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5042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1329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 — 曖昧さを減らす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曖昧さを減らすほど、出力は安定する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2142083"/>
            <a:ext cx="2590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依頼文の四点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142083"/>
            <a:ext cx="7467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消える曖昧さ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8200" y="2780258"/>
            <a:ext cx="2590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2780258"/>
            <a:ext cx="7467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どういう前提で答えるかの曖昧さ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38200" y="3408908"/>
            <a:ext cx="2590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背景・目的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408908"/>
            <a:ext cx="7467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何を優先して判断するかの曖昧さ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38200" y="4037558"/>
            <a:ext cx="2590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4037558"/>
            <a:ext cx="7467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どんな体裁で出すかの曖昧さ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8200" y="4666208"/>
            <a:ext cx="2590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666208"/>
            <a:ext cx="7467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どこからどこまでが何かの曖昧さ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537105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四点はどれも、依頼する側がすでに持っている情報。AI が知らないだけ。ただし毎回書くのは続かない。だから次は、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09600" y="562823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渡す情報そのものの設計へ。頼み方の技術は、四段階のうち段階①の設計にあたる。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32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2008733"/>
            <a:ext cx="2000250" cy="781050"/>
          </a:xfrm>
          <a:prstGeom prst="rect">
            <a:avLst/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92313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2942183"/>
            <a:ext cx="2000250" cy="781050"/>
          </a:xfrm>
          <a:prstGeom prst="rect">
            <a:avLst/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85658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8650" y="3875633"/>
            <a:ext cx="2000250" cy="781050"/>
          </a:xfrm>
          <a:prstGeom prst="rect">
            <a:avLst/>
          </a:prstGeom>
          <a:solidFill>
            <a:srgbClr val="788C5D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79003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4809083"/>
            <a:ext cx="2000250" cy="781050"/>
          </a:xfrm>
          <a:prstGeom prst="rect">
            <a:avLst/>
          </a:prstGeom>
          <a:solidFill>
            <a:srgbClr val="9C7FB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コンテキストウィンドウの中身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器の中身は指示・ファイル・応答の全部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1419076" y="2246858"/>
            <a:ext cx="4192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2876550" y="2103983"/>
            <a:ext cx="2400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自分が打った指示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2876550" y="2446883"/>
            <a:ext cx="24003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依頼文・訂正・やり取りの全部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209526" y="3180308"/>
            <a:ext cx="8383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2876550" y="3037433"/>
            <a:ext cx="31367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読み込んだファイルの中身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2876550" y="3380333"/>
            <a:ext cx="313670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 で渡したもの、AI が自分で開いたもの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19076" y="4113758"/>
            <a:ext cx="4192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応答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2876550" y="3970883"/>
            <a:ext cx="2057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返ってきた応答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2876550" y="4313783"/>
            <a:ext cx="2057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画面に出た文章も器に残る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04751" y="5047208"/>
            <a:ext cx="10478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見えない分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2876550" y="4904333"/>
            <a:ext cx="31050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画面に出ていないもの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2876550" y="5247233"/>
            <a:ext cx="310500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「設備」で検索した15件の中身まで入る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09600" y="583778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つまり、器は体感よりずっと早く埋まる。中身は /context で確認でき、どの CLAUDE.md が読み込まれたかも分かる。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32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3026569"/>
          </a:xfrm>
          <a:prstGeom prst="roundRect">
            <a:avLst>
              <a:gd name="adj" fmla="val 3777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3026569"/>
          </a:xfrm>
          <a:prstGeom prst="roundRect">
            <a:avLst>
              <a:gd name="adj" fmla="val 377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あふれるとどうなるか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あふれる前に、古い所は自動で畳まれる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起きること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33450" y="2637383"/>
            <a:ext cx="47244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古い所が要約されて畳まれる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123158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エラーにはならないので気づかない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00150" y="3534519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最初のほうに伝えた条件ほど薄くなる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00150" y="3945880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「元データには触らないで」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200150" y="4281160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が後半で効かなくなる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534150" y="2313533"/>
            <a:ext cx="47244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対策は二つ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4150" y="2637383"/>
            <a:ext cx="47244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区切る／外に出す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00850" y="3123158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一段落したら会話を切り、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800850" y="3458438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大事な条件だけ渡し直す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6800850" y="3869680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大きな読み取りはサブエージェントに任せる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800850" y="4281041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任せた中身は、自分側の器に入らない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244852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つまり、一度だけ口で伝えた条件は消える前提で扱う。消えてほしくないものは、次の章で扱うファイルに書く。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32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965746"/>
          </a:xfrm>
          <a:prstGeom prst="roundRect">
            <a:avLst>
              <a:gd name="adj" fmla="val 11835"/>
            </a:avLst>
          </a:prstGeom>
          <a:solidFill>
            <a:srgbClr val="141413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@参照で名指しする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@でファイルを名指しして渡す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94483"/>
            <a:ext cx="103632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@data/inspection_2607.csv</a:t>
            </a:r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を見て、設備ごとの異常件数を数えて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76300" y="3184029"/>
            <a:ext cx="10706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名指しなので、似た名前のファイルがあっても読み違えない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6300" y="3595390"/>
            <a:ext cx="10706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大きいファイルは、必要な部分だけを切り出して渡すほうが効く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76300" y="4006751"/>
            <a:ext cx="10706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社外に出せないものは器に入れない。会社の規定が優先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570512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つまり、渡さない判断も設計のうち。今日のワークは自分の手元のファイルだけで足りる。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32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65883"/>
            <a:ext cx="2762250" cy="1457325"/>
          </a:xfrm>
          <a:prstGeom prst="roundRect">
            <a:avLst>
              <a:gd name="adj" fmla="val 784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0" y="1989683"/>
            <a:ext cx="3810000" cy="1609725"/>
          </a:xfrm>
          <a:prstGeom prst="roundRect">
            <a:avLst>
              <a:gd name="adj" fmla="val 7101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39150" y="2065883"/>
            <a:ext cx="2762250" cy="1457325"/>
          </a:xfrm>
          <a:prstGeom prst="roundRect">
            <a:avLst>
              <a:gd name="adj" fmla="val 784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 — 外の道具につなぐ口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 は外の道具につなぐ口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2313533"/>
            <a:ext cx="2266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手元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2637383"/>
            <a:ext cx="2266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018383"/>
            <a:ext cx="2266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使える道具が増える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24250" y="2561183"/>
            <a:ext cx="32385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4248150" y="2313533"/>
            <a:ext cx="33147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57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248150" y="2637383"/>
            <a:ext cx="3314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外の道具につなぐ口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248150" y="3018383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接続と認証は、つなぐ側が引き受ける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962900" y="2561183"/>
            <a:ext cx="32385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313533"/>
            <a:ext cx="2266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637383"/>
            <a:ext cx="2266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社内システム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018383"/>
            <a:ext cx="2266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在庫システムなど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3904208"/>
            <a:ext cx="109728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つまり、つなぎ方を覚える必要はない。誰かが口を用意すれば、Claude 側からは道具が増える。増えた道具も、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4109948"/>
            <a:ext cx="109728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使う前に明示的な許可が要る。勝手に外を触りに行くことはない。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32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529483"/>
          </a:xfrm>
          <a:prstGeom prst="roundRect">
            <a:avLst>
              <a:gd name="adj" fmla="val 451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529483"/>
          </a:xfrm>
          <a:prstGeom prst="roundRect">
            <a:avLst>
              <a:gd name="adj" fmla="val 4519"/>
            </a:avLst>
          </a:prstGeom>
          <a:solidFill>
            <a:srgbClr val="DEDBD0"/>
          </a:solidFill>
          <a:ln w="19050">
            <a:solidFill>
              <a:srgbClr val="DEDBD0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 — 器を設計する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入れるものと入れないものを選ぶ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器に入れる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12001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今回の指示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判断に要る決まりごと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001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必要な部分だけ切り出したファイル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5341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器に入れない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68008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関係のない資料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008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古いやり取り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008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社外に出せないもの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74776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渡す量と精度は比例しない。片っ端から渡したら、肝心の指示が資料に埋もれて的外れになった。渡す情報の技術は、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004941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四段階のうち段階②③の材料の設計にあたる。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/ 32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3523655"/>
          </a:xfrm>
          <a:prstGeom prst="roundRect">
            <a:avLst>
              <a:gd name="adj" fmla="val 3244"/>
            </a:avLst>
          </a:prstGeom>
          <a:solidFill>
            <a:srgbClr val="141413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.claude の中に何があるか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仕込みの置き場は .claude の中にある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94483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~/.claude/</a:t>
            </a:r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ホーム側｜自分の全プロジェクトに効く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85889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├── CLAUDE.md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毎回読まれる指示書き（自分の好み）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77294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└── settings.json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権限と設定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60105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your-project/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51511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└── </a:t>
            </a:r>
            <a:pPr algn="l" indent="0" marL="0">
              <a:buNone/>
            </a:pPr>
            <a:r>
              <a:rPr lang="en-US" sz="13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.claude/</a:t>
            </a:r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プロジェクト側｜git でチームに共有できる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42916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    ├── CLAUDE.md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このプロジェクトの決まりごと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34321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    ├── rules/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パスを限った規則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25727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    ├── skills/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手順のパッケージ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17132"/>
            <a:ext cx="103632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    └── settings.json  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権限と止めどころ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74193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つまり、置き場所は二系統。自分の好みはホーム側へ、チームで共有する決まりごとはプロジェクト側へ。区別を誤ると、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99911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個人的な好みが他の人の環境にも効いてしまう。全部を最初に作る必要はない。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32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529483"/>
          </a:xfrm>
          <a:prstGeom prst="roundRect">
            <a:avLst>
              <a:gd name="adj" fmla="val 451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529483"/>
          </a:xfrm>
          <a:prstGeom prst="roundRect">
            <a:avLst>
              <a:gd name="adj" fmla="val 4519"/>
            </a:avLst>
          </a:prstGeom>
          <a:solidFill>
            <a:srgbClr val="DEDBD0"/>
          </a:solidFill>
          <a:ln w="19050">
            <a:solidFill>
              <a:srgbClr val="DEDBD0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 に何を書くか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毎回説明し直すことを書いておく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書く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12001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 — テストは npm test で走らせる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置き場所 — API のコードは src/api に置く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001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決まりごと — コミットメッセージは日本語で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5341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書かない（別の場所へ）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68008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何段階もある手順 → skills へ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008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一部のファイルにだけ関わる規則 → rules へ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008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分量そのもの — 目安は1ファイル200行以内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74776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書きどきは、同じ説明を二度目に打ち込んだとき。書き方は検証できる具体性で。「きれいに整形する」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004941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ではなく「インデントは半角2つ」、「テストして」ではなく「コミット前に npm test を走らせる」。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526211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曖昧な指示は曖昧にしか守られない。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 / 32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2008733"/>
            <a:ext cx="2000250" cy="781050"/>
          </a:xfrm>
          <a:prstGeom prst="rect">
            <a:avLst/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92313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2942183"/>
            <a:ext cx="2000250" cy="781050"/>
          </a:xfrm>
          <a:prstGeom prst="rect">
            <a:avLst/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85658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8650" y="3875633"/>
            <a:ext cx="2000250" cy="781050"/>
          </a:xfrm>
          <a:prstGeom prst="rect">
            <a:avLst/>
          </a:prstGeom>
          <a:solidFill>
            <a:srgbClr val="788C5D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790033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4809083"/>
            <a:ext cx="2000250" cy="781050"/>
          </a:xfrm>
          <a:prstGeom prst="rect">
            <a:avLst/>
          </a:prstGeom>
          <a:solidFill>
            <a:srgbClr val="9C7FB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 はいつ読まれるか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四つの置き場所が、順に連結される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1419076" y="2246858"/>
            <a:ext cx="4192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2876550" y="2103983"/>
            <a:ext cx="1885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管理者が置く層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2876550" y="2446883"/>
            <a:ext cx="1885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個人の設定では外せない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211759" y="3180308"/>
            <a:ext cx="8340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2876550" y="3037433"/>
            <a:ext cx="22288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ホームの CLAUDE.md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2876550" y="3380333"/>
            <a:ext cx="22288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自分の全プロジェクトに効く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99976" y="4113758"/>
            <a:ext cx="12574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2876550" y="3970883"/>
            <a:ext cx="17915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 で共有される層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2876550" y="4313783"/>
            <a:ext cx="179159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チーム全員に効く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209526" y="5047208"/>
            <a:ext cx="8383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2876550" y="4904333"/>
            <a:ext cx="21243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CLAUDE.local.md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2876550" y="5247233"/>
            <a:ext cx="212437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自分だけ。git には入れない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09600" y="583778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上書きではなく連結される。組織 → ユーザー → プロジェクト → ローカルの順に並び、毎セッション読まれる。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09600" y="609495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ただし強制設定ではなく文脈として扱われる。書いたのに守られないことは起こり得る。必ず止めたいならフックを使う。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 / 32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263801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63951" y="1989683"/>
            <a:ext cx="3263950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18450" y="1989683"/>
            <a:ext cx="3263950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582144"/>
            <a:ext cx="53721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0300" y="3582144"/>
            <a:ext cx="5372100" cy="2310408"/>
          </a:xfrm>
          <a:prstGeom prst="roundRect">
            <a:avLst>
              <a:gd name="adj" fmla="val 494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近い場所ほど後に読まれる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近い場所ほど後に読まれ、強く効く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781050" y="2237333"/>
            <a:ext cx="292090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81050" y="2561183"/>
            <a:ext cx="2920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上へたどる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81050" y="2942183"/>
            <a:ext cx="29209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作業フォルダから上へ集める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025801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4635401" y="2237333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635401" y="2561183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順に並ぶ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635401" y="2942183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ルートに近いほうから並ぶ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880300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8489900" y="2237333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89900" y="2561183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後ほど強い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489900" y="2942183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近いものほど後に読まれる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57250" y="3829794"/>
            <a:ext cx="4876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サブフォルダ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57250" y="4153644"/>
            <a:ext cx="4876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読まれるのは触ったとき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57250" y="4639419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起動時には読まれない。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857250" y="4974699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そのフォルダのファイルを AI が読んだとき、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857250" y="5309979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初めて読み込まれる（遅延ロード）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6457950" y="3829794"/>
            <a:ext cx="4876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圧縮のあと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57950" y="4153644"/>
            <a:ext cx="4876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直下だけが戻る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57950" y="4639419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圧縮されて戻るのはプロジェクト直下だけ。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6457950" y="4974699"/>
            <a:ext cx="4876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サブフォルダやパス限定の規則は戻らない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609600" y="6121152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つまり、大事なことほどプロジェクト直下に書く。口頭で伝えた指示は、圧縮されると消える。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 / 32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638175"/>
          </a:xfrm>
          <a:prstGeom prst="rect">
            <a:avLst/>
          </a:prstGeom>
          <a:solidFill>
            <a:srgbClr val="DEDBD0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69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8756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5042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rules と skills の使い分け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規則は常設、手順はスキルに切り出す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838200" y="2142083"/>
            <a:ext cx="1638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置き場所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2933700" y="2142083"/>
            <a:ext cx="3829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いつ読まれるか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7219950" y="2142083"/>
            <a:ext cx="41338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向いているもの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8200" y="2780258"/>
            <a:ext cx="1638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2933700" y="2780258"/>
            <a:ext cx="3829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毎セッション、必ず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7219950" y="2780258"/>
            <a:ext cx="41338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短い決まりごと・置き場所・毎回の手順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38200" y="3408908"/>
            <a:ext cx="1638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.claude/rules/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2933700" y="3408908"/>
            <a:ext cx="3829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パスの条件に合うファイルを触ったとき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7219950" y="3408908"/>
            <a:ext cx="41338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特定の領域だけの規約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8200" y="4037558"/>
            <a:ext cx="1638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.claude/skills/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2933700" y="4037558"/>
            <a:ext cx="3829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必要になったとき、名前を呼んだとき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7219950" y="4037558"/>
            <a:ext cx="41338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三段階以上の手順のパッケージ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09600" y="474240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つまり、いつ読まれてほしいかで決める。パスを限れば、常に全部を読ませなくて済むので器の節約にもなる。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09600" y="499958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 の一節が「事実」ではなく「手順」に育ったら、スキルへ切り出す合図。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 / 32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529483"/>
          </a:xfrm>
          <a:prstGeom prst="roundRect">
            <a:avLst>
              <a:gd name="adj" fmla="val 4519"/>
            </a:avLst>
          </a:prstGeom>
          <a:solidFill>
            <a:srgbClr val="DEDBD0"/>
          </a:solidFill>
          <a:ln w="19050">
            <a:solidFill>
              <a:srgbClr val="DEDBD0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529483"/>
          </a:xfrm>
          <a:prstGeom prst="roundRect">
            <a:avLst>
              <a:gd name="adj" fmla="val 4519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settings.json — 権限と止めどころ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触れる範囲と止めどころを設定で決める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 ＝ お願い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12001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文脈として伝わるだけ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守られないことは起こり得る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001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書きすぎると、かえって守られにくい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5341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settings.json ＝ 宣言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68008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ツールを使う前に許可ルールと突き合わせる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008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どのツールをどこまで使ってよいかを決める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008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読み取りは通す、消す操作は必ず確認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747766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つまり、絶対に触られたくない場所があるなら、お願いではなく設定に書く。使い分けだけ覚えて帰ればよい。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004941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設定ファイルの書き方は持ち帰り資料に載せる。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32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1678037"/>
          </a:xfrm>
          <a:prstGeom prst="roundRect">
            <a:avLst>
              <a:gd name="adj" fmla="val 6812"/>
            </a:avLst>
          </a:prstGeom>
          <a:solidFill>
            <a:srgbClr val="141413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96320"/>
            <a:ext cx="10972800" cy="1803797"/>
          </a:xfrm>
          <a:prstGeom prst="roundRect">
            <a:avLst>
              <a:gd name="adj" fmla="val 6337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hooks の三階層（イベント → 対象 → 処理）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決まった場面で、決めた処理を自動で走らせる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94483"/>
            <a:ext cx="103632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{ </a:t>
            </a:r>
            <a:pPr algn="l" indent="0" marL="0">
              <a:buNone/>
            </a:pPr>
            <a:r>
              <a:rPr lang="en-US" sz="165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"PreToolUse"</a:t>
            </a:r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: [          </a:t>
            </a:r>
            <a:pPr algn="l"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① イベント｜どの場面で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0629"/>
            <a:ext cx="103632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    { </a:t>
            </a:r>
            <a:pPr algn="l" indent="0" marL="0">
              <a:buNone/>
            </a:pPr>
            <a:r>
              <a:rPr lang="en-US" sz="165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"matcher"</a:t>
            </a:r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: </a:t>
            </a:r>
            <a:pPr algn="l" indent="0" marL="0">
              <a:buNone/>
            </a:pPr>
            <a:r>
              <a:rPr lang="en-US" sz="165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"Bash"</a:t>
            </a:r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      </a:t>
            </a:r>
            <a:pPr algn="l"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② 対象｜何に反応するか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06775"/>
            <a:ext cx="103632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      </a:t>
            </a:r>
            <a:pPr algn="l" indent="0" marL="0">
              <a:buNone/>
            </a:pPr>
            <a:r>
              <a:rPr lang="en-US" sz="165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"hooks"</a:t>
            </a:r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: [ … ] } ] }   </a:t>
            </a:r>
            <a:pPr algn="l"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③ 処理｜何を走らせるか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933450" y="4220170"/>
            <a:ext cx="103251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実例｜危ない削除コマンドの手前で止める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33450" y="4705945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イベントはツールを使う前、対象はコマンド実行、処理は内容を検査して危なければ止める。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933450" y="5041225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人が注意していようがいまいが、機械的に止まる。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5928717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つまり、規律で守るを、仕組みで守るに変える道具。書き方まで今日覚える必要はない。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 / 32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0438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1275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82113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658344"/>
            <a:ext cx="10972800" cy="933450"/>
          </a:xfrm>
          <a:prstGeom prst="roundRect">
            <a:avLst>
              <a:gd name="adj" fmla="val 12245"/>
            </a:avLst>
          </a:prstGeom>
          <a:solidFill>
            <a:srgbClr val="FAF9F5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発散の罠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足すほど目的がぼやけて使えなくなる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781050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81050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検索を足す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81050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あったら便利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062287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3671888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71888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グラフを足す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3671888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あったら便利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953125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6562725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62725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通知を足す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562725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あったら便利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843963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9453563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453563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噛み合わない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9453563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直すと別が壊れる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42975" y="3915519"/>
            <a:ext cx="1030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原因は一つ — 目的が決まっていない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609600" y="4820394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目的が決まっていなければ、何が正解かも、何ができたら終わりかも決まらない。終わりが決まっていない作業は終わらない。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09600" y="5077569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そして作るのが速い分だけ、発散も速い。手で作っていた頃なら面倒で足さなかったものが、簡単に足せてしまう。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 / 32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43400" y="1989683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7200" y="1989683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085183"/>
            <a:ext cx="10972800" cy="1803797"/>
          </a:xfrm>
          <a:prstGeom prst="roundRect">
            <a:avLst>
              <a:gd name="adj" fmla="val 6337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先に決める三つ（SDD）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作るもの・完成条件・止めどころを決める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219923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957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11363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何を作るか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347558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一文で言い切れる大きさに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91050" y="219923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4591050" y="311363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何ができたら完成か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591050" y="347558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見て丸かバツか付けられる形に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24850" y="219923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324850" y="311363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どこから自分が見るか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324850" y="347558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止まる場所を先に決める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33450" y="4409033"/>
            <a:ext cx="103251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実際に書くと三行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3450" y="4894808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点検記録から設備ごと月ごとの異常件数を表にする ／ 設備ごとの件数が月別に並んだ表が出たら完成 ／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933450" y="5230088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元データには触らない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09600" y="6117580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先に仕様を決めて作る型は SDD（スペックドリブン開発）と呼ばれる。書くのに一分もかからない。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 / 32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0438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1275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82113" y="1989683"/>
            <a:ext cx="2300288" cy="1440061"/>
          </a:xfrm>
          <a:prstGeom prst="roundRect">
            <a:avLst>
              <a:gd name="adj" fmla="val 7937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658344"/>
            <a:ext cx="10972800" cy="933450"/>
          </a:xfrm>
          <a:prstGeom prst="roundRect">
            <a:avLst>
              <a:gd name="adj" fmla="val 12245"/>
            </a:avLst>
          </a:prstGeom>
          <a:solidFill>
            <a:srgbClr val="FAF9F5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 モードで受ける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 モードは調べて計画するだけ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781050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81050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三行を渡す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81050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 モードで頼む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062287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3671888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71888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計画が出る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3671888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変更は一切しない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953125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6562725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62725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要らない行を落とす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562725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指して「要りません」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843963" y="2500164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9453563" y="2237333"/>
            <a:ext cx="195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453563" y="2561183"/>
            <a:ext cx="1957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実行に移す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9453563" y="2942183"/>
            <a:ext cx="19573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納得してから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42975" y="3915519"/>
            <a:ext cx="1030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効くのは、完成条件を決めてあるから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609600" y="4820394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表が出たら完成、と決めておくと、計画にグラフが入った瞬間に落とせる。決めていないと「あってもいいか」で通してしまい、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09600" y="5077569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膨らんだ末に発散する。実装まで進んでから気づくと戻すのが面倒。計画の段階なら一言で済む。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 / 32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5372100" cy="2864644"/>
          </a:xfrm>
          <a:prstGeom prst="roundRect">
            <a:avLst>
              <a:gd name="adj" fmla="val 3990"/>
            </a:avLst>
          </a:prstGeom>
          <a:solidFill>
            <a:srgbClr val="DEDBD0"/>
          </a:solidFill>
          <a:ln w="19050">
            <a:solidFill>
              <a:srgbClr val="DEDBD0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0300" y="1989683"/>
            <a:ext cx="5372100" cy="2864644"/>
          </a:xfrm>
          <a:prstGeom prst="roundRect">
            <a:avLst>
              <a:gd name="adj" fmla="val 3990"/>
            </a:avLst>
          </a:prstGeom>
          <a:solidFill>
            <a:srgbClr val="FAF9F5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 — 回して寄せる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先に決めるのは、直す物差しを持つため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✗ 一発で当てるため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12001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最初に全部決めて一直線に完成させる、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0150" y="329651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ではない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00150" y="37077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途中で違ったと分かることは必ずある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00150" y="4119116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早めに出して、見て、直すほうがうまくいく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34150" y="2313533"/>
            <a:ext cx="4724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 直す物差しを持つため</a:t>
            </a:r>
            <a:endParaRPr lang="en-US" sz="2250" dirty="0"/>
          </a:p>
        </p:txBody>
      </p:sp>
      <p:sp>
        <p:nvSpPr>
          <p:cNvPr id="13" name="Text 11"/>
          <p:cNvSpPr txBox="1"/>
          <p:nvPr/>
        </p:nvSpPr>
        <p:spPr>
          <a:xfrm>
            <a:off x="6800850" y="2961233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何を作るか・何ができたら完成かが決まれば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00850" y="3372594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出てきたものが狙いに近いか遠いか判断できる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800850" y="3783955"/>
            <a:ext cx="44577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物差しがないと、直すつもりが迷走になる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082927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先に決めるのは三行で足りる。分厚くすると、今度は仕様書を書くこと自体が目的になる。回し方の技術は、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5340102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四段階のうち段階④から次の一周へ戻るところの設計にあたる。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 / 32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43400" y="1989683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7200" y="1989683"/>
            <a:ext cx="3505200" cy="2133600"/>
          </a:xfrm>
          <a:prstGeom prst="roundRect">
            <a:avLst>
              <a:gd name="adj" fmla="val 5357"/>
            </a:avLst>
          </a:prstGeom>
          <a:solidFill>
            <a:srgbClr val="FAF9F5"/>
          </a:solidFill>
          <a:ln w="19050">
            <a:solidFill>
              <a:srgbClr val="D5D3C8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ワークの進め方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24分で最初の一行を仕込む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229448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957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320888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何を書くか決める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57083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同じ説明を二度以上していること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91050" y="229448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91050" y="320888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 に書く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91050" y="357083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今日触っているプロジェクトの直下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324850" y="2294483"/>
            <a:ext cx="30099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324850" y="3208883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/context で確認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324850" y="3570833"/>
            <a:ext cx="3009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 CLAUDE.md が出ていれば成功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435188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例を三つ。言葉づかい「回答は日本語で書く」／ 触ってほしくない場所「data の中のファイルは変更しない」／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09600" y="4609058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毎回の手順「変更したら必ずテストを走らせる」。書き方は具体的に。思いつかない方、詰まった方は手を挙げてください。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 / 32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933450"/>
          </a:xfrm>
          <a:prstGeom prst="roundRect">
            <a:avLst>
              <a:gd name="adj" fmla="val 12245"/>
            </a:avLst>
          </a:prstGeom>
          <a:solidFill>
            <a:srgbClr val="FAF9F5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各自ワーク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 .claude に一つ入れる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942975" y="2246858"/>
            <a:ext cx="1030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24分 — 自分の .claude に、最初の一行を入れる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76300" y="3227933"/>
            <a:ext cx="10706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一行でよい。動くツールを作る時間ではない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6300" y="3639294"/>
            <a:ext cx="10706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詰まったら手を挙げてください。巡回します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76300" y="4050655"/>
            <a:ext cx="10706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余裕のある方は settings.json の権限か、skills への切り出しへ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 / 32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485775"/>
          </a:xfrm>
          <a:prstGeom prst="rect">
            <a:avLst/>
          </a:prstGeom>
          <a:solidFill>
            <a:srgbClr val="DEDBD0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9421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184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89468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4370933"/>
            <a:ext cx="10972800" cy="9525"/>
          </a:xfrm>
          <a:prstGeom prst="rect">
            <a:avLst/>
          </a:prstGeom>
          <a:solidFill>
            <a:srgbClr val="D5D3C8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4532858"/>
            <a:ext cx="10972800" cy="1803797"/>
          </a:xfrm>
          <a:prstGeom prst="roundRect">
            <a:avLst>
              <a:gd name="adj" fmla="val 6337"/>
            </a:avLst>
          </a:prstGeom>
          <a:solidFill>
            <a:srgbClr val="F2DDD0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持ち帰る地図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持ち帰るのは、地図と最初の一行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2065883"/>
            <a:ext cx="3352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動作の四段階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648200" y="2065883"/>
            <a:ext cx="6705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設計する技術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38200" y="2551658"/>
            <a:ext cx="3352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頼む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48200" y="2551658"/>
            <a:ext cx="6705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プロンプト｜頼み方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38200" y="3027908"/>
            <a:ext cx="3352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計画・③ 実行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648200" y="3027908"/>
            <a:ext cx="6705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コンテキスト｜渡す情報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38200" y="3504158"/>
            <a:ext cx="3352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①〜④ の土台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648200" y="3504158"/>
            <a:ext cx="6705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ハーネス｜常設の仕掛け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38200" y="3980408"/>
            <a:ext cx="3352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確認 → もう一周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648200" y="3980408"/>
            <a:ext cx="6705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ループ｜回し方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933450" y="4856708"/>
            <a:ext cx="103251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3450" y="5342483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短い決まりごとが増えたら rules へ。三段階以上の手順になったら skills へ。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933450" y="5677763"/>
            <a:ext cx="10325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141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絶対に止めたいものが出てきたら settings.json の権限か hooks へ。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361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 / 32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2026-08-18T22:11:52Z</dcterms:created>
  <dcterms:modified xsi:type="dcterms:W3CDTF">2026-08-18T22:11:52Z</dcterms:modified>
</cp:coreProperties>
</file>