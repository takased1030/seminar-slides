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3246120"/>
            <a:ext cx="10972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spc="400" kern="0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CODE 導入セミナー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905" y="3657600"/>
            <a:ext cx="10972800" cy="1051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57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まず、一つ動かす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609905" y="4846320"/>
            <a:ext cx="1097280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コードを書かずに、自分の仕事を</a:t>
            </a:r>
            <a:endParaRPr lang="en-US" sz="2250" dirty="0"/>
          </a:p>
          <a:p>
            <a:pPr indent="0" marL="0">
              <a:buNone/>
            </a:pPr>
            <a:r>
              <a:rPr lang="en-US" sz="22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Code に『頼む』はじめの一歩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09905" y="5943600"/>
            <a:ext cx="10972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2026年7月 ／ 導入セミナー（全60分）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384048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コードを書かずに作った、二つの実物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905" y="1078992"/>
            <a:ext cx="109728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コードを書かず、日本語で頼んで作った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09905" y="1664208"/>
            <a:ext cx="10972800" cy="0"/>
          </a:xfrm>
          <a:prstGeom prst="line">
            <a:avLst/>
          </a:prstGeom>
          <a:noFill/>
          <a:ln w="12700">
            <a:solidFill>
              <a:srgbClr val="3D3D3A"/>
            </a:solidFill>
            <a:prstDash val="solid"/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905" y="2011680"/>
            <a:ext cx="5372100" cy="2743200"/>
          </a:xfrm>
          <a:prstGeom prst="roundRect">
            <a:avLst>
              <a:gd name="adj" fmla="val 3333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82346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TOOL 01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82346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音声入力ツール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48234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話した言葉をそのまま文字に。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ローカルLLMで、手元のPCだけで動く。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210605" y="2011680"/>
            <a:ext cx="5372100" cy="2743200"/>
          </a:xfrm>
          <a:prstGeom prst="roundRect">
            <a:avLst>
              <a:gd name="adj" fmla="val 3333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12357" y="2286000"/>
            <a:ext cx="482346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TOOL 02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12357" y="2743200"/>
            <a:ext cx="482346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イベントログ＋タスク管理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512357" y="3383280"/>
            <a:ext cx="48234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現場の気づきをすぐ記録。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後から探して優先度を一覧に（実務POC中）。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09905" y="5029200"/>
            <a:ext cx="10972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共通点は、一行も書かず、やりたいことを日本語で『頼んだ』だけ。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384048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今日のゴール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905" y="1078992"/>
            <a:ext cx="109728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日本語が話せれば、AIで何でもできる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09905" y="1664208"/>
            <a:ext cx="10972800" cy="0"/>
          </a:xfrm>
          <a:prstGeom prst="line">
            <a:avLst/>
          </a:prstGeom>
          <a:noFill/>
          <a:ln w="12700">
            <a:solidFill>
              <a:srgbClr val="3D3D3A"/>
            </a:solidFill>
            <a:prstDash val="solid"/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905" y="2103120"/>
            <a:ext cx="640080" cy="960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87145" y="2103120"/>
            <a:ext cx="10195560" cy="960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Code の仕組みと、上手に使う4つの工夫を知る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3063240"/>
            <a:ext cx="10972800" cy="0"/>
          </a:xfrm>
          <a:prstGeom prst="line">
            <a:avLst/>
          </a:prstGeom>
          <a:noFill/>
          <a:ln w="12700">
            <a:solidFill>
              <a:srgbClr val="3D3D3A"/>
            </a:solidFill>
            <a:prstDash val="solid"/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905" y="3136392"/>
            <a:ext cx="640080" cy="960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87145" y="3136392"/>
            <a:ext cx="10195560" cy="960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発散を防ぐ「段取り」の考え方を身につける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905" y="4096512"/>
            <a:ext cx="10972800" cy="0"/>
          </a:xfrm>
          <a:prstGeom prst="line">
            <a:avLst/>
          </a:prstGeom>
          <a:noFill/>
          <a:ln w="12700">
            <a:solidFill>
              <a:srgbClr val="3D3D3A"/>
            </a:solidFill>
            <a:prstDash val="solid"/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9905" y="4169664"/>
            <a:ext cx="640080" cy="960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387145" y="4169664"/>
            <a:ext cx="10195560" cy="960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自分の仕事を一つ、AIで実際に動かしてみる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905" y="5129784"/>
            <a:ext cx="10972800" cy="0"/>
          </a:xfrm>
          <a:prstGeom prst="line">
            <a:avLst/>
          </a:prstGeom>
          <a:noFill/>
          <a:ln w="12700">
            <a:solidFill>
              <a:srgbClr val="3D3D3A"/>
            </a:solidFill>
            <a:prstDash val="solid"/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384048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905" y="1078992"/>
            <a:ext cx="109728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動かせる→仕組み→段取り→お手本→ワーク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09905" y="1664208"/>
            <a:ext cx="10972800" cy="0"/>
          </a:xfrm>
          <a:prstGeom prst="line">
            <a:avLst/>
          </a:prstGeom>
          <a:noFill/>
          <a:ln w="12700">
            <a:solidFill>
              <a:srgbClr val="3D3D3A"/>
            </a:solidFill>
            <a:prstDash val="solid"/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905" y="1920240"/>
            <a:ext cx="118872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第1章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935785" y="1920240"/>
            <a:ext cx="964692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あなたも、自分の仕事を一つ動かせる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578608"/>
            <a:ext cx="10972800" cy="0"/>
          </a:xfrm>
          <a:prstGeom prst="line">
            <a:avLst/>
          </a:prstGeom>
          <a:noFill/>
          <a:ln w="12700">
            <a:solidFill>
              <a:srgbClr val="3D3D3A"/>
            </a:solidFill>
            <a:prstDash val="solid"/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905" y="2651760"/>
            <a:ext cx="118872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第2章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935785" y="2651760"/>
            <a:ext cx="964692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情報の伝え方・動かし方（プロンプト／コンテキスト／ハーネス／ループ）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905" y="3310128"/>
            <a:ext cx="10972800" cy="0"/>
          </a:xfrm>
          <a:prstGeom prst="line">
            <a:avLst/>
          </a:prstGeom>
          <a:noFill/>
          <a:ln w="12700">
            <a:solidFill>
              <a:srgbClr val="3D3D3A"/>
            </a:solidFill>
            <a:prstDash val="solid"/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9905" y="3383280"/>
            <a:ext cx="118872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第3章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935785" y="3383280"/>
            <a:ext cx="964692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発散を防ぐ「段取り」— スペックドリブン開発（SDD）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905" y="4041648"/>
            <a:ext cx="10972800" cy="0"/>
          </a:xfrm>
          <a:prstGeom prst="line">
            <a:avLst/>
          </a:prstGeom>
          <a:noFill/>
          <a:ln w="12700">
            <a:solidFill>
              <a:srgbClr val="3D3D3A"/>
            </a:solidFill>
            <a:prstDash val="solid"/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9905" y="4114800"/>
            <a:ext cx="118872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9A86C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第4章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935785" y="4114800"/>
            <a:ext cx="964692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デモンストレーション — 目の前で一つ作る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9905" y="4773168"/>
            <a:ext cx="10972800" cy="0"/>
          </a:xfrm>
          <a:prstGeom prst="line">
            <a:avLst/>
          </a:prstGeom>
          <a:noFill/>
          <a:ln w="12700">
            <a:solidFill>
              <a:srgbClr val="3D3D3A"/>
            </a:solidFill>
            <a:prstDash val="solid"/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9905" y="4846320"/>
            <a:ext cx="118872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第5章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935785" y="4846320"/>
            <a:ext cx="964692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まず一つ、作ってみる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09905" y="5504688"/>
            <a:ext cx="10972800" cy="0"/>
          </a:xfrm>
          <a:prstGeom prst="line">
            <a:avLst/>
          </a:prstGeom>
          <a:noFill/>
          <a:ln w="12700">
            <a:solidFill>
              <a:srgbClr val="3D3D3A"/>
            </a:solidFill>
            <a:prstDash val="solid"/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09905" y="5897880"/>
            <a:ext cx="10972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ゴール＝最後のワークで1つ着手。完成は持ち帰り、詰まったら都度相談でOK。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1463040"/>
            <a:ext cx="1097280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第2章</a:t>
            </a:r>
            <a:endParaRPr lang="en-US" sz="7800" dirty="0"/>
          </a:p>
        </p:txBody>
      </p:sp>
      <p:sp>
        <p:nvSpPr>
          <p:cNvPr id="3" name="Text 1"/>
          <p:cNvSpPr/>
          <p:nvPr/>
        </p:nvSpPr>
        <p:spPr>
          <a:xfrm>
            <a:off x="609905" y="2926080"/>
            <a:ext cx="1097280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どう動くのか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― 基本の流れと、上手に使う4つの工夫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905" y="4480560"/>
            <a:ext cx="10972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4つの工夫は、AIに任せる業務プロセスの設計。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384048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基本の流れ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905" y="1078992"/>
            <a:ext cx="109728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頼む→計画→実行→差分を確認して承認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09905" y="1664208"/>
            <a:ext cx="10972800" cy="0"/>
          </a:xfrm>
          <a:prstGeom prst="line">
            <a:avLst/>
          </a:prstGeom>
          <a:noFill/>
          <a:ln w="12700">
            <a:solidFill>
              <a:srgbClr val="3D3D3A"/>
            </a:solidFill>
            <a:prstDash val="solid"/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905" y="2377440"/>
            <a:ext cx="1938528" cy="1371600"/>
          </a:xfrm>
          <a:prstGeom prst="roundRect">
            <a:avLst>
              <a:gd name="adj" fmla="val 5333"/>
            </a:avLst>
          </a:prstGeom>
          <a:solidFill>
            <a:srgbClr val="232321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905" y="2487168"/>
            <a:ext cx="193852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905" y="2761488"/>
            <a:ext cx="193852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頼む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905" y="3127248"/>
            <a:ext cx="1938528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やりたいことを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日本語で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548433" y="2377440"/>
            <a:ext cx="32004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2868473" y="2377440"/>
            <a:ext cx="1938528" cy="1371600"/>
          </a:xfrm>
          <a:prstGeom prst="roundRect">
            <a:avLst>
              <a:gd name="adj" fmla="val 5333"/>
            </a:avLst>
          </a:prstGeom>
          <a:solidFill>
            <a:srgbClr val="232321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868473" y="2487168"/>
            <a:ext cx="193852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2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868473" y="2761488"/>
            <a:ext cx="193852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計画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2868473" y="3127248"/>
            <a:ext cx="1938528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段取りを立てて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見せる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07001" y="2377440"/>
            <a:ext cx="32004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5127041" y="2377440"/>
            <a:ext cx="1938528" cy="1371600"/>
          </a:xfrm>
          <a:prstGeom prst="roundRect">
            <a:avLst>
              <a:gd name="adj" fmla="val 5333"/>
            </a:avLst>
          </a:prstGeom>
          <a:solidFill>
            <a:srgbClr val="232321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27041" y="2487168"/>
            <a:ext cx="193852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3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127041" y="2761488"/>
            <a:ext cx="193852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127041" y="3127248"/>
            <a:ext cx="1938528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実際に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手を動かす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065569" y="2377440"/>
            <a:ext cx="32004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7385609" y="2377440"/>
            <a:ext cx="1938528" cy="1371600"/>
          </a:xfrm>
          <a:prstGeom prst="roundRect">
            <a:avLst>
              <a:gd name="adj" fmla="val 5333"/>
            </a:avLst>
          </a:prstGeom>
          <a:solidFill>
            <a:srgbClr val="232321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385609" y="2487168"/>
            <a:ext cx="193852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4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85609" y="2761488"/>
            <a:ext cx="193852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差分を確認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385609" y="3127248"/>
            <a:ext cx="1938528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新旧＆理想と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現実の見比べ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324137" y="2377440"/>
            <a:ext cx="32004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9644177" y="2377440"/>
            <a:ext cx="1938528" cy="1371600"/>
          </a:xfrm>
          <a:prstGeom prst="roundRect">
            <a:avLst>
              <a:gd name="adj" fmla="val 5333"/>
            </a:avLst>
          </a:prstGeom>
          <a:solidFill>
            <a:srgbClr val="232321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644177" y="2487168"/>
            <a:ext cx="193852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5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644177" y="2761488"/>
            <a:ext cx="193852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644177" y="3127248"/>
            <a:ext cx="1938528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中身を見て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OKを出す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09905" y="4206240"/>
            <a:ext cx="10972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差分＝①変更前後の新旧比較 ②自分の理想とAIの出した現実のギャップ。要所で必ず人の目が入る。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384048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上手に使う4つの工夫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905" y="1078992"/>
            <a:ext cx="109728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4つの工夫は、AIに任せる業務プロセスの設計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09905" y="1664208"/>
            <a:ext cx="10972800" cy="0"/>
          </a:xfrm>
          <a:prstGeom prst="line">
            <a:avLst/>
          </a:prstGeom>
          <a:noFill/>
          <a:ln w="12700">
            <a:solidFill>
              <a:srgbClr val="3D3D3A"/>
            </a:solidFill>
            <a:prstDash val="solid"/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905" y="178308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905" y="1783080"/>
            <a:ext cx="14173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プロンプト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191817" y="178308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191817" y="1783080"/>
            <a:ext cx="14173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コンテキスト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773729" y="178308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773729" y="1783080"/>
            <a:ext cx="14173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ハーネス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355641" y="178308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55641" y="1783080"/>
            <a:ext cx="14173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ループ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905" y="2331720"/>
            <a:ext cx="457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図1｜情報の伝え方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96405" y="2331720"/>
            <a:ext cx="457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図2｜全体の流れの設計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9905" y="2712720"/>
            <a:ext cx="5334000" cy="2266950"/>
          </a:xfrm>
          <a:prstGeom prst="roundRect">
            <a:avLst>
              <a:gd name="adj" fmla="val 4034"/>
            </a:avLst>
          </a:prstGeom>
          <a:solidFill>
            <a:srgbClr val="1D1D1B"/>
          </a:solidFill>
          <a:ln w="25400">
            <a:solidFill>
              <a:srgbClr val="788C5D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7065" y="2804160"/>
            <a:ext cx="505968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ハーネス｜常設の仕掛け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276655" y="3284220"/>
            <a:ext cx="4000500" cy="1476375"/>
          </a:xfrm>
          <a:prstGeom prst="roundRect">
            <a:avLst>
              <a:gd name="adj" fmla="val 6194"/>
            </a:avLst>
          </a:prstGeom>
          <a:solidFill>
            <a:srgbClr val="232321"/>
          </a:solidFill>
          <a:ln w="25400">
            <a:solidFill>
              <a:srgbClr val="6A9BCC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413815" y="3375660"/>
            <a:ext cx="372618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コンテキスト｜渡す情報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2038655" y="3836670"/>
            <a:ext cx="2476500" cy="762000"/>
          </a:xfrm>
          <a:prstGeom prst="roundRect">
            <a:avLst>
              <a:gd name="adj" fmla="val 12000"/>
            </a:avLst>
          </a:prstGeom>
          <a:solidFill>
            <a:srgbClr val="1D1D1B"/>
          </a:solidFill>
          <a:ln w="2540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175815" y="3928110"/>
            <a:ext cx="220218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プロンプト｜頼み方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09905" y="5093970"/>
            <a:ext cx="5330952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プロンプト⊆コンテキスト⊆ハーネスの入れ子。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896405" y="2712720"/>
            <a:ext cx="4476750" cy="2651760"/>
          </a:xfrm>
          <a:prstGeom prst="roundRect">
            <a:avLst>
              <a:gd name="adj" fmla="val 3448"/>
            </a:avLst>
          </a:prstGeom>
          <a:solidFill>
            <a:srgbClr val="1D1D1B"/>
          </a:solidFill>
          <a:ln w="19050">
            <a:solidFill>
              <a:srgbClr val="9A86C4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079285" y="2822448"/>
            <a:ext cx="411099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9A86C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ループ＝PDCAで回して良くする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7079285" y="3169920"/>
            <a:ext cx="4110990" cy="329184"/>
          </a:xfrm>
          <a:prstGeom prst="roundRect">
            <a:avLst>
              <a:gd name="adj" fmla="val 16667"/>
            </a:avLst>
          </a:prstGeom>
          <a:solidFill>
            <a:srgbClr val="232321"/>
          </a:solidFill>
          <a:ln w="19050">
            <a:solidFill>
              <a:srgbClr val="9A86C4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079285" y="3169920"/>
            <a:ext cx="411099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計画 ＝ 段取り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079285" y="3499104"/>
            <a:ext cx="411099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86C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↓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79285" y="3700272"/>
            <a:ext cx="4110990" cy="329184"/>
          </a:xfrm>
          <a:prstGeom prst="roundRect">
            <a:avLst>
              <a:gd name="adj" fmla="val 16667"/>
            </a:avLst>
          </a:prstGeom>
          <a:solidFill>
            <a:srgbClr val="232321"/>
          </a:solidFill>
          <a:ln w="19050">
            <a:solidFill>
              <a:srgbClr val="9A86C4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079285" y="3700272"/>
            <a:ext cx="411099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 ＝ 頼む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079285" y="4029456"/>
            <a:ext cx="411099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86C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↓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079285" y="4230624"/>
            <a:ext cx="4110990" cy="329184"/>
          </a:xfrm>
          <a:prstGeom prst="roundRect">
            <a:avLst>
              <a:gd name="adj" fmla="val 16667"/>
            </a:avLst>
          </a:prstGeom>
          <a:solidFill>
            <a:srgbClr val="232321"/>
          </a:solidFill>
          <a:ln w="19050">
            <a:solidFill>
              <a:srgbClr val="9A86C4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079285" y="4230624"/>
            <a:ext cx="411099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確認 ＝ 差分を見る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079285" y="4559808"/>
            <a:ext cx="411099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86C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↓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079285" y="4760976"/>
            <a:ext cx="4110990" cy="329184"/>
          </a:xfrm>
          <a:prstGeom prst="roundRect">
            <a:avLst>
              <a:gd name="adj" fmla="val 16667"/>
            </a:avLst>
          </a:prstGeom>
          <a:solidFill>
            <a:srgbClr val="232321"/>
          </a:solidFill>
          <a:ln w="19050">
            <a:solidFill>
              <a:srgbClr val="9A86C4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079285" y="4760976"/>
            <a:ext cx="411099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改善 ＝ 直して寄せる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079285" y="5135880"/>
            <a:ext cx="411099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86C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↩ 何度も回して狙いに寄せる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384048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プロンプト・エンジニアリング ― 頼み方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905" y="1078992"/>
            <a:ext cx="109728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頼み方の工夫＝具体・お手本・役割・構造化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09905" y="1664208"/>
            <a:ext cx="10972800" cy="0"/>
          </a:xfrm>
          <a:prstGeom prst="line">
            <a:avLst/>
          </a:prstGeom>
          <a:noFill/>
          <a:ln w="12700">
            <a:solidFill>
              <a:srgbClr val="3D3D3A"/>
            </a:solidFill>
            <a:prstDash val="solid"/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905" y="178308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905" y="1783080"/>
            <a:ext cx="14173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プロンプト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191817" y="178308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191817" y="1783080"/>
            <a:ext cx="14173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コンテキスト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773729" y="178308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773729" y="1783080"/>
            <a:ext cx="14173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ハーネス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355641" y="178308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55641" y="1783080"/>
            <a:ext cx="14173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ループ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905" y="2286000"/>
            <a:ext cx="10972800" cy="3703320"/>
          </a:xfrm>
          <a:prstGeom prst="roundRect">
            <a:avLst>
              <a:gd name="adj" fmla="val 1975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84225" y="2450592"/>
            <a:ext cx="685800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 役割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010705" y="2450592"/>
            <a:ext cx="42976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指示の構造化（見出しで整理）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84225" y="2752344"/>
            <a:ext cx="685800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あなたは製造現場の品質管理を助けるアシスタントです。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010705" y="2752344"/>
            <a:ext cx="42976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ロールプロンプティング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84225" y="3054096"/>
            <a:ext cx="685800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 背景・目的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010705" y="3054096"/>
            <a:ext cx="42976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背景・目的を伝える（コンテキスト伝達）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84225" y="3355848"/>
            <a:ext cx="685800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点検記録CSVから、設備ごと・月ごとの異常件数を集計したい。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84225" y="3657600"/>
            <a:ext cx="685800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結論→根拠→例→まとめの順で簡潔に。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010705" y="3657600"/>
            <a:ext cx="42976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PREP法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84225" y="3959352"/>
            <a:ext cx="685800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 入力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84225" y="4261104"/>
            <a:ext cx="685800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@点検記録.csv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7010705" y="4261104"/>
            <a:ext cx="42976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＠でファイル参照（コンテキスト添付）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84225" y="4562856"/>
            <a:ext cx="685800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 出力（お手本）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884225" y="4864608"/>
            <a:ext cx="685800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| 設備 | 月 | 異常件数 |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884225" y="5166360"/>
            <a:ext cx="685800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| 設備A | 7月 | 3件 |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7010705" y="5166360"/>
            <a:ext cx="42976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フューショット（お手本を1つ示す）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84225" y="5468112"/>
            <a:ext cx="685800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/format-table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7010705" y="5468112"/>
            <a:ext cx="42976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スラッシュコマンド（定型指示を呼ぶ）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384048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コンテキスト・エンジニアリング ― 渡す情報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905" y="1078992"/>
            <a:ext cx="109728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渡す情報の設計＝必要な情報を十分な量で適切なタイミングで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09905" y="1664208"/>
            <a:ext cx="10972800" cy="0"/>
          </a:xfrm>
          <a:prstGeom prst="line">
            <a:avLst/>
          </a:prstGeom>
          <a:noFill/>
          <a:ln w="12700">
            <a:solidFill>
              <a:srgbClr val="3D3D3A"/>
            </a:solidFill>
            <a:prstDash val="solid"/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905" y="178308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905" y="1783080"/>
            <a:ext cx="14173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プロンプト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191817" y="178308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6A9BCC"/>
          </a:solidFill>
          <a:ln w="19050">
            <a:solidFill>
              <a:srgbClr val="6A9BCC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191817" y="1783080"/>
            <a:ext cx="14173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コンテキスト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773729" y="178308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773729" y="1783080"/>
            <a:ext cx="14173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ハーネス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355641" y="178308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55641" y="1783080"/>
            <a:ext cx="14173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ループ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905" y="233172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2785" y="2514600"/>
            <a:ext cx="22402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92785" y="2880360"/>
            <a:ext cx="22402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＠ファイル参照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92785" y="3383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必要なファイルを ＠ で名指しして渡す。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398825" y="233172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81705" y="2514600"/>
            <a:ext cx="22402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581705" y="2880360"/>
            <a:ext cx="22402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RAG（検索）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581705" y="3383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社内文書を検索し、根拠として渡す。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187745" y="233172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70625" y="2514600"/>
            <a:ext cx="22402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70625" y="2880360"/>
            <a:ext cx="22402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MCP接続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370625" y="3383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外部のデータやシステムにつなぐ接続口。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8976665" y="233172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159545" y="2514600"/>
            <a:ext cx="22402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159545" y="2880360"/>
            <a:ext cx="22402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自動で載る文脈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59545" y="3383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システムプロンプト・メモリ・CLAUDE.md・環境情報も渡っている。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609905" y="4754880"/>
            <a:ext cx="10972800" cy="640080"/>
          </a:xfrm>
          <a:prstGeom prst="rect">
            <a:avLst/>
          </a:prstGeom>
          <a:solidFill>
            <a:srgbClr val="1D1D1B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09905" y="4754880"/>
            <a:ext cx="54864" cy="640080"/>
          </a:xfrm>
          <a:prstGeom prst="rect">
            <a:avLst/>
          </a:prstGeom>
          <a:solidFill>
            <a:srgbClr val="6A9BCC"/>
          </a:solidFill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22960" y="4828032"/>
            <a:ext cx="10515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＋ 音声入力（実用手法）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822960" y="5102352"/>
            <a:ext cx="10515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背景・経緯を声でまとめて速く渡せる。量と速さが一気に上がる。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384048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ハーネス ― あなたが仕込んで制御する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905" y="1078992"/>
            <a:ext cx="109728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常設の指示と安全柵で、Claude Code を制御する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09905" y="1664208"/>
            <a:ext cx="10972800" cy="0"/>
          </a:xfrm>
          <a:prstGeom prst="line">
            <a:avLst/>
          </a:prstGeom>
          <a:noFill/>
          <a:ln w="12700">
            <a:solidFill>
              <a:srgbClr val="3D3D3A"/>
            </a:solidFill>
            <a:prstDash val="solid"/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905" y="173736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905" y="1737360"/>
            <a:ext cx="14173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プロンプト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191817" y="173736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191817" y="1737360"/>
            <a:ext cx="14173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コンテキスト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773729" y="173736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788C5D"/>
          </a:solidFill>
          <a:ln w="19050">
            <a:solidFill>
              <a:srgbClr val="788C5D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773729" y="1737360"/>
            <a:ext cx="14173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ハーネス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355641" y="173736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55641" y="1737360"/>
            <a:ext cx="14173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ループ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905" y="2194560"/>
            <a:ext cx="109728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指示・手順を常設する（あなたが書く2つ）　　読む順：グローバル → プロジェクト（後に読むほうが強く効く）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9905" y="2514600"/>
            <a:ext cx="5372100" cy="1600200"/>
          </a:xfrm>
          <a:prstGeom prst="roundRect">
            <a:avLst>
              <a:gd name="adj" fmla="val 5714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38505" y="2624328"/>
            <a:ext cx="49149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CLAUDE.md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8505" y="3017520"/>
            <a:ext cx="49149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What</a:t>
            </a:r>
            <a:pPr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規約・ビルド/テスト手順・常設ルール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38505" y="3273552"/>
            <a:ext cx="49149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When</a:t>
            </a:r>
            <a:pPr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毎セッション冒頭に全文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8505" y="3529584"/>
            <a:ext cx="49149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How</a:t>
            </a:r>
            <a:pPr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“お願い”（強制なし・止めるなら hooks）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8505" y="3785616"/>
            <a:ext cx="49149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Where</a:t>
            </a:r>
            <a:pPr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pPr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~/.claude/CLAUDE.md</a:t>
            </a:r>
            <a:pPr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→ </a:t>
            </a:r>
            <a:pPr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./CLAUDE.md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210605" y="2514600"/>
            <a:ext cx="5372100" cy="1600200"/>
          </a:xfrm>
          <a:prstGeom prst="roundRect">
            <a:avLst>
              <a:gd name="adj" fmla="val 5714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39205" y="2624328"/>
            <a:ext cx="49149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39205" y="3017520"/>
            <a:ext cx="49149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What</a:t>
            </a:r>
            <a:pPr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繰り返す手順を SKILL.md に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9205" y="3273552"/>
            <a:ext cx="49149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When</a:t>
            </a:r>
            <a:pPr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関連時に自動 or /名前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39205" y="3529584"/>
            <a:ext cx="49149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How</a:t>
            </a:r>
            <a:pPr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説明文は常時・本体は使う時だけ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39205" y="3785616"/>
            <a:ext cx="49149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Where</a:t>
            </a:r>
            <a:pPr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pPr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~/.claude/skills/</a:t>
            </a:r>
            <a:pPr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→ </a:t>
            </a:r>
            <a:pPr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.claude/skills/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09905" y="4224528"/>
            <a:ext cx="109728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実行を制御し、安全にするガードレール、判断を自動化するルール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09905" y="4572000"/>
            <a:ext cx="10972800" cy="1280160"/>
          </a:xfrm>
          <a:prstGeom prst="roundRect">
            <a:avLst>
              <a:gd name="adj" fmla="val 5714"/>
            </a:avLst>
          </a:prstGeom>
          <a:solidFill>
            <a:srgbClr val="1D1D1B"/>
          </a:solidFill>
          <a:ln w="19050">
            <a:solidFill>
              <a:srgbClr val="788C5D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22960" y="4663440"/>
            <a:ext cx="10515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settings.json（グローバル/プロジェクトあり・Managed ＞ Project ＞ User）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22960" y="502920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232321"/>
          </a:solidFill>
          <a:ln w="19050">
            <a:solidFill>
              <a:srgbClr val="788C5D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22960" y="5029200"/>
            <a:ext cx="123444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依頼を実行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057400" y="5029200"/>
            <a:ext cx="36576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2423160" y="502920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423160" y="5120640"/>
            <a:ext cx="173736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hooks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423160" y="5431536"/>
            <a:ext cx="173736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門番・止める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160520" y="5029200"/>
            <a:ext cx="36576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4526280" y="502920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526280" y="5120640"/>
            <a:ext cx="173736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権限モード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526280" y="5431536"/>
            <a:ext cx="173736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毎回確認 or 自動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263640" y="5029200"/>
            <a:ext cx="36576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40" name="Text 38"/>
          <p:cNvSpPr/>
          <p:nvPr/>
        </p:nvSpPr>
        <p:spPr>
          <a:xfrm>
            <a:off x="6629400" y="502920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629400" y="5120640"/>
            <a:ext cx="173736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サンドボックス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629400" y="5431536"/>
            <a:ext cx="173736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コマンド実行を隔離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8366760" y="5029200"/>
            <a:ext cx="36576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44" name="Text 42"/>
          <p:cNvSpPr/>
          <p:nvPr/>
        </p:nvSpPr>
        <p:spPr>
          <a:xfrm>
            <a:off x="8732520" y="502920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232321"/>
          </a:solidFill>
          <a:ln w="19050">
            <a:solidFill>
              <a:srgbClr val="788C5D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8732520" y="5029200"/>
            <a:ext cx="123444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実行される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384048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ループ・エンジニアリング ― 回し方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905" y="1078992"/>
            <a:ext cx="109728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回し方＝業務ループを設計して自動で回す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09905" y="1664208"/>
            <a:ext cx="10972800" cy="0"/>
          </a:xfrm>
          <a:prstGeom prst="line">
            <a:avLst/>
          </a:prstGeom>
          <a:noFill/>
          <a:ln w="12700">
            <a:solidFill>
              <a:srgbClr val="3D3D3A"/>
            </a:solidFill>
            <a:prstDash val="solid"/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905" y="178308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905" y="1783080"/>
            <a:ext cx="14173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プロンプト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191817" y="178308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191817" y="1783080"/>
            <a:ext cx="14173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コンテキスト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773729" y="178308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773729" y="1783080"/>
            <a:ext cx="14173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ハーネス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355641" y="178308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9A86C4"/>
          </a:solidFill>
          <a:ln w="19050">
            <a:solidFill>
              <a:srgbClr val="9A86C4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55641" y="1783080"/>
            <a:ext cx="14173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ループ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905" y="2468880"/>
            <a:ext cx="1473490" cy="1097280"/>
          </a:xfrm>
          <a:prstGeom prst="roundRect">
            <a:avLst>
              <a:gd name="adj" fmla="val 6667"/>
            </a:avLst>
          </a:prstGeom>
          <a:solidFill>
            <a:srgbClr val="232321"/>
          </a:solidFill>
          <a:ln w="19050">
            <a:solidFill>
              <a:srgbClr val="9A86C4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9905" y="2468880"/>
            <a:ext cx="147349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86C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Trigger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93123" y="2468880"/>
            <a:ext cx="1473490" cy="1097280"/>
          </a:xfrm>
          <a:prstGeom prst="roundRect">
            <a:avLst>
              <a:gd name="adj" fmla="val 6667"/>
            </a:avLst>
          </a:prstGeom>
          <a:solidFill>
            <a:srgbClr val="232321"/>
          </a:solidFill>
          <a:ln w="19050">
            <a:solidFill>
              <a:srgbClr val="9A86C4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193123" y="2468880"/>
            <a:ext cx="147349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86C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Input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776341" y="2468880"/>
            <a:ext cx="1473490" cy="1097280"/>
          </a:xfrm>
          <a:prstGeom prst="roundRect">
            <a:avLst>
              <a:gd name="adj" fmla="val 6667"/>
            </a:avLst>
          </a:prstGeom>
          <a:solidFill>
            <a:srgbClr val="232321"/>
          </a:solidFill>
          <a:ln w="19050">
            <a:solidFill>
              <a:srgbClr val="9A86C4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776341" y="2468880"/>
            <a:ext cx="147349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86C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59560" y="2468880"/>
            <a:ext cx="1473490" cy="1097280"/>
          </a:xfrm>
          <a:prstGeom prst="roundRect">
            <a:avLst>
              <a:gd name="adj" fmla="val 6667"/>
            </a:avLst>
          </a:prstGeom>
          <a:solidFill>
            <a:srgbClr val="232321"/>
          </a:solidFill>
          <a:ln w="19050">
            <a:solidFill>
              <a:srgbClr val="9A86C4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59560" y="2468880"/>
            <a:ext cx="147349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86C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42778" y="2468880"/>
            <a:ext cx="1473490" cy="1097280"/>
          </a:xfrm>
          <a:prstGeom prst="roundRect">
            <a:avLst>
              <a:gd name="adj" fmla="val 6667"/>
            </a:avLst>
          </a:prstGeom>
          <a:solidFill>
            <a:srgbClr val="232321"/>
          </a:solidFill>
          <a:ln w="19050">
            <a:solidFill>
              <a:srgbClr val="9A86C4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942778" y="2468880"/>
            <a:ext cx="147349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86C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525996" y="2468880"/>
            <a:ext cx="1473490" cy="1097280"/>
          </a:xfrm>
          <a:prstGeom prst="roundRect">
            <a:avLst>
              <a:gd name="adj" fmla="val 6667"/>
            </a:avLst>
          </a:prstGeom>
          <a:solidFill>
            <a:srgbClr val="232321"/>
          </a:solidFill>
          <a:ln w="19050">
            <a:solidFill>
              <a:srgbClr val="9A86C4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525996" y="2468880"/>
            <a:ext cx="147349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86C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Escalation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109215" y="2468880"/>
            <a:ext cx="1473490" cy="1097280"/>
          </a:xfrm>
          <a:prstGeom prst="roundRect">
            <a:avLst>
              <a:gd name="adj" fmla="val 6667"/>
            </a:avLst>
          </a:prstGeom>
          <a:solidFill>
            <a:srgbClr val="232321"/>
          </a:solidFill>
          <a:ln w="19050">
            <a:solidFill>
              <a:srgbClr val="9A86C4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0109215" y="2468880"/>
            <a:ext cx="147349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86C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Stop Condition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9905" y="3794760"/>
            <a:ext cx="10972800" cy="594360"/>
          </a:xfrm>
          <a:prstGeom prst="roundRect">
            <a:avLst>
              <a:gd name="adj" fmla="val 12308"/>
            </a:avLst>
          </a:prstGeom>
          <a:solidFill>
            <a:srgbClr val="1D1D1B"/>
          </a:solidFill>
          <a:ln w="19050">
            <a:solidFill>
              <a:srgbClr val="9A86C4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09905" y="3794760"/>
            <a:ext cx="10972800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A86C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↺ 一巡して循環 — 100点の条件を先に決めれば、合格まで自動で回って閉じる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09905" y="4617720"/>
            <a:ext cx="10972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「ループ／7点セット」は平易化の枠（一般の呼称。公式は agentic／feedback loop）。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1463040"/>
            <a:ext cx="1097280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第3章</a:t>
            </a:r>
            <a:endParaRPr lang="en-US" sz="7800" dirty="0"/>
          </a:p>
        </p:txBody>
      </p:sp>
      <p:sp>
        <p:nvSpPr>
          <p:cNvPr id="3" name="Text 1"/>
          <p:cNvSpPr/>
          <p:nvPr/>
        </p:nvSpPr>
        <p:spPr>
          <a:xfrm>
            <a:off x="609905" y="2926080"/>
            <a:ext cx="1097280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発散の罠と「段取り八分」（SDD）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905" y="4480560"/>
            <a:ext cx="10972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先に決めるほど、狙った物ができる。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384048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思いつきで足したら、使えない物ができた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905" y="1078992"/>
            <a:ext cx="109728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適当に足すと、機能が発散して使えなくなる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09905" y="1664208"/>
            <a:ext cx="10972800" cy="0"/>
          </a:xfrm>
          <a:prstGeom prst="line">
            <a:avLst/>
          </a:prstGeom>
          <a:noFill/>
          <a:ln w="12700">
            <a:solidFill>
              <a:srgbClr val="3D3D3A"/>
            </a:solidFill>
            <a:prstDash val="solid"/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14800" y="201168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297680" y="2084832"/>
            <a:ext cx="51206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登壇者（当時）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97680" y="2322576"/>
            <a:ext cx="5120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これも便利そう、ついでに追加して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71600" y="2779776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554480" y="2852928"/>
            <a:ext cx="51206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554480" y="3090672"/>
            <a:ext cx="5120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承知しました。機能を追加しました。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554480" y="3383280"/>
            <a:ext cx="512064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↑ 言語化されない要件を、AIが推測で埋めていく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0" y="3803904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297680" y="3877056"/>
            <a:ext cx="51206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登壇者（当時）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97680" y="4114800"/>
            <a:ext cx="5120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あれもこれも…（次々と付け足す）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71600" y="457200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554480" y="4645152"/>
            <a:ext cx="51206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54480" y="4882896"/>
            <a:ext cx="5120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さらに追加しました。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554480" y="5175504"/>
            <a:ext cx="512064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↑ 目的がぼやけ、何のためのツールか説明できない物に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9905" y="5852160"/>
            <a:ext cx="10972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一番つらいのは時間より、苦労して作り込んだ労力そのものが無駄になったこと。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384048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段取り八分 ― スペックドリブン開発（SDD）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905" y="1078992"/>
            <a:ext cx="109728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先に決めるほど、狙った物ができる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09905" y="1664208"/>
            <a:ext cx="10972800" cy="0"/>
          </a:xfrm>
          <a:prstGeom prst="line">
            <a:avLst/>
          </a:prstGeom>
          <a:noFill/>
          <a:ln w="12700">
            <a:solidFill>
              <a:srgbClr val="3D3D3A"/>
            </a:solidFill>
            <a:prstDash val="solid"/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905" y="1828800"/>
            <a:ext cx="109728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作る前に要件を固める＝SDD。現場の段取り八分と同じ。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905" y="2240280"/>
            <a:ext cx="109728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要件の固め方 ― 3ステップ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905" y="2560320"/>
            <a:ext cx="3444240" cy="1280160"/>
          </a:xfrm>
          <a:prstGeom prst="roundRect">
            <a:avLst>
              <a:gd name="adj" fmla="val 5714"/>
            </a:avLst>
          </a:prstGeom>
          <a:solidFill>
            <a:srgbClr val="232321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905" y="2670048"/>
            <a:ext cx="344424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1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9905" y="2944368"/>
            <a:ext cx="344424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AIに質問させる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09905" y="3310128"/>
            <a:ext cx="344424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「必要なことを質問して」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聞き役をAIに任せる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054145" y="2560320"/>
            <a:ext cx="32004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374185" y="2560320"/>
            <a:ext cx="3444240" cy="1280160"/>
          </a:xfrm>
          <a:prstGeom prst="roundRect">
            <a:avLst>
              <a:gd name="adj" fmla="val 5714"/>
            </a:avLst>
          </a:prstGeom>
          <a:solidFill>
            <a:srgbClr val="232321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374185" y="2670048"/>
            <a:ext cx="344424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2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374185" y="2944368"/>
            <a:ext cx="344424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答えて渡しきる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374185" y="3310128"/>
            <a:ext cx="344424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何のために・誰が使う・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今どう困っているか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818425" y="2560320"/>
            <a:ext cx="32004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8138465" y="2560320"/>
            <a:ext cx="3444240" cy="1280160"/>
          </a:xfrm>
          <a:prstGeom prst="roundRect">
            <a:avLst>
              <a:gd name="adj" fmla="val 5714"/>
            </a:avLst>
          </a:prstGeom>
          <a:solidFill>
            <a:srgbClr val="232321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138465" y="2670048"/>
            <a:ext cx="344424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3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138465" y="2944368"/>
            <a:ext cx="344424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requirements.md に整形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138465" y="3310128"/>
            <a:ext cx="344424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やり取りをまとめ、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要件を1枚の文書にする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905" y="3977640"/>
            <a:ext cx="109728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決める中身 ― 2つ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09905" y="4297680"/>
            <a:ext cx="5372100" cy="1371600"/>
          </a:xfrm>
          <a:prstGeom prst="roundRect">
            <a:avLst>
              <a:gd name="adj" fmla="val 6667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38505" y="4462272"/>
            <a:ext cx="49149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作るもの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8505" y="4846320"/>
            <a:ext cx="49149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欲しい成果物を一文で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例：設備別・月次の異常件数を集計する表。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210605" y="4297680"/>
            <a:ext cx="5372100" cy="1371600"/>
          </a:xfrm>
          <a:prstGeom prst="roundRect">
            <a:avLst>
              <a:gd name="adj" fmla="val 6667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439205" y="4462272"/>
            <a:ext cx="49149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作らないもの（Non-Goals）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39205" y="4846320"/>
            <a:ext cx="49149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範囲の外を先に明記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例：リアルタイム監視はしない。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384048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ダメな頼み方 vs 段取りした頼み方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905" y="1078992"/>
            <a:ext cx="109728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同じAIでも、段取りで結果が変わる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09905" y="1664208"/>
            <a:ext cx="10972800" cy="0"/>
          </a:xfrm>
          <a:prstGeom prst="line">
            <a:avLst/>
          </a:prstGeom>
          <a:noFill/>
          <a:ln w="12700">
            <a:solidFill>
              <a:srgbClr val="3D3D3A"/>
            </a:solidFill>
            <a:prstDash val="solid"/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905" y="1828800"/>
            <a:ext cx="5372100" cy="1645920"/>
          </a:xfrm>
          <a:prstGeom prst="roundRect">
            <a:avLst>
              <a:gd name="adj" fmla="val 5556"/>
            </a:avLst>
          </a:prstGeom>
          <a:solidFill>
            <a:srgbClr val="1D1D1B"/>
          </a:solidFill>
          <a:ln w="19050">
            <a:solidFill>
              <a:srgbClr val="1D1D1B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4225" y="1965960"/>
            <a:ext cx="482346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悪い頼み方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884225" y="2468880"/>
            <a:ext cx="4823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「点検データをいい感じに整理して」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何が「いい感じ」かAIが推測で埋める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直すたび別方向へ発散し、収束しない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210605" y="1828800"/>
            <a:ext cx="5372100" cy="1645920"/>
          </a:xfrm>
          <a:prstGeom prst="roundRect">
            <a:avLst>
              <a:gd name="adj" fmla="val 5556"/>
            </a:avLst>
          </a:prstGeom>
          <a:solidFill>
            <a:srgbClr val="232321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84925" y="1965960"/>
            <a:ext cx="482346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段取りした頼み方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484925" y="2468880"/>
            <a:ext cx="4823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欲しい成果物を一文で言い切る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やらないこと（Non-Goals）を明記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こう出してほしい例を一つ添える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09905" y="3749040"/>
            <a:ext cx="109728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SDD＝仕様を「唯一の正解」にして進める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09905" y="4069080"/>
            <a:ext cx="2503170" cy="1051560"/>
          </a:xfrm>
          <a:prstGeom prst="roundRect">
            <a:avLst>
              <a:gd name="adj" fmla="val 6957"/>
            </a:avLst>
          </a:prstGeom>
          <a:solidFill>
            <a:srgbClr val="232321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9905" y="4178808"/>
            <a:ext cx="250317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Specify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09905" y="4544568"/>
            <a:ext cx="250317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仕様を決める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113075" y="4069080"/>
            <a:ext cx="320040" cy="1051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3433115" y="4069080"/>
            <a:ext cx="2503170" cy="1051560"/>
          </a:xfrm>
          <a:prstGeom prst="roundRect">
            <a:avLst>
              <a:gd name="adj" fmla="val 6957"/>
            </a:avLst>
          </a:prstGeom>
          <a:solidFill>
            <a:srgbClr val="232321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33115" y="4178808"/>
            <a:ext cx="250317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Plan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433115" y="4544568"/>
            <a:ext cx="250317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計画を立てる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936285" y="4069080"/>
            <a:ext cx="320040" cy="1051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6256325" y="4069080"/>
            <a:ext cx="2503170" cy="1051560"/>
          </a:xfrm>
          <a:prstGeom prst="roundRect">
            <a:avLst>
              <a:gd name="adj" fmla="val 6957"/>
            </a:avLst>
          </a:prstGeom>
          <a:solidFill>
            <a:srgbClr val="232321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56325" y="4178808"/>
            <a:ext cx="250317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Tasks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256325" y="4544568"/>
            <a:ext cx="250317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作業に分ける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759495" y="4069080"/>
            <a:ext cx="320040" cy="1051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079535" y="4069080"/>
            <a:ext cx="2503170" cy="1051560"/>
          </a:xfrm>
          <a:prstGeom prst="roundRect">
            <a:avLst>
              <a:gd name="adj" fmla="val 6957"/>
            </a:avLst>
          </a:prstGeom>
          <a:solidFill>
            <a:srgbClr val="232321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079535" y="4178808"/>
            <a:ext cx="250317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Implement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079535" y="4544568"/>
            <a:ext cx="250317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作る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09905" y="5394960"/>
            <a:ext cx="10972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公式のガイドも「まずAIに質問させて仕様を書く」を推奨 ― 前ページのやり方と同じ。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1463040"/>
            <a:ext cx="1097280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第4章</a:t>
            </a:r>
            <a:endParaRPr lang="en-US" sz="7800" dirty="0"/>
          </a:p>
        </p:txBody>
      </p:sp>
      <p:sp>
        <p:nvSpPr>
          <p:cNvPr id="3" name="Text 1"/>
          <p:cNvSpPr/>
          <p:nvPr/>
        </p:nvSpPr>
        <p:spPr>
          <a:xfrm>
            <a:off x="609905" y="2926080"/>
            <a:ext cx="1097280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まず一つ、目の前で動かす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905" y="4480560"/>
            <a:ext cx="10972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小さく可逆な一つを選び、危ういものは止める。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384048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最初の一歩の選び方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905" y="1078992"/>
            <a:ext cx="109728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最初は小さく・可逆・自己完結な一つ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09905" y="1664208"/>
            <a:ext cx="10972800" cy="0"/>
          </a:xfrm>
          <a:prstGeom prst="line">
            <a:avLst/>
          </a:prstGeom>
          <a:noFill/>
          <a:ln w="12700">
            <a:solidFill>
              <a:srgbClr val="3D3D3A"/>
            </a:solidFill>
            <a:prstDash val="solid"/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905" y="2103120"/>
            <a:ext cx="3505200" cy="2377440"/>
          </a:xfrm>
          <a:prstGeom prst="roundRect">
            <a:avLst>
              <a:gd name="adj" fmla="val 3846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4225" y="2377440"/>
            <a:ext cx="29565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84225" y="2834640"/>
            <a:ext cx="295656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小さく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884225" y="3474720"/>
            <a:ext cx="295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一つの作業に閉じている。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一文で言えるならそのまま頼む。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343705" y="2103120"/>
            <a:ext cx="3505200" cy="2377440"/>
          </a:xfrm>
          <a:prstGeom prst="roundRect">
            <a:avLst>
              <a:gd name="adj" fmla="val 3846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18025" y="2377440"/>
            <a:ext cx="29565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18025" y="2834640"/>
            <a:ext cx="295656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可逆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618025" y="3474720"/>
            <a:ext cx="295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気に入らなければ、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すぐ元の状態に戻せる。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077505" y="2103120"/>
            <a:ext cx="3505200" cy="2377440"/>
          </a:xfrm>
          <a:prstGeom prst="roundRect">
            <a:avLst>
              <a:gd name="adj" fmla="val 3846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351825" y="2377440"/>
            <a:ext cx="29565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51825" y="2834640"/>
            <a:ext cx="295656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自己完結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8351825" y="3474720"/>
            <a:ext cx="295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他の仕事や他の人に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影響が波及しない。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09905" y="4754880"/>
            <a:ext cx="10972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製造例＝点検記録の集計、様式の変換、散らばったデータの整理など。生産設備の制御は選ばない。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384048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止めどころ — 危ういものは触らない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905" y="1078992"/>
            <a:ext cx="109728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秘密情報・本番・決済に触れたら止める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09905" y="1664208"/>
            <a:ext cx="10972800" cy="0"/>
          </a:xfrm>
          <a:prstGeom prst="line">
            <a:avLst/>
          </a:prstGeom>
          <a:noFill/>
          <a:ln w="12700">
            <a:solidFill>
              <a:srgbClr val="3D3D3A"/>
            </a:solidFill>
            <a:prstDash val="solid"/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905" y="1828800"/>
            <a:ext cx="109728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権限は既定で毎回確認。承認前に必ず差分を読む。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905" y="2286000"/>
            <a:ext cx="3505200" cy="2194560"/>
          </a:xfrm>
          <a:prstGeom prst="roundRect">
            <a:avLst>
              <a:gd name="adj" fmla="val 4167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4225" y="2560320"/>
            <a:ext cx="29565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触らない 01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84225" y="2971800"/>
            <a:ext cx="29565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客先データ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4225" y="3474720"/>
            <a:ext cx="295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お客様から預かった情報には手を出さない。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343705" y="2286000"/>
            <a:ext cx="3505200" cy="2194560"/>
          </a:xfrm>
          <a:prstGeom prst="roundRect">
            <a:avLst>
              <a:gd name="adj" fmla="val 4167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18025" y="2560320"/>
            <a:ext cx="29565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触らない 02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18025" y="2971800"/>
            <a:ext cx="29565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生産設備の本番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8025" y="3474720"/>
            <a:ext cx="295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実際に稼働している本番環境は動かさない。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077505" y="2286000"/>
            <a:ext cx="3505200" cy="2194560"/>
          </a:xfrm>
          <a:prstGeom prst="roundRect">
            <a:avLst>
              <a:gd name="adj" fmla="val 4167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351825" y="2560320"/>
            <a:ext cx="29565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触らない 03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51825" y="2971800"/>
            <a:ext cx="29565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個人情報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51825" y="3474720"/>
            <a:ext cx="295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個人情報を含むものは今日は扱わない。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09905" y="4754880"/>
            <a:ext cx="10972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外部に影響する操作は自動承認されない。迷ったら、選ばない方を選ぶ。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384048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お手本実演 — 目の前で一つ作る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905" y="1078992"/>
            <a:ext cx="109728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段取り→頼む→寄せるを見れば、あなたも動かせる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09905" y="1664208"/>
            <a:ext cx="10972800" cy="0"/>
          </a:xfrm>
          <a:prstGeom prst="line">
            <a:avLst/>
          </a:prstGeom>
          <a:noFill/>
          <a:ln w="12700">
            <a:solidFill>
              <a:srgbClr val="3D3D3A"/>
            </a:solidFill>
            <a:prstDash val="solid"/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905" y="2103120"/>
            <a:ext cx="2503170" cy="1143000"/>
          </a:xfrm>
          <a:prstGeom prst="roundRect">
            <a:avLst>
              <a:gd name="adj" fmla="val 6400"/>
            </a:avLst>
          </a:prstGeom>
          <a:solidFill>
            <a:srgbClr val="232321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905" y="2212848"/>
            <a:ext cx="250317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905" y="2487168"/>
            <a:ext cx="250317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段取り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905" y="2852928"/>
            <a:ext cx="250317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1枚で決める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113075" y="2103120"/>
            <a:ext cx="32004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3433115" y="2103120"/>
            <a:ext cx="2503170" cy="1143000"/>
          </a:xfrm>
          <a:prstGeom prst="roundRect">
            <a:avLst>
              <a:gd name="adj" fmla="val 6400"/>
            </a:avLst>
          </a:prstGeom>
          <a:solidFill>
            <a:srgbClr val="232321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33115" y="2212848"/>
            <a:ext cx="250317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33115" y="2487168"/>
            <a:ext cx="250317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頼む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433115" y="2852928"/>
            <a:ext cx="250317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日本語で伝える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936285" y="2103120"/>
            <a:ext cx="32004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6256325" y="2103120"/>
            <a:ext cx="2503170" cy="1143000"/>
          </a:xfrm>
          <a:prstGeom prst="roundRect">
            <a:avLst>
              <a:gd name="adj" fmla="val 6400"/>
            </a:avLst>
          </a:prstGeom>
          <a:solidFill>
            <a:srgbClr val="232321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56325" y="2212848"/>
            <a:ext cx="250317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256325" y="2487168"/>
            <a:ext cx="250317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計画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256325" y="2852928"/>
            <a:ext cx="250317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AIが提示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759495" y="2103120"/>
            <a:ext cx="32004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079535" y="2103120"/>
            <a:ext cx="2503170" cy="1143000"/>
          </a:xfrm>
          <a:prstGeom prst="roundRect">
            <a:avLst>
              <a:gd name="adj" fmla="val 6400"/>
            </a:avLst>
          </a:prstGeom>
          <a:solidFill>
            <a:srgbClr val="232321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079535" y="2212848"/>
            <a:ext cx="250317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079535" y="2487168"/>
            <a:ext cx="250317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079535" y="2852928"/>
            <a:ext cx="250317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手を動かす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09905" y="3337560"/>
            <a:ext cx="109728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↓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609905" y="3794760"/>
            <a:ext cx="2503170" cy="1143000"/>
          </a:xfrm>
          <a:prstGeom prst="roundRect">
            <a:avLst>
              <a:gd name="adj" fmla="val 6400"/>
            </a:avLst>
          </a:prstGeom>
          <a:solidFill>
            <a:srgbClr val="232321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09905" y="3904488"/>
            <a:ext cx="250317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09905" y="4178808"/>
            <a:ext cx="250317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差分確認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609905" y="4544568"/>
            <a:ext cx="250317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狙い通りか見る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113075" y="3794760"/>
            <a:ext cx="32004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3433115" y="3794760"/>
            <a:ext cx="2503170" cy="1143000"/>
          </a:xfrm>
          <a:prstGeom prst="roundRect">
            <a:avLst>
              <a:gd name="adj" fmla="val 6400"/>
            </a:avLst>
          </a:prstGeom>
          <a:solidFill>
            <a:srgbClr val="232321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433115" y="3904488"/>
            <a:ext cx="250317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3433115" y="4178808"/>
            <a:ext cx="250317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3433115" y="4544568"/>
            <a:ext cx="250317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中身を見てOK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936285" y="3794760"/>
            <a:ext cx="32004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35" name="Text 33"/>
          <p:cNvSpPr/>
          <p:nvPr/>
        </p:nvSpPr>
        <p:spPr>
          <a:xfrm>
            <a:off x="6256325" y="3794760"/>
            <a:ext cx="2503170" cy="1143000"/>
          </a:xfrm>
          <a:prstGeom prst="roundRect">
            <a:avLst>
              <a:gd name="adj" fmla="val 6400"/>
            </a:avLst>
          </a:prstGeom>
          <a:solidFill>
            <a:srgbClr val="232321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256325" y="3904488"/>
            <a:ext cx="250317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256325" y="4178808"/>
            <a:ext cx="250317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直す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6256325" y="4544568"/>
            <a:ext cx="250317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一度だけ寄せる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8759495" y="3794760"/>
            <a:ext cx="32004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40" name="Text 38"/>
          <p:cNvSpPr/>
          <p:nvPr/>
        </p:nvSpPr>
        <p:spPr>
          <a:xfrm>
            <a:off x="9079535" y="3794760"/>
            <a:ext cx="2503170" cy="1143000"/>
          </a:xfrm>
          <a:prstGeom prst="roundRect">
            <a:avLst>
              <a:gd name="adj" fmla="val 6400"/>
            </a:avLst>
          </a:prstGeom>
          <a:solidFill>
            <a:srgbClr val="232321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9079535" y="3904488"/>
            <a:ext cx="250317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9079535" y="4178808"/>
            <a:ext cx="250317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完成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9079535" y="4544568"/>
            <a:ext cx="250317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実質、数分で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609905" y="5212080"/>
            <a:ext cx="10972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裏では CLAUDE.md の常設ルールも自然に効く。登壇者も最初はこの小ささから始めた。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16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1463040"/>
            <a:ext cx="1097280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第5章</a:t>
            </a:r>
            <a:endParaRPr lang="en-US" sz="7800" dirty="0"/>
          </a:p>
        </p:txBody>
      </p:sp>
      <p:sp>
        <p:nvSpPr>
          <p:cNvPr id="3" name="Text 1"/>
          <p:cNvSpPr/>
          <p:nvPr/>
        </p:nvSpPr>
        <p:spPr>
          <a:xfrm>
            <a:off x="609905" y="2926080"/>
            <a:ext cx="1097280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やってみる、そして持ち帰る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905" y="4480560"/>
            <a:ext cx="10972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今日、あなたの一個目が動き出す。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384048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各自ワーク — 選んで・段取りして・頼む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905" y="1078992"/>
            <a:ext cx="109728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自分の小さな一つを選び、今ここで動かす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09905" y="1664208"/>
            <a:ext cx="10972800" cy="0"/>
          </a:xfrm>
          <a:prstGeom prst="line">
            <a:avLst/>
          </a:prstGeom>
          <a:noFill/>
          <a:ln w="12700">
            <a:solidFill>
              <a:srgbClr val="3D3D3A"/>
            </a:solidFill>
            <a:prstDash val="solid"/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905" y="2194560"/>
            <a:ext cx="3444240" cy="1280160"/>
          </a:xfrm>
          <a:prstGeom prst="roundRect">
            <a:avLst>
              <a:gd name="adj" fmla="val 5714"/>
            </a:avLst>
          </a:prstGeom>
          <a:solidFill>
            <a:srgbClr val="232321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905" y="2304288"/>
            <a:ext cx="344424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905" y="2578608"/>
            <a:ext cx="344424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選ぶ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905" y="2944368"/>
            <a:ext cx="344424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小さく・可逆・自己完結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054145" y="2194560"/>
            <a:ext cx="32004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4374185" y="2194560"/>
            <a:ext cx="3444240" cy="1280160"/>
          </a:xfrm>
          <a:prstGeom prst="roundRect">
            <a:avLst>
              <a:gd name="adj" fmla="val 5714"/>
            </a:avLst>
          </a:prstGeom>
          <a:solidFill>
            <a:srgbClr val="232321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74185" y="2304288"/>
            <a:ext cx="344424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2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374185" y="2578608"/>
            <a:ext cx="344424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段取り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374185" y="2944368"/>
            <a:ext cx="344424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1枚（作る／作らない／例）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818425" y="2194560"/>
            <a:ext cx="32004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8138465" y="2194560"/>
            <a:ext cx="3444240" cy="1280160"/>
          </a:xfrm>
          <a:prstGeom prst="roundRect">
            <a:avLst>
              <a:gd name="adj" fmla="val 5714"/>
            </a:avLst>
          </a:prstGeom>
          <a:solidFill>
            <a:srgbClr val="232321"/>
          </a:solidFill>
          <a:ln w="190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138465" y="2304288"/>
            <a:ext cx="344424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3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138465" y="2578608"/>
            <a:ext cx="344424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頼む→寄せる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138465" y="2944368"/>
            <a:ext cx="344424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差分を見て一言直す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09905" y="3840480"/>
            <a:ext cx="10972800" cy="822960"/>
          </a:xfrm>
          <a:prstGeom prst="roundRect">
            <a:avLst>
              <a:gd name="adj" fmla="val 11111"/>
            </a:avLst>
          </a:prstGeom>
          <a:solidFill>
            <a:srgbClr val="232321"/>
          </a:solidFill>
          <a:ln w="2540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09905" y="3840480"/>
            <a:ext cx="109728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実施15分 ／ 完成でなく「着手」が今日の目標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609905" y="5029200"/>
            <a:ext cx="10972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客先データ・本番設備・個人情報は触らない。詰まったら遠慮なく相談を。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17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384048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振り返りとまとめ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905" y="1078992"/>
            <a:ext cx="109728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まず一つ動かす。頼み方を磨けば現場も変わる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09905" y="1664208"/>
            <a:ext cx="10972800" cy="0"/>
          </a:xfrm>
          <a:prstGeom prst="line">
            <a:avLst/>
          </a:prstGeom>
          <a:noFill/>
          <a:ln w="12700">
            <a:solidFill>
              <a:srgbClr val="3D3D3A"/>
            </a:solidFill>
            <a:prstDash val="solid"/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905" y="2194560"/>
            <a:ext cx="64008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87145" y="2194560"/>
            <a:ext cx="1019556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完璧に理解してからでなく、まず一つ動かす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3200400"/>
            <a:ext cx="10972800" cy="0"/>
          </a:xfrm>
          <a:prstGeom prst="line">
            <a:avLst/>
          </a:prstGeom>
          <a:noFill/>
          <a:ln w="12700">
            <a:solidFill>
              <a:srgbClr val="3D3D3A"/>
            </a:solidFill>
            <a:prstDash val="solid"/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905" y="3273552"/>
            <a:ext cx="64008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87145" y="3273552"/>
            <a:ext cx="1019556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Code は「書く道具」でなく「頼む道具」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905" y="4279392"/>
            <a:ext cx="10972800" cy="0"/>
          </a:xfrm>
          <a:prstGeom prst="line">
            <a:avLst/>
          </a:prstGeom>
          <a:noFill/>
          <a:ln w="12700">
            <a:solidFill>
              <a:srgbClr val="3D3D3A"/>
            </a:solidFill>
            <a:prstDash val="solid"/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9905" y="4352544"/>
            <a:ext cx="64008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387145" y="4352544"/>
            <a:ext cx="1019556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4つの工夫＝業務プロセスの設計。持ち帰って深める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905" y="5358384"/>
            <a:ext cx="10972800" cy="0"/>
          </a:xfrm>
          <a:prstGeom prst="line">
            <a:avLst/>
          </a:prstGeom>
          <a:noFill/>
          <a:ln w="12700">
            <a:solidFill>
              <a:srgbClr val="3D3D3A"/>
            </a:solidFill>
            <a:prstDash val="solid"/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18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384048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【付録】ハーネス＝機能別の4層（別表現）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905" y="1078992"/>
            <a:ext cx="109728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常設の仕掛け＝指示・制御・安全・接続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09905" y="1664208"/>
            <a:ext cx="10972800" cy="0"/>
          </a:xfrm>
          <a:prstGeom prst="line">
            <a:avLst/>
          </a:prstGeom>
          <a:noFill/>
          <a:ln w="12700">
            <a:solidFill>
              <a:srgbClr val="3D3D3A"/>
            </a:solidFill>
            <a:prstDash val="solid"/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905" y="178308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905" y="1783080"/>
            <a:ext cx="14173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プロンプト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191817" y="178308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191817" y="1783080"/>
            <a:ext cx="14173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コンテキスト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773729" y="178308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788C5D"/>
          </a:solidFill>
          <a:ln w="19050">
            <a:solidFill>
              <a:srgbClr val="788C5D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773729" y="1783080"/>
            <a:ext cx="14173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ハーネス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355641" y="178308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1D1D1B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55641" y="1783080"/>
            <a:ext cx="14173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ループ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905" y="3463290"/>
            <a:ext cx="2651760" cy="640080"/>
          </a:xfrm>
          <a:prstGeom prst="roundRect">
            <a:avLst>
              <a:gd name="adj" fmla="val 14286"/>
            </a:avLst>
          </a:prstGeom>
          <a:solidFill>
            <a:srgbClr val="232321"/>
          </a:solidFill>
          <a:ln w="31750">
            <a:solidFill>
              <a:srgbClr val="D97757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47065" y="3536442"/>
            <a:ext cx="23774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ハーネス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47065" y="3829050"/>
            <a:ext cx="23774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あらかじめ仕込む層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038905" y="2377440"/>
            <a:ext cx="7429500" cy="621792"/>
          </a:xfrm>
          <a:prstGeom prst="roundRect">
            <a:avLst>
              <a:gd name="adj" fmla="val 11765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221785" y="2450592"/>
            <a:ext cx="70637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指示・ルール層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221785" y="2724912"/>
            <a:ext cx="70637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CLAUDE.md ／ skills ／「/」コマンド ／ システムプロンプト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038905" y="3101340"/>
            <a:ext cx="7429500" cy="621792"/>
          </a:xfrm>
          <a:prstGeom prst="roundRect">
            <a:avLst>
              <a:gd name="adj" fmla="val 11765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221785" y="3174492"/>
            <a:ext cx="70637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実行制御層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4221785" y="3448812"/>
            <a:ext cx="70637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hooks（必ず走る門番）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038905" y="3825240"/>
            <a:ext cx="7429500" cy="621792"/>
          </a:xfrm>
          <a:prstGeom prst="roundRect">
            <a:avLst>
              <a:gd name="adj" fmla="val 11765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221785" y="3898392"/>
            <a:ext cx="70637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安全・境界層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4221785" y="4172712"/>
            <a:ext cx="70637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権限モード ／ サンドボックス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038905" y="4549140"/>
            <a:ext cx="7429500" cy="621792"/>
          </a:xfrm>
          <a:prstGeom prst="roundRect">
            <a:avLst>
              <a:gd name="adj" fmla="val 11765"/>
            </a:avLst>
          </a:prstGeom>
          <a:solidFill>
            <a:srgbClr val="232321"/>
          </a:solidFill>
          <a:ln w="19050">
            <a:solidFill>
              <a:srgbClr val="3D3D3A"/>
            </a:solidFill>
          </a:ln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221785" y="4622292"/>
            <a:ext cx="70637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外部接続層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4221785" y="4896612"/>
            <a:ext cx="70637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MCP ／ 土台＝settings.json（上記を宣言）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09905" y="5806440"/>
            <a:ext cx="10972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組み合わせて効く。CLAUDE.md は強制命令でなく、あくまで参考にする文脈。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付録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まず、一つ動かす — Claude Code 導入セミナー</dc:title>
  <dc:subject>PptxGenJS Presentation</dc:subject>
  <dc:creator>create_seminar_skills</dc:creator>
  <cp:lastModifiedBy>create_seminar_skills</cp:lastModifiedBy>
  <cp:revision>1</cp:revision>
  <dcterms:created xsi:type="dcterms:W3CDTF">2026-07-21T13:23:49Z</dcterms:created>
  <dcterms:modified xsi:type="dcterms:W3CDTF">2026-07-21T13:23:49Z</dcterms:modified>
</cp:coreProperties>
</file>