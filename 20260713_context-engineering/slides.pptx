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81175"/>
            <a:ext cx="10972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6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CONTEXT ENGINEERING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600" y="2286000"/>
            <a:ext cx="10972800" cy="180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7125"/>
              </a:lnSpc>
              <a:buNone/>
            </a:pPr>
            <a:r>
              <a:rPr lang="en-US" sz="57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 AI の答えは</a:t>
            </a:r>
            <a:endParaRPr lang="en-US" sz="5700" dirty="0"/>
          </a:p>
          <a:p>
            <a:pPr indent="0" marL="0">
              <a:lnSpc>
                <a:spcPts val="7125"/>
              </a:lnSpc>
              <a:buNone/>
            </a:pPr>
            <a:r>
              <a:rPr lang="en-US" sz="57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バラつくのか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609600" y="4324350"/>
            <a:ext cx="109728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コンテキストエンジニアリング入門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09600" y="5210175"/>
            <a:ext cx="1097280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製造エンジニア・生産技術向け</a:t>
            </a:r>
            <a:endParaRPr lang="en-US" sz="1800" dirty="0"/>
          </a:p>
          <a:p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2026-07-13 / 60分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今日のゴール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聞いて終わりにせず、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自分で直せる状態になって帰ります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91465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47800" y="291465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の答えが外れた原因を、自分で切り分けられる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5052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373380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47800" y="373380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自分の指示文に情報を補って、出力を意図に近づけられる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600" y="43243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455295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447800" y="455295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「なぜ外れたか」をチームの共通の言葉で議論できる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600" y="51435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" y="5372100"/>
            <a:ext cx="10972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この3つは聞いて分かるものではないので、今日は手を動かす時間を2回とります。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/ 20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ワーク:この一文を投げてください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普段あなたが書く指示と、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同じ水準の一文です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14750" y="2686050"/>
            <a:ext cx="7239000" cy="1257300"/>
          </a:xfrm>
          <a:prstGeom prst="roundRect">
            <a:avLst>
              <a:gd name="adj" fmla="val 8727"/>
            </a:avLst>
          </a:prstGeom>
          <a:solidFill>
            <a:srgbClr val="1D1D1B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43350" y="2857500"/>
            <a:ext cx="6781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43350" y="3105150"/>
            <a:ext cx="6781800" cy="666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25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先週から3号ラインで外観不良の流出が増えています。</a:t>
            </a:r>
            <a:endParaRPr lang="en-US" sz="1650" dirty="0"/>
          </a:p>
          <a:p>
            <a:pPr indent="0" marL="0">
              <a:lnSpc>
                <a:spcPts val="2625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考えられる原因と、再発防止策を教えてください。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600" y="4171950"/>
            <a:ext cx="109728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この一文には、いつから(時期)・どこで(場所)・何が(症状)・何をしてほしいか(依頼)が揃っています。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制限時間4分。返ってきた答えを、隣の人と画面を並べて読み比べてください。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20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種明かし:何が返ってきたか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報告書に貼れそうなのに、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あなたの現場の話が1行もない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3505200" cy="2476500"/>
          </a:xfrm>
          <a:prstGeom prst="roundRect">
            <a:avLst>
              <a:gd name="adj" fmla="val 4431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90850"/>
            <a:ext cx="28956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症状 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343275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教科書的な一般論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3857625"/>
            <a:ext cx="2895600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4M と「日常点検の徹底」。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どの工場にも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当てはまる中身。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343400" y="2686050"/>
            <a:ext cx="3505200" cy="2476500"/>
          </a:xfrm>
          <a:prstGeom prst="roundRect">
            <a:avLst>
              <a:gd name="adj" fmla="val 4431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8200" y="2990850"/>
            <a:ext cx="28956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症状 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8200" y="3343275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隣と答えが違う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648200" y="3857625"/>
            <a:ext cx="2895600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片方は人手検査、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片方は画像検査機を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前提にしていた。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77200" y="2686050"/>
            <a:ext cx="3505200" cy="2476500"/>
          </a:xfrm>
          <a:prstGeom prst="roundRect">
            <a:avLst>
              <a:gd name="adj" fmla="val 4431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2000" y="2990850"/>
            <a:ext cx="28956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症状 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82000" y="3343275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黙って前提を置く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382000" y="3857625"/>
            <a:ext cx="2895600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「分かりません」と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言わず、それらしく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答える。ここが危ない。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09600" y="5391150"/>
            <a:ext cx="109728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は不確実なとき、分からないと認める代わりに、もっともらしいが誤った答えを出す。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訓練の仕方そのものが、黙って当てずっぽうを言うほうに報酬を与えている(OpenAI)。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/ 20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原理:机の上のものだけで考える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は、指示文に載っている情報だけを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机に広げて答えを作っている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2762250"/>
            <a:ext cx="2762250" cy="1666875"/>
          </a:xfrm>
          <a:prstGeom prst="roundRect">
            <a:avLst>
              <a:gd name="adj" fmla="val 6583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90850"/>
            <a:ext cx="25336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343275"/>
            <a:ext cx="25336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机の上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686175"/>
            <a:ext cx="25336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指示文に書いたこと。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それだけ。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14750" y="3409950"/>
            <a:ext cx="3238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191000" y="2686050"/>
            <a:ext cx="3810000" cy="1809750"/>
          </a:xfrm>
          <a:prstGeom prst="roundRect">
            <a:avLst>
              <a:gd name="adj" fmla="val 6063"/>
            </a:avLst>
          </a:prstGeom>
          <a:solidFill>
            <a:srgbClr val="232321"/>
          </a:solidFill>
          <a:ln w="28575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5300" y="2990850"/>
            <a:ext cx="35814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05300" y="3343275"/>
            <a:ext cx="3581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続きを確率で埋める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305300" y="3686175"/>
            <a:ext cx="35814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足りない部分は、聞き返さずに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最もありそうな前提で埋める。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153400" y="3409950"/>
            <a:ext cx="3238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8629650" y="2762250"/>
            <a:ext cx="2762250" cy="1666875"/>
          </a:xfrm>
          <a:prstGeom prst="roundRect">
            <a:avLst>
              <a:gd name="adj" fmla="val 6583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43950" y="2990850"/>
            <a:ext cx="25336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OUTPUT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43950" y="3343275"/>
            <a:ext cx="25336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一般論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743950" y="3686175"/>
            <a:ext cx="253365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誰にでも当てはまる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600" y="4800600"/>
            <a:ext cx="10972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先輩エンジニアなら、設備名も症状も履歴も「聞き返して」から答える。AI は聞き返さない。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/ 20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が知らないこと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あなたが当たり前だと思っている前提は、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書かない限り1つも伝わっていない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10972800" cy="476250"/>
          </a:xfrm>
          <a:prstGeom prst="rect">
            <a:avLst/>
          </a:prstGeom>
          <a:solidFill>
            <a:srgbClr val="232321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2762250"/>
            <a:ext cx="3162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知らないもの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457700" y="2762250"/>
            <a:ext cx="6896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09600" y="3162300"/>
            <a:ext cx="10972800" cy="0"/>
          </a:xfrm>
          <a:prstGeom prst="line">
            <a:avLst/>
          </a:prstGeom>
          <a:noFill/>
          <a:ln w="19050">
            <a:solidFill>
              <a:srgbClr val="FAF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3238500"/>
            <a:ext cx="3162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設備のこと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57700" y="3238500"/>
            <a:ext cx="6896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型式・ライン構成・稼働条件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09600" y="36385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200" y="3714750"/>
            <a:ext cx="3162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社内の基準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57700" y="3714750"/>
            <a:ext cx="6896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不良の判定基準・過去の不良履歴・是正のルール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09600" y="41148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200" y="4191000"/>
            <a:ext cx="3162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あなたの立場と目的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457700" y="4191000"/>
            <a:ext cx="6896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報告書を書きたいのか、今すぐ止血したいのか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09600" y="45910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" y="4667250"/>
            <a:ext cx="3162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前回の会話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457700" y="4667250"/>
            <a:ext cx="6896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セッションが変われば、昨日の説明も消えている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09600" y="50673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200" y="5143500"/>
            <a:ext cx="3162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社内でだけ通じる言葉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457700" y="5143500"/>
            <a:ext cx="6896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「3号ライン」「流出」が何を指すのか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09600" y="55435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600" y="5772150"/>
            <a:ext cx="10972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「製造現場特有の専門用語、機器の型式、現場のノウハウを学習していない」 三菱電機(2025)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/ 20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バラつきの正体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の気まぐれではなく、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机の上に載せた情報の差である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91465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47800" y="291465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うまくいった日は、たまたま十分に書けていた日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5052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373380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47800" y="373380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何が効いたかを知らないから、再現できない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600" y="43243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" y="4552950"/>
            <a:ext cx="10972800" cy="600075"/>
          </a:xfrm>
          <a:prstGeom prst="roundRect">
            <a:avLst>
              <a:gd name="adj" fmla="val 18286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4686300"/>
            <a:ext cx="10972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机の上に載せる情報の設計 = コンテキストエンジニアリング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09600" y="5381625"/>
            <a:ext cx="10972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推論のたびに、モデルに何を渡すかを決める継続的な選別作業(Anthropic の定義)。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/ 20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机に載せる4つのもの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必要な情報は「指示・背景・参照情報・出力形式」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の4つに分解できる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2571750" cy="2667000"/>
          </a:xfrm>
          <a:prstGeom prst="roundRect">
            <a:avLst>
              <a:gd name="adj" fmla="val 4267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914650"/>
            <a:ext cx="21145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要素 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3267075"/>
            <a:ext cx="21145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指示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38200" y="3781425"/>
            <a:ext cx="2114550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何をしてほしいか。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動詞・粒度・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制約まで書く。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3409950" y="2686050"/>
            <a:ext cx="2571750" cy="2667000"/>
          </a:xfrm>
          <a:prstGeom prst="roundRect">
            <a:avLst>
              <a:gd name="adj" fmla="val 4267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8550" y="2914650"/>
            <a:ext cx="21145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要素 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38550" y="3267075"/>
            <a:ext cx="21145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638550" y="3781425"/>
            <a:ext cx="21145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誰が・何のために・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どんな状況か。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立場が変われば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正解も変わる。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210300" y="2686050"/>
            <a:ext cx="2571750" cy="2667000"/>
          </a:xfrm>
          <a:prstGeom prst="roundRect">
            <a:avLst>
              <a:gd name="adj" fmla="val 4267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8900" y="2914650"/>
            <a:ext cx="21145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要素 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38900" y="3267075"/>
            <a:ext cx="21145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参照情報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438900" y="3781425"/>
            <a:ext cx="21145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判断に必要な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実データ。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貼らない事実は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存在しない。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010650" y="2686050"/>
            <a:ext cx="2571750" cy="2667000"/>
          </a:xfrm>
          <a:prstGeom prst="roundRect">
            <a:avLst>
              <a:gd name="adj" fmla="val 4267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9250" y="2914650"/>
            <a:ext cx="21145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要素 04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39250" y="3267075"/>
            <a:ext cx="21145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出力形式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239250" y="3781425"/>
            <a:ext cx="21145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どんな形で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返してほしいか。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手戻りを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一番削る。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09600" y="5581650"/>
            <a:ext cx="109728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覚えるためではなく、診断するための4つ。外れたら「どれが空だったか」を見る。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(各社の公式分類を本セミナー用に統合した言い換えです)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 / 20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要素① 指示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「教えて」ではなく、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動詞と粒度と制約まで書き切る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5372100" cy="2571750"/>
          </a:xfrm>
          <a:prstGeom prst="roundRect">
            <a:avLst>
              <a:gd name="adj" fmla="val 4267"/>
            </a:avLst>
          </a:prstGeom>
          <a:solidFill>
            <a:srgbClr val="1D1D1B"/>
          </a:solidFill>
          <a:ln w="19050">
            <a:solidFill>
              <a:srgbClr val="1D1D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90850"/>
            <a:ext cx="4762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よくある指示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90600" y="3581400"/>
            <a:ext cx="4686300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原因と対策を教えて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10300" y="2686050"/>
            <a:ext cx="5372100" cy="2571750"/>
          </a:xfrm>
          <a:prstGeom prst="roundRect">
            <a:avLst>
              <a:gd name="adj" fmla="val 4267"/>
            </a:avLst>
          </a:prstGeom>
          <a:solidFill>
            <a:srgbClr val="232321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5100" y="2990850"/>
            <a:ext cx="4762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書き切った指示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591300" y="3581400"/>
            <a:ext cx="4686300" cy="145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可能性の高い順に、原因を5つ挙げる</a:t>
            </a:r>
            <a:endParaRPr lang="en-US" sz="1650" dirty="0"/>
          </a:p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各原因の切り分け手順を1行で添える</a:t>
            </a:r>
            <a:endParaRPr lang="en-US" sz="1650" dirty="0"/>
          </a:p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今日、現場でできる対応に限る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9600" y="5486400"/>
            <a:ext cx="109728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よくある失敗:複数の依頼を1文に混ぜる。原因も対策も報告書もと欲張ると、全部が浅くなる。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複雑なタスクは小さく分けたほうが精度が上がる(Microsoft / OpenAI 公式)。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 / 20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要素② 背景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立場と目的が変われば、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正解の答えも変わる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90850"/>
            <a:ext cx="4762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明日の朝会で報告したい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90600" y="3581400"/>
            <a:ext cx="46863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網羅的な原因分析がほしい</a:t>
            </a:r>
            <a:endParaRPr lang="en-US" sz="1650" dirty="0"/>
          </a:p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根拠と出典が要る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10300" y="2686050"/>
            <a:ext cx="5372100" cy="2095500"/>
          </a:xfrm>
          <a:prstGeom prst="roundRect">
            <a:avLst>
              <a:gd name="adj" fmla="val 5236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5100" y="2990850"/>
            <a:ext cx="4762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いま10分で止血したい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591300" y="3581400"/>
            <a:ext cx="46863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今すぐ確認できる2〜3点だけ</a:t>
            </a:r>
            <a:endParaRPr lang="en-US" sz="1650" dirty="0"/>
          </a:p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網羅性は要らない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9600" y="5010150"/>
            <a:ext cx="109728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同じ「原因を教えて」でも、欲しい答えは別物。背景が空だと、AI は最も一般的な状況を勝手に仮定する。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その仮定があなたの現場と少しずれているだけで、答えは丸ごと外れる。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20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要素③ 参照情報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が持っていない事実は、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貼らない限り存在しないのと同じ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3505200" cy="2809875"/>
          </a:xfrm>
          <a:prstGeom prst="roundRect">
            <a:avLst>
              <a:gd name="adj" fmla="val 3905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90850"/>
            <a:ext cx="28956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何を貼るか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343275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実データ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3857625"/>
            <a:ext cx="28956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エラーコード。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稼働ログの該当行。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設備仕様の抜粋。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過去の類似不良。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343400" y="2686050"/>
            <a:ext cx="3505200" cy="2809875"/>
          </a:xfrm>
          <a:prstGeom prst="roundRect">
            <a:avLst>
              <a:gd name="adj" fmla="val 3905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8200" y="2990850"/>
            <a:ext cx="28956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どう貼るか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8200" y="3343275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該当箇所を原文で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648200" y="3857625"/>
            <a:ext cx="28956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要約すると、重要と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思わなかった一行が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落ちる。それが決め手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だったりする。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077200" y="2686050"/>
            <a:ext cx="3505200" cy="2809875"/>
          </a:xfrm>
          <a:prstGeom prst="roundRect">
            <a:avLst>
              <a:gd name="adj" fmla="val 3905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2000" y="2990850"/>
            <a:ext cx="28956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なぜ効くか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82000" y="3343275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学習データに無い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382000" y="3857625"/>
            <a:ext cx="28956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自社の設備も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不良履歴も入って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いない。推測で埋め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られると嘘になる。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09600" y="5724525"/>
            <a:ext cx="109728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社外秘・個人情報の扱いは社内ルールに従うこと。JDLA のガイドラインは、個人情報・秘密情報・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第三者著作物を入力禁止としている。図面・稼働ログ・不良履歴は秘密情報の典型。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20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要素④ 出力形式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形を指定しないから、使えない形で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返ってきて、結局書き直している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10972800" cy="628650"/>
          </a:xfrm>
          <a:prstGeom prst="rect">
            <a:avLst/>
          </a:prstGeom>
          <a:solidFill>
            <a:srgbClr val="232321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2838450"/>
            <a:ext cx="2400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考えられる原因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695700" y="2838450"/>
            <a:ext cx="1447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発生頻度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600700" y="2838450"/>
            <a:ext cx="3162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確認方法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220200" y="2838450"/>
            <a:ext cx="2133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対処コスト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9600" y="3314700"/>
            <a:ext cx="10972800" cy="0"/>
          </a:xfrm>
          <a:prstGeom prst="line">
            <a:avLst/>
          </a:prstGeom>
          <a:noFill/>
          <a:ln w="19050">
            <a:solidFill>
              <a:srgbClr val="FAF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200" y="3467100"/>
            <a:ext cx="2400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センサの汚れ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695700" y="3467100"/>
            <a:ext cx="1447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600700" y="3467100"/>
            <a:ext cx="3162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現物確認(5分)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220200" y="3467100"/>
            <a:ext cx="2133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09600" y="39433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200" y="4095750"/>
            <a:ext cx="2400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治具の摩耗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95700" y="4095750"/>
            <a:ext cx="1447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600700" y="4095750"/>
            <a:ext cx="31623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寸法測定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220200" y="4095750"/>
            <a:ext cx="2133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09600" y="45720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" y="4800600"/>
            <a:ext cx="10972800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「原因ごとに、発生頻度・確認方法・対処コストの3列の表で」と書くだけで、返ってきたものが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そのまま検討会の資料になる。空欄が出たら、それが「渡し忘れた情報」を教えてくれる。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もう一手:「情報が足りなければ不明と書いて」と逃げ道を与えると、作り話が減る(Microsoft)。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20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では、全部渡せばいいのか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「足りないなら全部渡そう」が、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次にはまる落とし穴です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86050"/>
            <a:ext cx="10668000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4050"/>
              </a:lnSpc>
              <a:buSzPct val="100000"/>
              <a:buChar char="•"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仕様書もログも議事録も、全部貼れば賢くなるはず</a:t>
            </a:r>
            <a:endParaRPr lang="en-US" sz="1800" dirty="0"/>
          </a:p>
          <a:p>
            <a:pPr marL="152400" indent="-152400">
              <a:lnSpc>
                <a:spcPts val="4050"/>
              </a:lnSpc>
              <a:buSzPct val="100000"/>
              <a:buChar char="•"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実際には、ある量を超えると精度は下がり始める</a:t>
            </a:r>
            <a:endParaRPr lang="en-US" sz="1800" dirty="0"/>
          </a:p>
          <a:p>
            <a:pPr marL="152400" indent="-152400">
              <a:lnSpc>
                <a:spcPts val="4050"/>
              </a:lnSpc>
              <a:buSzPct val="100000"/>
              <a:buChar char="•"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ここが、使い慣れた人と使いこなす人の分かれ目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4457700"/>
            <a:ext cx="10972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しかも、ここまでの話を素直に聞いた人ほど、まっすぐこの穴に落ちます。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 / 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context rot(文脈の劣化)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渡した情報量が増えるほど、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正確に思い出す力は落ちる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525" y="2686050"/>
            <a:ext cx="3810000" cy="1885950"/>
          </a:xfrm>
          <a:prstGeom prst="roundRect">
            <a:avLst>
              <a:gd name="adj" fmla="val 5818"/>
            </a:avLst>
          </a:prstGeom>
          <a:solidFill>
            <a:srgbClr val="1D1D1B"/>
          </a:solidFill>
          <a:ln w="19050">
            <a:solidFill>
              <a:srgbClr val="1D1D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4925" y="2933700"/>
            <a:ext cx="35052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SHORT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04925" y="3267075"/>
            <a:ext cx="35052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84.9%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304925" y="4124325"/>
            <a:ext cx="3505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 12.8万トークン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91125" y="3286125"/>
            <a:ext cx="1809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191125" y="3771900"/>
            <a:ext cx="1809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渡す量を約8倍に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29475" y="2686050"/>
            <a:ext cx="3810000" cy="1885950"/>
          </a:xfrm>
          <a:prstGeom prst="roundRect">
            <a:avLst>
              <a:gd name="adj" fmla="val 5818"/>
            </a:avLst>
          </a:prstGeom>
          <a:solidFill>
            <a:srgbClr val="232321"/>
          </a:solidFill>
          <a:ln w="28575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1875" y="2933700"/>
            <a:ext cx="35052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LONG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81875" y="3267075"/>
            <a:ext cx="35052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26.3%</a:t>
            </a:r>
            <a:endParaRPr lang="en-US" sz="5100" dirty="0"/>
          </a:p>
        </p:txBody>
      </p:sp>
      <p:sp>
        <p:nvSpPr>
          <p:cNvPr id="14" name="Text 12"/>
          <p:cNvSpPr/>
          <p:nvPr/>
        </p:nvSpPr>
        <p:spPr>
          <a:xfrm>
            <a:off x="7381875" y="4124325"/>
            <a:ext cx="3505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 100万トークン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600" y="4800600"/>
            <a:ext cx="10972800" cy="600075"/>
          </a:xfrm>
          <a:prstGeom prst="roundRect">
            <a:avLst>
              <a:gd name="adj" fmla="val 18286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600" y="4933950"/>
            <a:ext cx="10972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中間に埋めた情報は、資料を1枚も渡さないときより成績が落ちる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09600" y="5629275"/>
            <a:ext cx="109728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の注意力は有限の予算。関係ない情報を1行足すたびに、その予算が削られる(Anthropic)。</a:t>
            </a:r>
            <a:endParaRPr lang="en-US" sz="1350" dirty="0"/>
          </a:p>
          <a:p>
            <a:pPr algn="ctr"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出典:Google DeepMind モデルカード(MRCR v2)/ Liu et al., Lost in the Middle(TACL)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 / 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捨てることが効く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必要な情報を全部入れて、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関係ない情報を1つも入れない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3505200" cy="2057400"/>
          </a:xfrm>
          <a:prstGeom prst="roundRect">
            <a:avLst>
              <a:gd name="adj" fmla="val 5333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971800"/>
            <a:ext cx="3276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88.3%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23900" y="3962400"/>
            <a:ext cx="3276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正解1件だけ渡す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23900" y="4343400"/>
            <a:ext cx="3276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全部渡すより高い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2686050"/>
            <a:ext cx="3505200" cy="2057400"/>
          </a:xfrm>
          <a:prstGeom prst="roundRect">
            <a:avLst>
              <a:gd name="adj" fmla="val 5333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7700" y="2971800"/>
            <a:ext cx="3276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+29%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457700" y="3962400"/>
            <a:ext cx="3276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不要な文脈を削る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457700" y="4343400"/>
            <a:ext cx="3276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Anthropic の実測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77200" y="2686050"/>
            <a:ext cx="3505200" cy="2057400"/>
          </a:xfrm>
          <a:prstGeom prst="roundRect">
            <a:avLst>
              <a:gd name="adj" fmla="val 5333"/>
            </a:avLst>
          </a:prstGeom>
          <a:solidFill>
            <a:srgbClr val="232321"/>
          </a:solidFill>
          <a:ln w="19050">
            <a:solidFill>
              <a:srgbClr val="3D3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1500" y="2971800"/>
            <a:ext cx="32766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-84%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191500" y="3962400"/>
            <a:ext cx="3276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トークン消費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191500" y="4343400"/>
            <a:ext cx="3276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削減しつつ完走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972050"/>
            <a:ext cx="10972800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捨てるもの:今回の判断に関係しない章。雑談の履歴。念のため貼った別ラインのログ。</a:t>
            </a:r>
            <a:endParaRPr lang="en-US" sz="1350" dirty="0"/>
          </a:p>
          <a:p>
            <a:pPr algn="ctr"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会話が長引いたら、新しいチャットに要点だけ持ち込む(公式推奨ではなく、研究ベースの経験則)。</a:t>
            </a:r>
            <a:endParaRPr lang="en-US" sz="1350" dirty="0"/>
          </a:p>
          <a:p>
            <a:pPr algn="ctr"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判断基準:その情報は、AI の答えを変えるか。変えないなら入れない。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 / 20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量ではなく、密度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コンテキストは、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盛るものではなく選ぶものである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91465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47800" y="291465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4つの要素を埋める。関係ないものは捨てる。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5052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373380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47800" y="373380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長いプロンプトを書ける人が上手いのではない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600" y="43243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455295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447800" y="455295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短くて、外さない指示を書ける人が上手い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600" y="51435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 / 20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演習:4要素で診断して直す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冒頭のワークで投げた一文を、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自分で直してください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3238500" cy="1657350"/>
          </a:xfrm>
          <a:prstGeom prst="roundRect">
            <a:avLst>
              <a:gd name="adj" fmla="val 6621"/>
            </a:avLst>
          </a:prstGeom>
          <a:solidFill>
            <a:srgbClr val="232321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2914650"/>
            <a:ext cx="29337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3267075"/>
            <a:ext cx="2933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診断する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3609975"/>
            <a:ext cx="29337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4つのうち、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何が空か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00500" y="3324225"/>
            <a:ext cx="3238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476750" y="2686050"/>
            <a:ext cx="3238500" cy="1657350"/>
          </a:xfrm>
          <a:prstGeom prst="roundRect">
            <a:avLst>
              <a:gd name="adj" fmla="val 6621"/>
            </a:avLst>
          </a:prstGeom>
          <a:solidFill>
            <a:srgbClr val="232321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9150" y="2914650"/>
            <a:ext cx="29337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02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9150" y="3267075"/>
            <a:ext cx="2933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補って書き直す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29150" y="3609975"/>
            <a:ext cx="29337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背景・参照情報・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出力形式を足す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67650" y="3324225"/>
            <a:ext cx="32385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8343900" y="2686050"/>
            <a:ext cx="3238500" cy="1657350"/>
          </a:xfrm>
          <a:prstGeom prst="roundRect">
            <a:avLst>
              <a:gd name="adj" fmla="val 6621"/>
            </a:avLst>
          </a:prstGeom>
          <a:solidFill>
            <a:srgbClr val="232321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6300" y="2914650"/>
            <a:ext cx="29337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03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96300" y="3267075"/>
            <a:ext cx="2933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投げ直して比べる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96300" y="3609975"/>
            <a:ext cx="29337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最初の答えと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並べて読む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600" y="4572000"/>
            <a:ext cx="109728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この一文に入っているのは、粗い指示と、背景のかけら(3号ライン・先週から)だけ。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参照情報と出力形式はゼロ。社内でしか通じない言葉は、AI に通じる言葉に開くこと。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 / 20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進め方(8分)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完璧を目指さず、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抜けていたものを1つ足せばいい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10972800" cy="628650"/>
          </a:xfrm>
          <a:prstGeom prst="rect">
            <a:avLst/>
          </a:prstGeom>
          <a:solidFill>
            <a:srgbClr val="232321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2838450"/>
            <a:ext cx="1447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743200" y="2838450"/>
            <a:ext cx="8610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やること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09600" y="3314700"/>
            <a:ext cx="10972800" cy="0"/>
          </a:xfrm>
          <a:prstGeom prst="line">
            <a:avLst/>
          </a:prstGeom>
          <a:noFill/>
          <a:ln w="19050">
            <a:solidFill>
              <a:srgbClr val="FAF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3467100"/>
            <a:ext cx="1447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743200" y="3467100"/>
            <a:ext cx="8610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4要素を補って書き直す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09600" y="39433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200" y="4095750"/>
            <a:ext cx="1447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2分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743200" y="4095750"/>
            <a:ext cx="8610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に投げて、返ってきた答えを読む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09600" y="45720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200" y="4724400"/>
            <a:ext cx="14478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1分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743200" y="4724400"/>
            <a:ext cx="86106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隣の人と見せ合う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09600" y="52006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5429250"/>
            <a:ext cx="10972800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手が止まったら:「そのプロンプトを、背景を知らない同僚に見せてみる。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その人が混乱するなら、AI も混乱する」(Anthropic 公式の黄金律)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会社のルール上どうしても貼れない情報は、仮の値で構いません。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 / 20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振り返り:何が変わったか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変わったのは AI ではなく、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あなたが机に載せたものである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600" y="2686050"/>
            <a:ext cx="5372100" cy="2571750"/>
          </a:xfrm>
          <a:prstGeom prst="roundRect">
            <a:avLst>
              <a:gd name="adj" fmla="val 4267"/>
            </a:avLst>
          </a:prstGeom>
          <a:solidFill>
            <a:srgbClr val="1D1D1B"/>
          </a:solidFill>
          <a:ln w="19050">
            <a:solidFill>
              <a:srgbClr val="1D1D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90850"/>
            <a:ext cx="4762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最初の答え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90600" y="3581400"/>
            <a:ext cx="4686300" cy="145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4M と一般論のリスト</a:t>
            </a:r>
            <a:endParaRPr lang="en-US" sz="1650" dirty="0"/>
          </a:p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どの工場にも当てはまる</a:t>
            </a:r>
            <a:endParaRPr lang="en-US" sz="1650" dirty="0"/>
          </a:p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次の一手にならない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10300" y="2686050"/>
            <a:ext cx="5372100" cy="2571750"/>
          </a:xfrm>
          <a:prstGeom prst="roundRect">
            <a:avLst>
              <a:gd name="adj" fmla="val 4267"/>
            </a:avLst>
          </a:prstGeom>
          <a:solidFill>
            <a:srgbClr val="232321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5100" y="2990850"/>
            <a:ext cx="47625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直した後の答え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591300" y="3581400"/>
            <a:ext cx="4686300" cy="145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自分の設備を前提にした手順</a:t>
            </a:r>
            <a:endParaRPr lang="en-US" sz="1650" dirty="0"/>
          </a:p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「このセンサの閾値を確認」</a:t>
            </a:r>
            <a:endParaRPr lang="en-US" sz="1650" dirty="0"/>
          </a:p>
          <a:p>
            <a:pPr marL="152400" indent="-152400">
              <a:lnSpc>
                <a:spcPts val="3825"/>
              </a:lnSpc>
              <a:buSzPct val="100000"/>
              <a:buChar char="•"/>
            </a:pPr>
            <a:r>
              <a:rPr lang="en-US" sz="165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明日そのままやれる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9600" y="5486400"/>
            <a:ext cx="1097280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日立・大みか事業所は、熟練者の暗黙知をプロンプトに落とし込み、模範解答を100件以上作成した。</a:t>
            </a:r>
            <a:endParaRPr lang="en-US" sz="1350" dirty="0"/>
          </a:p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設備トラブル対応で、必要な情報の検索時間を約9割削減(2025年6月発表)。やったことは今日と同じ。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 / 20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明日から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181100"/>
            <a:ext cx="10972800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出力が期待外れなら、</a:t>
            </a:r>
            <a:endParaRPr lang="en-US" sz="2550" dirty="0"/>
          </a:p>
          <a:p>
            <a:pPr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を疑う前に机の上を疑う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09600" y="23812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91465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D977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47800" y="291465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4つのどれが空かを見る(たいてい背景と出力形式)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5052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373380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6A9B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47800" y="373380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足すだけでなく、関係ない情報は捨てる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600" y="432435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4552950"/>
            <a:ext cx="609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50" b="1" dirty="0">
                <a:solidFill>
                  <a:srgbClr val="788C5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447800" y="4552950"/>
            <a:ext cx="101346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9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 は使えない」を「背景が足りない」に言い換える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600" y="5143500"/>
            <a:ext cx="10972800" cy="0"/>
          </a:xfrm>
          <a:prstGeom prst="line">
            <a:avLst/>
          </a:prstGeom>
          <a:noFill/>
          <a:ln w="9525">
            <a:solidFill>
              <a:srgbClr val="3D3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" y="5372100"/>
            <a:ext cx="10972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75"/>
              </a:lnSpc>
              <a:buNone/>
            </a:pPr>
            <a:r>
              <a:rPr lang="en-US" sz="13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送信ボタンを押す前に、4つを一度だけ見返す。30秒もかかりません。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287000" y="6438900"/>
            <a:ext cx="1295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B0AEA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 / 20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なぜ AI の答えはバラつくのか — コンテキストエンジニアリング入門</dc:title>
  <dc:subject>PptxGenJS Presentation</dc:subject>
  <dc:creator>seminar-toolkit</dc:creator>
  <cp:lastModifiedBy>seminar-toolkit</cp:lastModifiedBy>
  <cp:revision>1</cp:revision>
  <dcterms:created xsi:type="dcterms:W3CDTF">2026-07-13T15:47:56Z</dcterms:created>
  <dcterms:modified xsi:type="dcterms:W3CDTF">2026-07-13T15:47:56Z</dcterms:modified>
</cp:coreProperties>
</file>