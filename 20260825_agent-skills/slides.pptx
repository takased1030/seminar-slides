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108960"/>
            <a:ext cx="10972800" cy="365760"/>
          </a:xfrm>
          <a:prstGeom prst="rect">
            <a:avLst/>
          </a:prstGeom>
          <a:noFill/>
          <a:ln/>
        </p:spPr>
        <p:txBody>
          <a:bodyPr wrap="none" lIns="0" tIns="0" rIns="0" bIns="0" rtlCol="0" anchor="ctr"/>
          <a:lstStyle/>
          <a:p>
            <a:pPr indent="0" marL="0">
              <a:buNone/>
            </a:pPr>
            <a:r>
              <a:rPr lang="en-US" sz="1350" b="1" spc="400" kern="0" dirty="0">
                <a:solidFill>
                  <a:srgbClr val="D97757"/>
                </a:solidFill>
                <a:latin typeface="Noto Sans JP" pitchFamily="34" charset="0"/>
                <a:ea typeface="Noto Sans JP" pitchFamily="34" charset="-122"/>
                <a:cs typeface="Noto Sans JP" pitchFamily="34" charset="-120"/>
              </a:rPr>
              <a:t>CLAUDE CODE エージェントスキル入門</a:t>
            </a:r>
            <a:endParaRPr lang="en-US" sz="1350" dirty="0"/>
          </a:p>
        </p:txBody>
      </p:sp>
      <p:sp>
        <p:nvSpPr>
          <p:cNvPr id="3" name="Text 1"/>
          <p:cNvSpPr/>
          <p:nvPr/>
        </p:nvSpPr>
        <p:spPr>
          <a:xfrm>
            <a:off x="609905" y="3611880"/>
            <a:ext cx="10972800" cy="1051560"/>
          </a:xfrm>
          <a:prstGeom prst="rect">
            <a:avLst/>
          </a:prstGeom>
          <a:noFill/>
          <a:ln/>
        </p:spPr>
        <p:txBody>
          <a:bodyPr wrap="none" lIns="0" tIns="0" rIns="0" bIns="0" rtlCol="0" anchor="ctr"/>
          <a:lstStyle/>
          <a:p>
            <a:pPr indent="0" marL="0">
              <a:buNone/>
            </a:pPr>
            <a:r>
              <a:rPr lang="en-US" sz="5700" b="1" dirty="0">
                <a:solidFill>
                  <a:srgbClr val="FAF9F5"/>
                </a:solidFill>
                <a:latin typeface="Noto Sans JP" pitchFamily="34" charset="0"/>
                <a:ea typeface="Noto Sans JP" pitchFamily="34" charset="-122"/>
                <a:cs typeface="Noto Sans JP" pitchFamily="34" charset="-120"/>
              </a:rPr>
              <a:t>一度きりで、終わらせない</a:t>
            </a:r>
            <a:endParaRPr lang="en-US" sz="5700" dirty="0"/>
          </a:p>
        </p:txBody>
      </p:sp>
      <p:sp>
        <p:nvSpPr>
          <p:cNvPr id="4" name="Text 2"/>
          <p:cNvSpPr/>
          <p:nvPr/>
        </p:nvSpPr>
        <p:spPr>
          <a:xfrm>
            <a:off x="609905" y="4800600"/>
            <a:ext cx="10972800" cy="457200"/>
          </a:xfrm>
          <a:prstGeom prst="rect">
            <a:avLst/>
          </a:prstGeom>
          <a:noFill/>
          <a:ln/>
        </p:spPr>
        <p:txBody>
          <a:bodyPr wrap="none" lIns="0" tIns="0" rIns="0" bIns="0" rtlCol="0" anchor="ctr"/>
          <a:lstStyle/>
          <a:p>
            <a:pPr indent="0" marL="0">
              <a:buNone/>
            </a:pPr>
            <a:r>
              <a:rPr lang="en-US" sz="2250" dirty="0">
                <a:solidFill>
                  <a:srgbClr val="B0AEA5"/>
                </a:solidFill>
                <a:latin typeface="Noto Sans JP" pitchFamily="34" charset="0"/>
                <a:ea typeface="Noto Sans JP" pitchFamily="34" charset="-122"/>
                <a:cs typeface="Noto Sans JP" pitchFamily="34" charset="-120"/>
              </a:rPr>
              <a:t>うまくいったやり方を、手順書と道具にする</a:t>
            </a:r>
            <a:endParaRPr lang="en-US" sz="2250" dirty="0"/>
          </a:p>
        </p:txBody>
      </p:sp>
      <p:sp>
        <p:nvSpPr>
          <p:cNvPr id="5" name="Text 3"/>
          <p:cNvSpPr/>
          <p:nvPr/>
        </p:nvSpPr>
        <p:spPr>
          <a:xfrm>
            <a:off x="609905" y="5623560"/>
            <a:ext cx="10972800" cy="365760"/>
          </a:xfrm>
          <a:prstGeom prst="rect">
            <a:avLst/>
          </a:prstGeom>
          <a:noFill/>
          <a:ln/>
        </p:spPr>
        <p:txBody>
          <a:bodyPr wrap="none" lIns="0" tIns="0" rIns="0" bIns="0" rtlCol="0" anchor="ctr"/>
          <a:lstStyle/>
          <a:p>
            <a:pPr indent="0" marL="0">
              <a:buNone/>
            </a:pPr>
            <a:r>
              <a:rPr lang="en-US" sz="1800" dirty="0">
                <a:solidFill>
                  <a:srgbClr val="B0AEA5"/>
                </a:solidFill>
                <a:latin typeface="Noto Sans JP" pitchFamily="34" charset="0"/>
                <a:ea typeface="Noto Sans JP" pitchFamily="34" charset="-122"/>
                <a:cs typeface="Noto Sans JP" pitchFamily="34" charset="-120"/>
              </a:rPr>
              <a:t>2026年8月 ／ 全90分</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前回の要点</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頼む・計画・実行・確認の四段階で回る</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20240"/>
            <a:ext cx="2503170" cy="1417320"/>
          </a:xfrm>
          <a:prstGeom prst="roundRect">
            <a:avLst>
              <a:gd name="adj" fmla="val 5161"/>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609905" y="2048256"/>
            <a:ext cx="2503170"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01</a:t>
            </a:r>
            <a:endParaRPr lang="en-US" sz="1350" dirty="0"/>
          </a:p>
        </p:txBody>
      </p:sp>
      <p:sp>
        <p:nvSpPr>
          <p:cNvPr id="7" name="Text 5"/>
          <p:cNvSpPr/>
          <p:nvPr/>
        </p:nvSpPr>
        <p:spPr>
          <a:xfrm>
            <a:off x="609905" y="2322576"/>
            <a:ext cx="2503170"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頼む</a:t>
            </a:r>
            <a:endParaRPr lang="en-US" sz="1650" dirty="0"/>
          </a:p>
        </p:txBody>
      </p:sp>
      <p:sp>
        <p:nvSpPr>
          <p:cNvPr id="8" name="Text 6"/>
          <p:cNvSpPr/>
          <p:nvPr/>
        </p:nvSpPr>
        <p:spPr>
          <a:xfrm>
            <a:off x="609905" y="2670048"/>
            <a:ext cx="2503170" cy="566928"/>
          </a:xfrm>
          <a:prstGeom prst="rect">
            <a:avLst/>
          </a:prstGeom>
          <a:noFill/>
          <a:ln/>
        </p:spPr>
        <p:txBody>
          <a:bodyPr wrap="none" lIns="0" tIns="0" rIns="0" bIns="0" rtlCol="0" anchor="t"/>
          <a:lstStyle/>
          <a:p>
            <a:pPr algn="ctr" indent="0" marL="0">
              <a:lnSpc>
                <a:spcPct val="140000"/>
              </a:lnSpc>
              <a:buNone/>
            </a:pPr>
            <a:r>
              <a:rPr lang="en-US" sz="1350" dirty="0">
                <a:solidFill>
                  <a:srgbClr val="B0AEA5"/>
                </a:solidFill>
                <a:latin typeface="Noto Sans JP" pitchFamily="34" charset="0"/>
                <a:ea typeface="Noto Sans JP" pitchFamily="34" charset="-122"/>
                <a:cs typeface="Noto Sans JP" pitchFamily="34" charset="-120"/>
              </a:rPr>
              <a:t>日本語で伝える</a:t>
            </a:r>
            <a:endParaRPr lang="en-US" sz="1350" dirty="0"/>
          </a:p>
        </p:txBody>
      </p:sp>
      <p:sp>
        <p:nvSpPr>
          <p:cNvPr id="9" name="Text 7"/>
          <p:cNvSpPr/>
          <p:nvPr/>
        </p:nvSpPr>
        <p:spPr>
          <a:xfrm>
            <a:off x="3113075" y="1920240"/>
            <a:ext cx="320040" cy="141732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a:t>
            </a:r>
            <a:endParaRPr lang="en-US" sz="2250" dirty="0"/>
          </a:p>
        </p:txBody>
      </p:sp>
      <p:sp>
        <p:nvSpPr>
          <p:cNvPr id="10" name="Text 8"/>
          <p:cNvSpPr/>
          <p:nvPr/>
        </p:nvSpPr>
        <p:spPr>
          <a:xfrm>
            <a:off x="3433115" y="1920240"/>
            <a:ext cx="2503170" cy="1417320"/>
          </a:xfrm>
          <a:prstGeom prst="roundRect">
            <a:avLst>
              <a:gd name="adj" fmla="val 5161"/>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1" name="Text 9"/>
          <p:cNvSpPr/>
          <p:nvPr/>
        </p:nvSpPr>
        <p:spPr>
          <a:xfrm>
            <a:off x="3433115" y="2048256"/>
            <a:ext cx="2503170"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02</a:t>
            </a:r>
            <a:endParaRPr lang="en-US" sz="1350" dirty="0"/>
          </a:p>
        </p:txBody>
      </p:sp>
      <p:sp>
        <p:nvSpPr>
          <p:cNvPr id="12" name="Text 10"/>
          <p:cNvSpPr/>
          <p:nvPr/>
        </p:nvSpPr>
        <p:spPr>
          <a:xfrm>
            <a:off x="3433115" y="2322576"/>
            <a:ext cx="2503170"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計画</a:t>
            </a:r>
            <a:endParaRPr lang="en-US" sz="1650" dirty="0"/>
          </a:p>
        </p:txBody>
      </p:sp>
      <p:sp>
        <p:nvSpPr>
          <p:cNvPr id="13" name="Text 11"/>
          <p:cNvSpPr/>
          <p:nvPr/>
        </p:nvSpPr>
        <p:spPr>
          <a:xfrm>
            <a:off x="3433115" y="2670048"/>
            <a:ext cx="2503170" cy="566928"/>
          </a:xfrm>
          <a:prstGeom prst="rect">
            <a:avLst/>
          </a:prstGeom>
          <a:noFill/>
          <a:ln/>
        </p:spPr>
        <p:txBody>
          <a:bodyPr wrap="none" lIns="0" tIns="0" rIns="0" bIns="0" rtlCol="0" anchor="t"/>
          <a:lstStyle/>
          <a:p>
            <a:pPr algn="ctr" indent="0" marL="0">
              <a:lnSpc>
                <a:spcPct val="140000"/>
              </a:lnSpc>
              <a:buNone/>
            </a:pPr>
            <a:r>
              <a:rPr lang="en-US" sz="1350" dirty="0">
                <a:solidFill>
                  <a:srgbClr val="B0AEA5"/>
                </a:solidFill>
                <a:latin typeface="Noto Sans JP" pitchFamily="34" charset="0"/>
                <a:ea typeface="Noto Sans JP" pitchFamily="34" charset="-122"/>
                <a:cs typeface="Noto Sans JP" pitchFamily="34" charset="-120"/>
              </a:rPr>
              <a:t>やり方が文章で出る</a:t>
            </a:r>
            <a:endParaRPr lang="en-US" sz="1350" dirty="0"/>
          </a:p>
        </p:txBody>
      </p:sp>
      <p:sp>
        <p:nvSpPr>
          <p:cNvPr id="14" name="Text 12"/>
          <p:cNvSpPr/>
          <p:nvPr/>
        </p:nvSpPr>
        <p:spPr>
          <a:xfrm>
            <a:off x="5936285" y="1920240"/>
            <a:ext cx="320040" cy="141732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a:t>
            </a:r>
            <a:endParaRPr lang="en-US" sz="2250" dirty="0"/>
          </a:p>
        </p:txBody>
      </p:sp>
      <p:sp>
        <p:nvSpPr>
          <p:cNvPr id="15" name="Text 13"/>
          <p:cNvSpPr/>
          <p:nvPr/>
        </p:nvSpPr>
        <p:spPr>
          <a:xfrm>
            <a:off x="6256325" y="1920240"/>
            <a:ext cx="2503170" cy="1417320"/>
          </a:xfrm>
          <a:prstGeom prst="roundRect">
            <a:avLst>
              <a:gd name="adj" fmla="val 5161"/>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6" name="Text 14"/>
          <p:cNvSpPr/>
          <p:nvPr/>
        </p:nvSpPr>
        <p:spPr>
          <a:xfrm>
            <a:off x="6256325" y="2048256"/>
            <a:ext cx="2503170"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03</a:t>
            </a:r>
            <a:endParaRPr lang="en-US" sz="1350" dirty="0"/>
          </a:p>
        </p:txBody>
      </p:sp>
      <p:sp>
        <p:nvSpPr>
          <p:cNvPr id="17" name="Text 15"/>
          <p:cNvSpPr/>
          <p:nvPr/>
        </p:nvSpPr>
        <p:spPr>
          <a:xfrm>
            <a:off x="6256325" y="2322576"/>
            <a:ext cx="2503170"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実行</a:t>
            </a:r>
            <a:endParaRPr lang="en-US" sz="1650" dirty="0"/>
          </a:p>
        </p:txBody>
      </p:sp>
      <p:sp>
        <p:nvSpPr>
          <p:cNvPr id="18" name="Text 16"/>
          <p:cNvSpPr/>
          <p:nvPr/>
        </p:nvSpPr>
        <p:spPr>
          <a:xfrm>
            <a:off x="6256325" y="2670048"/>
            <a:ext cx="2503170" cy="566928"/>
          </a:xfrm>
          <a:prstGeom prst="rect">
            <a:avLst/>
          </a:prstGeom>
          <a:noFill/>
          <a:ln/>
        </p:spPr>
        <p:txBody>
          <a:bodyPr wrap="none" lIns="0" tIns="0" rIns="0" bIns="0" rtlCol="0" anchor="t"/>
          <a:lstStyle/>
          <a:p>
            <a:pPr algn="ctr" indent="0" marL="0">
              <a:lnSpc>
                <a:spcPct val="140000"/>
              </a:lnSpc>
              <a:buNone/>
            </a:pPr>
            <a:r>
              <a:rPr lang="en-US" sz="1350" dirty="0">
                <a:solidFill>
                  <a:srgbClr val="B0AEA5"/>
                </a:solidFill>
                <a:latin typeface="Noto Sans JP" pitchFamily="34" charset="0"/>
                <a:ea typeface="Noto Sans JP" pitchFamily="34" charset="-122"/>
                <a:cs typeface="Noto Sans JP" pitchFamily="34" charset="-120"/>
              </a:rPr>
              <a:t>人が承認してから動く</a:t>
            </a:r>
            <a:endParaRPr lang="en-US" sz="1350" dirty="0"/>
          </a:p>
        </p:txBody>
      </p:sp>
      <p:sp>
        <p:nvSpPr>
          <p:cNvPr id="19" name="Text 17"/>
          <p:cNvSpPr/>
          <p:nvPr/>
        </p:nvSpPr>
        <p:spPr>
          <a:xfrm>
            <a:off x="8759495" y="1920240"/>
            <a:ext cx="320040" cy="141732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a:t>
            </a:r>
            <a:endParaRPr lang="en-US" sz="2250" dirty="0"/>
          </a:p>
        </p:txBody>
      </p:sp>
      <p:sp>
        <p:nvSpPr>
          <p:cNvPr id="20" name="Text 18"/>
          <p:cNvSpPr/>
          <p:nvPr/>
        </p:nvSpPr>
        <p:spPr>
          <a:xfrm>
            <a:off x="9079535" y="1920240"/>
            <a:ext cx="2503170" cy="1417320"/>
          </a:xfrm>
          <a:prstGeom prst="roundRect">
            <a:avLst>
              <a:gd name="adj" fmla="val 5161"/>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1" name="Text 19"/>
          <p:cNvSpPr/>
          <p:nvPr/>
        </p:nvSpPr>
        <p:spPr>
          <a:xfrm>
            <a:off x="9079535" y="2048256"/>
            <a:ext cx="2503170"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04</a:t>
            </a:r>
            <a:endParaRPr lang="en-US" sz="1350" dirty="0"/>
          </a:p>
        </p:txBody>
      </p:sp>
      <p:sp>
        <p:nvSpPr>
          <p:cNvPr id="22" name="Text 20"/>
          <p:cNvSpPr/>
          <p:nvPr/>
        </p:nvSpPr>
        <p:spPr>
          <a:xfrm>
            <a:off x="9079535" y="2322576"/>
            <a:ext cx="2503170"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確認</a:t>
            </a:r>
            <a:endParaRPr lang="en-US" sz="1650" dirty="0"/>
          </a:p>
        </p:txBody>
      </p:sp>
      <p:sp>
        <p:nvSpPr>
          <p:cNvPr id="23" name="Text 21"/>
          <p:cNvSpPr/>
          <p:nvPr/>
        </p:nvSpPr>
        <p:spPr>
          <a:xfrm>
            <a:off x="9079535" y="2670048"/>
            <a:ext cx="2503170" cy="566928"/>
          </a:xfrm>
          <a:prstGeom prst="rect">
            <a:avLst/>
          </a:prstGeom>
          <a:noFill/>
          <a:ln/>
        </p:spPr>
        <p:txBody>
          <a:bodyPr wrap="none" lIns="0" tIns="0" rIns="0" bIns="0" rtlCol="0" anchor="t"/>
          <a:lstStyle/>
          <a:p>
            <a:pPr algn="ctr" indent="0" marL="0">
              <a:lnSpc>
                <a:spcPct val="140000"/>
              </a:lnSpc>
              <a:buNone/>
            </a:pPr>
            <a:r>
              <a:rPr lang="en-US" sz="1350" dirty="0">
                <a:solidFill>
                  <a:srgbClr val="B0AEA5"/>
                </a:solidFill>
                <a:latin typeface="Noto Sans JP" pitchFamily="34" charset="0"/>
                <a:ea typeface="Noto Sans JP" pitchFamily="34" charset="-122"/>
                <a:cs typeface="Noto Sans JP" pitchFamily="34" charset="-120"/>
              </a:rPr>
              <a:t>何が変わったか見る</a:t>
            </a:r>
            <a:endParaRPr lang="en-US" sz="1350" dirty="0"/>
          </a:p>
        </p:txBody>
      </p:sp>
      <p:sp>
        <p:nvSpPr>
          <p:cNvPr id="24" name="Text 22"/>
          <p:cNvSpPr/>
          <p:nvPr/>
        </p:nvSpPr>
        <p:spPr>
          <a:xfrm>
            <a:off x="609905" y="3566160"/>
            <a:ext cx="10972800" cy="274320"/>
          </a:xfrm>
          <a:prstGeom prst="rect">
            <a:avLst/>
          </a:prstGeom>
          <a:noFill/>
          <a:ln/>
        </p:spPr>
        <p:txBody>
          <a:bodyPr wrap="none" lIns="0" tIns="0" rIns="0" bIns="0" rtlCol="0" anchor="ctr"/>
          <a:lstStyle/>
          <a:p>
            <a:pPr indent="0" marL="0">
              <a:buNone/>
            </a:pPr>
            <a:r>
              <a:rPr lang="en-US" sz="1350" b="1" dirty="0">
                <a:solidFill>
                  <a:srgbClr val="B0AEA5"/>
                </a:solidFill>
                <a:latin typeface="Noto Sans JP" pitchFamily="34" charset="0"/>
                <a:ea typeface="Noto Sans JP" pitchFamily="34" charset="-122"/>
                <a:cs typeface="Noto Sans JP" pitchFamily="34" charset="-120"/>
              </a:rPr>
              <a:t>上手に使う四つの工夫</a:t>
            </a:r>
            <a:endParaRPr lang="en-US" sz="1350" dirty="0"/>
          </a:p>
        </p:txBody>
      </p:sp>
      <p:sp>
        <p:nvSpPr>
          <p:cNvPr id="25" name="Text 23"/>
          <p:cNvSpPr/>
          <p:nvPr/>
        </p:nvSpPr>
        <p:spPr>
          <a:xfrm>
            <a:off x="609905" y="3913632"/>
            <a:ext cx="1298448" cy="384048"/>
          </a:xfrm>
          <a:prstGeom prst="roundRect">
            <a:avLst>
              <a:gd name="adj" fmla="val 50000"/>
            </a:avLst>
          </a:prstGeom>
          <a:solidFill>
            <a:srgbClr val="D97757"/>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6" name="Text 24"/>
          <p:cNvSpPr/>
          <p:nvPr/>
        </p:nvSpPr>
        <p:spPr>
          <a:xfrm>
            <a:off x="609905" y="3913632"/>
            <a:ext cx="1298448" cy="384048"/>
          </a:xfrm>
          <a:prstGeom prst="rect">
            <a:avLst/>
          </a:prstGeom>
          <a:noFill/>
          <a:ln/>
        </p:spPr>
        <p:txBody>
          <a:bodyPr wrap="none" lIns="0" tIns="0" rIns="0" bIns="0" rtlCol="0" anchor="ctr"/>
          <a:lstStyle/>
          <a:p>
            <a:pPr algn="ctr" indent="0" marL="0">
              <a:buNone/>
            </a:pPr>
            <a:r>
              <a:rPr lang="en-US" sz="1350" b="1" dirty="0">
                <a:solidFill>
                  <a:srgbClr val="FAF9F5"/>
                </a:solidFill>
                <a:latin typeface="Noto Sans JP" pitchFamily="34" charset="0"/>
                <a:ea typeface="Noto Sans JP" pitchFamily="34" charset="-122"/>
                <a:cs typeface="Noto Sans JP" pitchFamily="34" charset="-120"/>
              </a:rPr>
              <a:t>プロンプト</a:t>
            </a:r>
            <a:endParaRPr lang="en-US" sz="1350" dirty="0"/>
          </a:p>
        </p:txBody>
      </p:sp>
      <p:sp>
        <p:nvSpPr>
          <p:cNvPr id="27" name="Text 25"/>
          <p:cNvSpPr/>
          <p:nvPr/>
        </p:nvSpPr>
        <p:spPr>
          <a:xfrm>
            <a:off x="2063801" y="3913632"/>
            <a:ext cx="1536192" cy="384048"/>
          </a:xfrm>
          <a:prstGeom prst="roundRect">
            <a:avLst>
              <a:gd name="adj" fmla="val 50000"/>
            </a:avLst>
          </a:prstGeom>
          <a:solidFill>
            <a:srgbClr val="6A9BCC"/>
          </a:solidFill>
          <a:ln w="19050">
            <a:solidFill>
              <a:srgbClr val="6A9BCC"/>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8" name="Text 26"/>
          <p:cNvSpPr/>
          <p:nvPr/>
        </p:nvSpPr>
        <p:spPr>
          <a:xfrm>
            <a:off x="2063801" y="3913632"/>
            <a:ext cx="1536192" cy="384048"/>
          </a:xfrm>
          <a:prstGeom prst="rect">
            <a:avLst/>
          </a:prstGeom>
          <a:noFill/>
          <a:ln/>
        </p:spPr>
        <p:txBody>
          <a:bodyPr wrap="none" lIns="0" tIns="0" rIns="0" bIns="0" rtlCol="0" anchor="ctr"/>
          <a:lstStyle/>
          <a:p>
            <a:pPr algn="ctr" indent="0" marL="0">
              <a:buNone/>
            </a:pPr>
            <a:r>
              <a:rPr lang="en-US" sz="1350" b="1" dirty="0">
                <a:solidFill>
                  <a:srgbClr val="FAF9F5"/>
                </a:solidFill>
                <a:latin typeface="Noto Sans JP" pitchFamily="34" charset="0"/>
                <a:ea typeface="Noto Sans JP" pitchFamily="34" charset="-122"/>
                <a:cs typeface="Noto Sans JP" pitchFamily="34" charset="-120"/>
              </a:rPr>
              <a:t>コンテキスト</a:t>
            </a:r>
            <a:endParaRPr lang="en-US" sz="1350" dirty="0"/>
          </a:p>
        </p:txBody>
      </p:sp>
      <p:sp>
        <p:nvSpPr>
          <p:cNvPr id="29" name="Text 27"/>
          <p:cNvSpPr/>
          <p:nvPr/>
        </p:nvSpPr>
        <p:spPr>
          <a:xfrm>
            <a:off x="3755441" y="3913632"/>
            <a:ext cx="1965960" cy="384048"/>
          </a:xfrm>
          <a:prstGeom prst="roundRect">
            <a:avLst>
              <a:gd name="adj" fmla="val 50000"/>
            </a:avLst>
          </a:prstGeom>
          <a:solidFill>
            <a:srgbClr val="788C5D"/>
          </a:solidFill>
          <a:ln w="19050">
            <a:solidFill>
              <a:srgbClr val="788C5D"/>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30" name="Text 28"/>
          <p:cNvSpPr/>
          <p:nvPr/>
        </p:nvSpPr>
        <p:spPr>
          <a:xfrm>
            <a:off x="3755441" y="3913632"/>
            <a:ext cx="1965960" cy="384048"/>
          </a:xfrm>
          <a:prstGeom prst="rect">
            <a:avLst/>
          </a:prstGeom>
          <a:noFill/>
          <a:ln/>
        </p:spPr>
        <p:txBody>
          <a:bodyPr wrap="none" lIns="0" tIns="0" rIns="0" bIns="0" rtlCol="0" anchor="ctr"/>
          <a:lstStyle/>
          <a:p>
            <a:pPr algn="ctr" indent="0" marL="0">
              <a:buNone/>
            </a:pPr>
            <a:r>
              <a:rPr lang="en-US" sz="1350" b="1" dirty="0">
                <a:solidFill>
                  <a:srgbClr val="FAF9F5"/>
                </a:solidFill>
                <a:latin typeface="Noto Sans JP" pitchFamily="34" charset="0"/>
                <a:ea typeface="Noto Sans JP" pitchFamily="34" charset="-122"/>
                <a:cs typeface="Noto Sans JP" pitchFamily="34" charset="-120"/>
              </a:rPr>
              <a:t>ハーネス ← 今日</a:t>
            </a:r>
            <a:endParaRPr lang="en-US" sz="1350" dirty="0"/>
          </a:p>
        </p:txBody>
      </p:sp>
      <p:sp>
        <p:nvSpPr>
          <p:cNvPr id="31" name="Text 29"/>
          <p:cNvSpPr/>
          <p:nvPr/>
        </p:nvSpPr>
        <p:spPr>
          <a:xfrm>
            <a:off x="5876849" y="3913632"/>
            <a:ext cx="1051560" cy="384048"/>
          </a:xfrm>
          <a:prstGeom prst="roundRect">
            <a:avLst>
              <a:gd name="adj" fmla="val 50000"/>
            </a:avLst>
          </a:prstGeom>
          <a:solidFill>
            <a:srgbClr val="9A86C4"/>
          </a:solidFill>
          <a:ln w="19050">
            <a:solidFill>
              <a:srgbClr val="9A86C4"/>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32" name="Text 30"/>
          <p:cNvSpPr/>
          <p:nvPr/>
        </p:nvSpPr>
        <p:spPr>
          <a:xfrm>
            <a:off x="5876849" y="3913632"/>
            <a:ext cx="1051560" cy="384048"/>
          </a:xfrm>
          <a:prstGeom prst="rect">
            <a:avLst/>
          </a:prstGeom>
          <a:noFill/>
          <a:ln/>
        </p:spPr>
        <p:txBody>
          <a:bodyPr wrap="none" lIns="0" tIns="0" rIns="0" bIns="0" rtlCol="0" anchor="ctr"/>
          <a:lstStyle/>
          <a:p>
            <a:pPr algn="ctr" indent="0" marL="0">
              <a:buNone/>
            </a:pPr>
            <a:r>
              <a:rPr lang="en-US" sz="1350" b="1" dirty="0">
                <a:solidFill>
                  <a:srgbClr val="FAF9F5"/>
                </a:solidFill>
                <a:latin typeface="Noto Sans JP" pitchFamily="34" charset="0"/>
                <a:ea typeface="Noto Sans JP" pitchFamily="34" charset="-122"/>
                <a:cs typeface="Noto Sans JP" pitchFamily="34" charset="-120"/>
              </a:rPr>
              <a:t>ループ</a:t>
            </a:r>
            <a:endParaRPr lang="en-US" sz="1350" dirty="0"/>
          </a:p>
        </p:txBody>
      </p:sp>
      <p:sp>
        <p:nvSpPr>
          <p:cNvPr id="33" name="Text 31"/>
          <p:cNvSpPr/>
          <p:nvPr/>
        </p:nvSpPr>
        <p:spPr>
          <a:xfrm>
            <a:off x="609905" y="4572000"/>
            <a:ext cx="10972800" cy="749808"/>
          </a:xfrm>
          <a:prstGeom prst="roundRect">
            <a:avLst>
              <a:gd name="adj" fmla="val 12195"/>
            </a:avLst>
          </a:prstGeom>
          <a:solidFill>
            <a:srgbClr val="232321"/>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34" name="Text 32"/>
          <p:cNvSpPr/>
          <p:nvPr/>
        </p:nvSpPr>
        <p:spPr>
          <a:xfrm>
            <a:off x="609905" y="4572000"/>
            <a:ext cx="10972800" cy="749808"/>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先に仕様を決めてから頼む ＝ SDD（仕様駆動開発）＝ 段取り八分</a:t>
            </a:r>
            <a:endParaRPr lang="en-US" sz="2250" dirty="0"/>
          </a:p>
        </p:txBody>
      </p:sp>
      <p:sp>
        <p:nvSpPr>
          <p:cNvPr id="35" name="Text 33"/>
          <p:cNvSpPr/>
          <p:nvPr/>
        </p:nvSpPr>
        <p:spPr>
          <a:xfrm>
            <a:off x="609905" y="5596128"/>
            <a:ext cx="10972800" cy="320040"/>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今日のスキルは、段取りを文章に書いて置いておくもの。四つのうち三つ目のハーネスです。</a:t>
            </a:r>
            <a:endParaRPr lang="en-US" sz="1350" dirty="0"/>
          </a:p>
        </p:txBody>
      </p:sp>
      <p:sp>
        <p:nvSpPr>
          <p:cNvPr id="36" name="Text 34"/>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今日のゴール</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やり方が頭の中にしかないから、使えない</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20240"/>
            <a:ext cx="5372100" cy="1965960"/>
          </a:xfrm>
          <a:prstGeom prst="roundRect">
            <a:avLst>
              <a:gd name="adj" fmla="val 4651"/>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838505" y="2121408"/>
            <a:ext cx="4914900" cy="256032"/>
          </a:xfrm>
          <a:prstGeom prst="rect">
            <a:avLst/>
          </a:prstGeom>
          <a:noFill/>
          <a:ln/>
        </p:spPr>
        <p:txBody>
          <a:bodyPr wrap="none" lIns="0" tIns="0" rIns="0" bIns="0" rtlCol="0" anchor="ctr"/>
          <a:lstStyle/>
          <a:p>
            <a:pPr indent="0" marL="0">
              <a:buNone/>
            </a:pPr>
            <a:r>
              <a:rPr lang="en-US" sz="1350" b="1" spc="200" kern="0" dirty="0">
                <a:solidFill>
                  <a:srgbClr val="D97757"/>
                </a:solidFill>
                <a:latin typeface="Noto Sans JP" pitchFamily="34" charset="0"/>
                <a:ea typeface="Noto Sans JP" pitchFamily="34" charset="-122"/>
                <a:cs typeface="Noto Sans JP" pitchFamily="34" charset="-120"/>
              </a:rPr>
              <a:t>困りごと 01</a:t>
            </a:r>
            <a:endParaRPr lang="en-US" sz="1350" dirty="0"/>
          </a:p>
        </p:txBody>
      </p:sp>
      <p:sp>
        <p:nvSpPr>
          <p:cNvPr id="7" name="Text 5"/>
          <p:cNvSpPr/>
          <p:nvPr/>
        </p:nvSpPr>
        <p:spPr>
          <a:xfrm>
            <a:off x="838505" y="2450592"/>
            <a:ext cx="4914900" cy="329184"/>
          </a:xfrm>
          <a:prstGeom prst="rect">
            <a:avLst/>
          </a:prstGeom>
          <a:noFill/>
          <a:ln/>
        </p:spPr>
        <p:txBody>
          <a:bodyPr wrap="none" lIns="0" tIns="0" rIns="0" bIns="0" rtlCol="0" anchor="ctr"/>
          <a:lstStyle/>
          <a:p>
            <a:pPr indent="0" marL="0">
              <a:buNone/>
            </a:pPr>
            <a:r>
              <a:rPr lang="en-US" sz="1800" b="1" dirty="0">
                <a:solidFill>
                  <a:srgbClr val="FAF9F5"/>
                </a:solidFill>
                <a:latin typeface="Noto Sans JP" pitchFamily="34" charset="0"/>
                <a:ea typeface="Noto Sans JP" pitchFamily="34" charset="-122"/>
                <a:cs typeface="Noto Sans JP" pitchFamily="34" charset="-120"/>
              </a:rPr>
              <a:t>うまくいった頼み方が残らない</a:t>
            </a:r>
            <a:endParaRPr lang="en-US" sz="1800" dirty="0"/>
          </a:p>
        </p:txBody>
      </p:sp>
      <p:sp>
        <p:nvSpPr>
          <p:cNvPr id="8" name="Text 6"/>
          <p:cNvSpPr/>
          <p:nvPr/>
        </p:nvSpPr>
        <p:spPr>
          <a:xfrm>
            <a:off x="838505" y="2871216"/>
            <a:ext cx="4914900" cy="54864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前回うまく動いた文章を、</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今もう一度は書けない。</a:t>
            </a:r>
            <a:endParaRPr lang="en-US" sz="1650" dirty="0"/>
          </a:p>
        </p:txBody>
      </p:sp>
      <p:sp>
        <p:nvSpPr>
          <p:cNvPr id="9" name="Text 7"/>
          <p:cNvSpPr/>
          <p:nvPr/>
        </p:nvSpPr>
        <p:spPr>
          <a:xfrm>
            <a:off x="6210605" y="1920240"/>
            <a:ext cx="5372100" cy="1965960"/>
          </a:xfrm>
          <a:prstGeom prst="roundRect">
            <a:avLst>
              <a:gd name="adj" fmla="val 4651"/>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0" name="Text 8"/>
          <p:cNvSpPr/>
          <p:nvPr/>
        </p:nvSpPr>
        <p:spPr>
          <a:xfrm>
            <a:off x="6439205" y="2121408"/>
            <a:ext cx="4914900" cy="256032"/>
          </a:xfrm>
          <a:prstGeom prst="rect">
            <a:avLst/>
          </a:prstGeom>
          <a:noFill/>
          <a:ln/>
        </p:spPr>
        <p:txBody>
          <a:bodyPr wrap="none" lIns="0" tIns="0" rIns="0" bIns="0" rtlCol="0" anchor="ctr"/>
          <a:lstStyle/>
          <a:p>
            <a:pPr indent="0" marL="0">
              <a:buNone/>
            </a:pPr>
            <a:r>
              <a:rPr lang="en-US" sz="1350" b="1" spc="200" kern="0" dirty="0">
                <a:solidFill>
                  <a:srgbClr val="6A9BCC"/>
                </a:solidFill>
                <a:latin typeface="Noto Sans JP" pitchFamily="34" charset="0"/>
                <a:ea typeface="Noto Sans JP" pitchFamily="34" charset="-122"/>
                <a:cs typeface="Noto Sans JP" pitchFamily="34" charset="-120"/>
              </a:rPr>
              <a:t>困りごと 02</a:t>
            </a:r>
            <a:endParaRPr lang="en-US" sz="1350" dirty="0"/>
          </a:p>
        </p:txBody>
      </p:sp>
      <p:sp>
        <p:nvSpPr>
          <p:cNvPr id="11" name="Text 9"/>
          <p:cNvSpPr/>
          <p:nvPr/>
        </p:nvSpPr>
        <p:spPr>
          <a:xfrm>
            <a:off x="6439205" y="2450592"/>
            <a:ext cx="4914900" cy="329184"/>
          </a:xfrm>
          <a:prstGeom prst="rect">
            <a:avLst/>
          </a:prstGeom>
          <a:noFill/>
          <a:ln/>
        </p:spPr>
        <p:txBody>
          <a:bodyPr wrap="none" lIns="0" tIns="0" rIns="0" bIns="0" rtlCol="0" anchor="ctr"/>
          <a:lstStyle/>
          <a:p>
            <a:pPr indent="0" marL="0">
              <a:buNone/>
            </a:pPr>
            <a:r>
              <a:rPr lang="en-US" sz="1800" b="1" dirty="0">
                <a:solidFill>
                  <a:srgbClr val="FAF9F5"/>
                </a:solidFill>
                <a:latin typeface="Noto Sans JP" pitchFamily="34" charset="0"/>
                <a:ea typeface="Noto Sans JP" pitchFamily="34" charset="-122"/>
                <a:cs typeface="Noto Sans JP" pitchFamily="34" charset="-120"/>
              </a:rPr>
              <a:t>毎回、同じ前提を説明している</a:t>
            </a:r>
            <a:endParaRPr lang="en-US" sz="1800" dirty="0"/>
          </a:p>
        </p:txBody>
      </p:sp>
      <p:sp>
        <p:nvSpPr>
          <p:cNvPr id="12" name="Text 10"/>
          <p:cNvSpPr/>
          <p:nvPr/>
        </p:nvSpPr>
        <p:spPr>
          <a:xfrm>
            <a:off x="6439205" y="2871216"/>
            <a:ext cx="4914900" cy="54864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書式も観点も決まっているのに、</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頼むたびに口で伝え直す。</a:t>
            </a:r>
            <a:endParaRPr lang="en-US" sz="1650" dirty="0"/>
          </a:p>
        </p:txBody>
      </p:sp>
      <p:sp>
        <p:nvSpPr>
          <p:cNvPr id="13" name="Text 11"/>
          <p:cNvSpPr/>
          <p:nvPr/>
        </p:nvSpPr>
        <p:spPr>
          <a:xfrm>
            <a:off x="609905" y="4041648"/>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上手な人のやり方が、作業標準書になっていない状態です。</a:t>
            </a:r>
            <a:endParaRPr lang="en-US" sz="1350" dirty="0"/>
          </a:p>
        </p:txBody>
      </p:sp>
      <p:sp>
        <p:nvSpPr>
          <p:cNvPr id="14" name="Text 12"/>
          <p:cNvSpPr/>
          <p:nvPr/>
        </p:nvSpPr>
        <p:spPr>
          <a:xfrm>
            <a:off x="609905" y="4480560"/>
            <a:ext cx="2626614" cy="1097280"/>
          </a:xfrm>
          <a:prstGeom prst="roundRect">
            <a:avLst>
              <a:gd name="adj" fmla="val 8333"/>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5" name="Text 13"/>
          <p:cNvSpPr/>
          <p:nvPr/>
        </p:nvSpPr>
        <p:spPr>
          <a:xfrm>
            <a:off x="838505" y="4626864"/>
            <a:ext cx="2169414" cy="219456"/>
          </a:xfrm>
          <a:prstGeom prst="rect">
            <a:avLst/>
          </a:prstGeom>
          <a:noFill/>
          <a:ln/>
        </p:spPr>
        <p:txBody>
          <a:bodyPr wrap="none" lIns="0" tIns="0" rIns="0" bIns="0" rtlCol="0" anchor="ctr"/>
          <a:lstStyle/>
          <a:p>
            <a:pPr indent="0" marL="0">
              <a:buNone/>
            </a:pPr>
            <a:r>
              <a:rPr lang="en-US" sz="1050" b="1" spc="100" kern="0" dirty="0">
                <a:solidFill>
                  <a:srgbClr val="D97757"/>
                </a:solidFill>
                <a:latin typeface="Noto Sans JP" pitchFamily="34" charset="0"/>
                <a:ea typeface="Noto Sans JP" pitchFamily="34" charset="-122"/>
                <a:cs typeface="Noto Sans JP" pitchFamily="34" charset="-120"/>
              </a:rPr>
              <a:t>GOAL 01</a:t>
            </a:r>
            <a:endParaRPr lang="en-US" sz="1050" dirty="0"/>
          </a:p>
        </p:txBody>
      </p:sp>
      <p:sp>
        <p:nvSpPr>
          <p:cNvPr id="16" name="Text 14"/>
          <p:cNvSpPr/>
          <p:nvPr/>
        </p:nvSpPr>
        <p:spPr>
          <a:xfrm>
            <a:off x="838505" y="4892040"/>
            <a:ext cx="2169414" cy="548640"/>
          </a:xfrm>
          <a:prstGeom prst="rect">
            <a:avLst/>
          </a:prstGeom>
          <a:noFill/>
          <a:ln/>
        </p:spPr>
        <p:txBody>
          <a:bodyPr wrap="none" lIns="0" tIns="0" rIns="0" bIns="0" rtlCol="0" anchor="t"/>
          <a:lstStyle/>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指示文との違いを</a:t>
            </a:r>
            <a:endParaRPr lang="en-US" sz="1350" dirty="0"/>
          </a:p>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自分の言葉で言える</a:t>
            </a:r>
            <a:endParaRPr lang="en-US" sz="1350" dirty="0"/>
          </a:p>
        </p:txBody>
      </p:sp>
      <p:sp>
        <p:nvSpPr>
          <p:cNvPr id="17" name="Text 15"/>
          <p:cNvSpPr/>
          <p:nvPr/>
        </p:nvSpPr>
        <p:spPr>
          <a:xfrm>
            <a:off x="3391967" y="4480560"/>
            <a:ext cx="2626614" cy="1097280"/>
          </a:xfrm>
          <a:prstGeom prst="roundRect">
            <a:avLst>
              <a:gd name="adj" fmla="val 8333"/>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8" name="Text 16"/>
          <p:cNvSpPr/>
          <p:nvPr/>
        </p:nvSpPr>
        <p:spPr>
          <a:xfrm>
            <a:off x="3620567" y="4626864"/>
            <a:ext cx="2169414" cy="219456"/>
          </a:xfrm>
          <a:prstGeom prst="rect">
            <a:avLst/>
          </a:prstGeom>
          <a:noFill/>
          <a:ln/>
        </p:spPr>
        <p:txBody>
          <a:bodyPr wrap="none" lIns="0" tIns="0" rIns="0" bIns="0" rtlCol="0" anchor="ctr"/>
          <a:lstStyle/>
          <a:p>
            <a:pPr indent="0" marL="0">
              <a:buNone/>
            </a:pPr>
            <a:r>
              <a:rPr lang="en-US" sz="1050" b="1" spc="100" kern="0" dirty="0">
                <a:solidFill>
                  <a:srgbClr val="6A9BCC"/>
                </a:solidFill>
                <a:latin typeface="Noto Sans JP" pitchFamily="34" charset="0"/>
                <a:ea typeface="Noto Sans JP" pitchFamily="34" charset="-122"/>
                <a:cs typeface="Noto Sans JP" pitchFamily="34" charset="-120"/>
              </a:rPr>
              <a:t>GOAL 02</a:t>
            </a:r>
            <a:endParaRPr lang="en-US" sz="1050" dirty="0"/>
          </a:p>
        </p:txBody>
      </p:sp>
      <p:sp>
        <p:nvSpPr>
          <p:cNvPr id="19" name="Text 17"/>
          <p:cNvSpPr/>
          <p:nvPr/>
        </p:nvSpPr>
        <p:spPr>
          <a:xfrm>
            <a:off x="3620567" y="4892040"/>
            <a:ext cx="2169414" cy="548640"/>
          </a:xfrm>
          <a:prstGeom prst="rect">
            <a:avLst/>
          </a:prstGeom>
          <a:noFill/>
          <a:ln/>
        </p:spPr>
        <p:txBody>
          <a:bodyPr wrap="none" lIns="0" tIns="0" rIns="0" bIns="0" rtlCol="0" anchor="t"/>
          <a:lstStyle/>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公開されたものを</a:t>
            </a:r>
            <a:endParaRPr lang="en-US" sz="1350" dirty="0"/>
          </a:p>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一つ入れて動かす</a:t>
            </a:r>
            <a:endParaRPr lang="en-US" sz="1350" dirty="0"/>
          </a:p>
        </p:txBody>
      </p:sp>
      <p:sp>
        <p:nvSpPr>
          <p:cNvPr id="20" name="Text 18"/>
          <p:cNvSpPr/>
          <p:nvPr/>
        </p:nvSpPr>
        <p:spPr>
          <a:xfrm>
            <a:off x="6174029" y="4480560"/>
            <a:ext cx="2626614" cy="1097280"/>
          </a:xfrm>
          <a:prstGeom prst="roundRect">
            <a:avLst>
              <a:gd name="adj" fmla="val 8333"/>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1" name="Text 19"/>
          <p:cNvSpPr/>
          <p:nvPr/>
        </p:nvSpPr>
        <p:spPr>
          <a:xfrm>
            <a:off x="6402629" y="4626864"/>
            <a:ext cx="2169414" cy="219456"/>
          </a:xfrm>
          <a:prstGeom prst="rect">
            <a:avLst/>
          </a:prstGeom>
          <a:noFill/>
          <a:ln/>
        </p:spPr>
        <p:txBody>
          <a:bodyPr wrap="none" lIns="0" tIns="0" rIns="0" bIns="0" rtlCol="0" anchor="ctr"/>
          <a:lstStyle/>
          <a:p>
            <a:pPr indent="0" marL="0">
              <a:buNone/>
            </a:pPr>
            <a:r>
              <a:rPr lang="en-US" sz="1050" b="1" spc="100" kern="0" dirty="0">
                <a:solidFill>
                  <a:srgbClr val="788C5D"/>
                </a:solidFill>
                <a:latin typeface="Noto Sans JP" pitchFamily="34" charset="0"/>
                <a:ea typeface="Noto Sans JP" pitchFamily="34" charset="-122"/>
                <a:cs typeface="Noto Sans JP" pitchFamily="34" charset="-120"/>
              </a:rPr>
              <a:t>GOAL 03</a:t>
            </a:r>
            <a:endParaRPr lang="en-US" sz="1050" dirty="0"/>
          </a:p>
        </p:txBody>
      </p:sp>
      <p:sp>
        <p:nvSpPr>
          <p:cNvPr id="22" name="Text 20"/>
          <p:cNvSpPr/>
          <p:nvPr/>
        </p:nvSpPr>
        <p:spPr>
          <a:xfrm>
            <a:off x="6402629" y="4892040"/>
            <a:ext cx="2169414" cy="548640"/>
          </a:xfrm>
          <a:prstGeom prst="rect">
            <a:avLst/>
          </a:prstGeom>
          <a:noFill/>
          <a:ln/>
        </p:spPr>
        <p:txBody>
          <a:bodyPr wrap="none" lIns="0" tIns="0" rIns="0" bIns="0" rtlCol="0" anchor="t"/>
          <a:lstStyle/>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自分の一つを決めて</a:t>
            </a:r>
            <a:endParaRPr lang="en-US" sz="1350" dirty="0"/>
          </a:p>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作り始める</a:t>
            </a:r>
            <a:endParaRPr lang="en-US" sz="1350" dirty="0"/>
          </a:p>
        </p:txBody>
      </p:sp>
      <p:sp>
        <p:nvSpPr>
          <p:cNvPr id="23" name="Text 21"/>
          <p:cNvSpPr/>
          <p:nvPr/>
        </p:nvSpPr>
        <p:spPr>
          <a:xfrm>
            <a:off x="8956091" y="4480560"/>
            <a:ext cx="2626614" cy="1097280"/>
          </a:xfrm>
          <a:prstGeom prst="roundRect">
            <a:avLst>
              <a:gd name="adj" fmla="val 8333"/>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4" name="Text 22"/>
          <p:cNvSpPr/>
          <p:nvPr/>
        </p:nvSpPr>
        <p:spPr>
          <a:xfrm>
            <a:off x="9184691" y="4626864"/>
            <a:ext cx="2169414" cy="219456"/>
          </a:xfrm>
          <a:prstGeom prst="rect">
            <a:avLst/>
          </a:prstGeom>
          <a:noFill/>
          <a:ln/>
        </p:spPr>
        <p:txBody>
          <a:bodyPr wrap="none" lIns="0" tIns="0" rIns="0" bIns="0" rtlCol="0" anchor="ctr"/>
          <a:lstStyle/>
          <a:p>
            <a:pPr indent="0" marL="0">
              <a:buNone/>
            </a:pPr>
            <a:r>
              <a:rPr lang="en-US" sz="1050" b="1" spc="100" kern="0" dirty="0">
                <a:solidFill>
                  <a:srgbClr val="9A86C4"/>
                </a:solidFill>
                <a:latin typeface="Noto Sans JP" pitchFamily="34" charset="0"/>
                <a:ea typeface="Noto Sans JP" pitchFamily="34" charset="-122"/>
                <a:cs typeface="Noto Sans JP" pitchFamily="34" charset="-120"/>
              </a:rPr>
              <a:t>GOAL 04</a:t>
            </a:r>
            <a:endParaRPr lang="en-US" sz="1050" dirty="0"/>
          </a:p>
        </p:txBody>
      </p:sp>
      <p:sp>
        <p:nvSpPr>
          <p:cNvPr id="25" name="Text 23"/>
          <p:cNvSpPr/>
          <p:nvPr/>
        </p:nvSpPr>
        <p:spPr>
          <a:xfrm>
            <a:off x="9184691" y="4892040"/>
            <a:ext cx="2169414" cy="548640"/>
          </a:xfrm>
          <a:prstGeom prst="rect">
            <a:avLst/>
          </a:prstGeom>
          <a:noFill/>
          <a:ln/>
        </p:spPr>
        <p:txBody>
          <a:bodyPr wrap="none" lIns="0" tIns="0" rIns="0" bIns="0" rtlCol="0" anchor="t"/>
          <a:lstStyle/>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仕事に見合う量を</a:t>
            </a:r>
            <a:endParaRPr lang="en-US" sz="1350" dirty="0"/>
          </a:p>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選べるようになる</a:t>
            </a:r>
            <a:endParaRPr lang="en-US" sz="1350" dirty="0"/>
          </a:p>
        </p:txBody>
      </p:sp>
      <p:sp>
        <p:nvSpPr>
          <p:cNvPr id="26" name="Text 24"/>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2148840"/>
            <a:ext cx="10972800" cy="1005840"/>
          </a:xfrm>
          <a:prstGeom prst="rect">
            <a:avLst/>
          </a:prstGeom>
          <a:noFill/>
          <a:ln/>
        </p:spPr>
        <p:txBody>
          <a:bodyPr wrap="none" lIns="0" tIns="0" rIns="0" bIns="0" rtlCol="0" anchor="ctr"/>
          <a:lstStyle/>
          <a:p>
            <a:pPr indent="0" marL="0">
              <a:buNone/>
            </a:pPr>
            <a:r>
              <a:rPr lang="en-US" sz="7800" b="1" dirty="0">
                <a:solidFill>
                  <a:srgbClr val="D97757"/>
                </a:solidFill>
                <a:latin typeface="Noto Sans JP" pitchFamily="34" charset="0"/>
                <a:ea typeface="Noto Sans JP" pitchFamily="34" charset="-122"/>
                <a:cs typeface="Noto Sans JP" pitchFamily="34" charset="-120"/>
              </a:rPr>
              <a:t>01</a:t>
            </a:r>
            <a:endParaRPr lang="en-US" sz="7800" dirty="0"/>
          </a:p>
        </p:txBody>
      </p:sp>
      <p:sp>
        <p:nvSpPr>
          <p:cNvPr id="3" name="Text 1"/>
          <p:cNvSpPr/>
          <p:nvPr/>
        </p:nvSpPr>
        <p:spPr>
          <a:xfrm>
            <a:off x="609905" y="3337560"/>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スキルとは</a:t>
            </a:r>
            <a:endParaRPr lang="en-US" sz="3600" dirty="0"/>
          </a:p>
        </p:txBody>
      </p:sp>
      <p:sp>
        <p:nvSpPr>
          <p:cNvPr id="4" name="Text 2"/>
          <p:cNvSpPr/>
          <p:nvPr/>
        </p:nvSpPr>
        <p:spPr>
          <a:xfrm>
            <a:off x="609905" y="4114800"/>
            <a:ext cx="10972800" cy="384048"/>
          </a:xfrm>
          <a:prstGeom prst="rect">
            <a:avLst/>
          </a:prstGeom>
          <a:noFill/>
          <a:ln/>
        </p:spPr>
        <p:txBody>
          <a:bodyPr wrap="none" lIns="0" tIns="0" rIns="0" bIns="0" rtlCol="0" anchor="ctr"/>
          <a:lstStyle/>
          <a:p>
            <a:pPr indent="0" marL="0">
              <a:buNone/>
            </a:pPr>
            <a:r>
              <a:rPr lang="en-US" sz="1800" dirty="0">
                <a:solidFill>
                  <a:srgbClr val="B0AEA5"/>
                </a:solidFill>
                <a:latin typeface="Noto Sans JP" pitchFamily="34" charset="0"/>
                <a:ea typeface="Noto Sans JP" pitchFamily="34" charset="-122"/>
                <a:cs typeface="Noto Sans JP" pitchFamily="34" charset="-120"/>
              </a:rPr>
              <a:t>手順書に、道具を付ける</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なぜ出力がぶれるのか</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決まった判断を機械に渡すほど、ぶれない</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810512"/>
            <a:ext cx="10972800" cy="274320"/>
          </a:xfrm>
          <a:prstGeom prst="rect">
            <a:avLst/>
          </a:prstGeom>
          <a:noFill/>
          <a:ln/>
        </p:spPr>
        <p:txBody>
          <a:bodyPr wrap="none" lIns="0" tIns="0" rIns="0" bIns="0" rtlCol="0" anchor="ctr"/>
          <a:lstStyle/>
          <a:p>
            <a:pPr indent="0" marL="0">
              <a:buNone/>
            </a:pPr>
            <a:r>
              <a:rPr lang="en-US" sz="1350" b="1" dirty="0">
                <a:solidFill>
                  <a:srgbClr val="B0AEA5"/>
                </a:solidFill>
                <a:latin typeface="Noto Sans JP" pitchFamily="34" charset="0"/>
                <a:ea typeface="Noto Sans JP" pitchFamily="34" charset="-122"/>
                <a:cs typeface="Noto Sans JP" pitchFamily="34" charset="-120"/>
              </a:rPr>
              <a:t>AIが文章を作る仕組み（おおまかに）</a:t>
            </a:r>
            <a:endParaRPr lang="en-US" sz="1350" dirty="0"/>
          </a:p>
        </p:txBody>
      </p:sp>
      <p:sp>
        <p:nvSpPr>
          <p:cNvPr id="6" name="Text 4"/>
          <p:cNvSpPr/>
          <p:nvPr/>
        </p:nvSpPr>
        <p:spPr>
          <a:xfrm>
            <a:off x="609905" y="2212848"/>
            <a:ext cx="3553968" cy="1691640"/>
          </a:xfrm>
          <a:prstGeom prst="roundRect">
            <a:avLst>
              <a:gd name="adj" fmla="val 5405"/>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7" name="Text 5"/>
          <p:cNvSpPr/>
          <p:nvPr/>
        </p:nvSpPr>
        <p:spPr>
          <a:xfrm>
            <a:off x="838505" y="2359152"/>
            <a:ext cx="3096768" cy="219456"/>
          </a:xfrm>
          <a:prstGeom prst="rect">
            <a:avLst/>
          </a:prstGeom>
          <a:noFill/>
          <a:ln/>
        </p:spPr>
        <p:txBody>
          <a:bodyPr wrap="none" lIns="0" tIns="0" rIns="0" bIns="0" rtlCol="0" anchor="ctr"/>
          <a:lstStyle/>
          <a:p>
            <a:pPr indent="0" marL="0">
              <a:buNone/>
            </a:pPr>
            <a:r>
              <a:rPr lang="en-US" sz="1050" b="1" dirty="0">
                <a:solidFill>
                  <a:srgbClr val="D97757"/>
                </a:solidFill>
                <a:latin typeface="Noto Sans JP" pitchFamily="34" charset="0"/>
                <a:ea typeface="Noto Sans JP" pitchFamily="34" charset="-122"/>
                <a:cs typeface="Noto Sans JP" pitchFamily="34" charset="-120"/>
              </a:rPr>
              <a:t>STEP 01</a:t>
            </a:r>
            <a:endParaRPr lang="en-US" sz="1050" dirty="0"/>
          </a:p>
        </p:txBody>
      </p:sp>
      <p:sp>
        <p:nvSpPr>
          <p:cNvPr id="8" name="Text 6"/>
          <p:cNvSpPr/>
          <p:nvPr/>
        </p:nvSpPr>
        <p:spPr>
          <a:xfrm>
            <a:off x="838505" y="2633472"/>
            <a:ext cx="3096768" cy="310896"/>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言葉を数値に変える</a:t>
            </a:r>
            <a:endParaRPr lang="en-US" sz="1650" dirty="0"/>
          </a:p>
        </p:txBody>
      </p:sp>
      <p:sp>
        <p:nvSpPr>
          <p:cNvPr id="9" name="Text 7"/>
          <p:cNvSpPr/>
          <p:nvPr/>
        </p:nvSpPr>
        <p:spPr>
          <a:xfrm>
            <a:off x="838505" y="3017520"/>
            <a:ext cx="3096768" cy="822960"/>
          </a:xfrm>
          <a:prstGeom prst="rect">
            <a:avLst/>
          </a:prstGeom>
          <a:noFill/>
          <a:ln/>
        </p:spPr>
        <p:txBody>
          <a:bodyPr wrap="none" lIns="0" tIns="0" rIns="0" bIns="0" rtlCol="0" anchor="t"/>
          <a:lstStyle/>
          <a:p>
            <a:pPr indent="0" marL="0">
              <a:lnSpc>
                <a:spcPct val="145000"/>
              </a:lnSpc>
              <a:buNone/>
            </a:pPr>
            <a:r>
              <a:rPr lang="en-US" sz="1350" dirty="0">
                <a:solidFill>
                  <a:srgbClr val="B0AEA5"/>
                </a:solidFill>
                <a:latin typeface="Noto Sans JP" pitchFamily="34" charset="0"/>
                <a:ea typeface="Noto Sans JP" pitchFamily="34" charset="-122"/>
                <a:cs typeface="Noto Sans JP" pitchFamily="34" charset="-120"/>
              </a:rPr>
              <a:t>意味の近い言葉どうしが</a:t>
            </a:r>
            <a:endParaRPr lang="en-US" sz="1350" dirty="0"/>
          </a:p>
          <a:p>
            <a:pPr indent="0" marL="0">
              <a:lnSpc>
                <a:spcPct val="145000"/>
              </a:lnSpc>
              <a:buNone/>
            </a:pPr>
            <a:r>
              <a:rPr lang="en-US" sz="1350" dirty="0">
                <a:solidFill>
                  <a:srgbClr val="B0AEA5"/>
                </a:solidFill>
                <a:latin typeface="Noto Sans JP" pitchFamily="34" charset="0"/>
                <a:ea typeface="Noto Sans JP" pitchFamily="34" charset="-122"/>
                <a:cs typeface="Noto Sans JP" pitchFamily="34" charset="-120"/>
              </a:rPr>
              <a:t>近い数値になるよう変換する</a:t>
            </a:r>
            <a:endParaRPr lang="en-US" sz="1350" dirty="0"/>
          </a:p>
          <a:p>
            <a:pPr indent="0" marL="0">
              <a:lnSpc>
                <a:spcPct val="145000"/>
              </a:lnSpc>
              <a:buNone/>
            </a:pPr>
            <a:r>
              <a:rPr lang="en-US" sz="1350" dirty="0">
                <a:solidFill>
                  <a:srgbClr val="B0AEA5"/>
                </a:solidFill>
                <a:latin typeface="Noto Sans JP" pitchFamily="34" charset="0"/>
                <a:ea typeface="Noto Sans JP" pitchFamily="34" charset="-122"/>
                <a:cs typeface="Noto Sans JP" pitchFamily="34" charset="-120"/>
              </a:rPr>
              <a:t>（専門用語でベクトル化）。</a:t>
            </a:r>
            <a:endParaRPr lang="en-US" sz="1350" dirty="0"/>
          </a:p>
        </p:txBody>
      </p:sp>
      <p:sp>
        <p:nvSpPr>
          <p:cNvPr id="10" name="Text 8"/>
          <p:cNvSpPr/>
          <p:nvPr/>
        </p:nvSpPr>
        <p:spPr>
          <a:xfrm>
            <a:off x="4319321" y="2212848"/>
            <a:ext cx="3553968" cy="1691640"/>
          </a:xfrm>
          <a:prstGeom prst="roundRect">
            <a:avLst>
              <a:gd name="adj" fmla="val 5405"/>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1" name="Text 9"/>
          <p:cNvSpPr/>
          <p:nvPr/>
        </p:nvSpPr>
        <p:spPr>
          <a:xfrm>
            <a:off x="4547921" y="2359152"/>
            <a:ext cx="3096768" cy="219456"/>
          </a:xfrm>
          <a:prstGeom prst="rect">
            <a:avLst/>
          </a:prstGeom>
          <a:noFill/>
          <a:ln/>
        </p:spPr>
        <p:txBody>
          <a:bodyPr wrap="none" lIns="0" tIns="0" rIns="0" bIns="0" rtlCol="0" anchor="ctr"/>
          <a:lstStyle/>
          <a:p>
            <a:pPr indent="0" marL="0">
              <a:buNone/>
            </a:pPr>
            <a:r>
              <a:rPr lang="en-US" sz="1050" b="1" dirty="0">
                <a:solidFill>
                  <a:srgbClr val="D97757"/>
                </a:solidFill>
                <a:latin typeface="Noto Sans JP" pitchFamily="34" charset="0"/>
                <a:ea typeface="Noto Sans JP" pitchFamily="34" charset="-122"/>
                <a:cs typeface="Noto Sans JP" pitchFamily="34" charset="-120"/>
              </a:rPr>
              <a:t>STEP 02</a:t>
            </a:r>
            <a:endParaRPr lang="en-US" sz="1050" dirty="0"/>
          </a:p>
        </p:txBody>
      </p:sp>
      <p:sp>
        <p:nvSpPr>
          <p:cNvPr id="12" name="Text 10"/>
          <p:cNvSpPr/>
          <p:nvPr/>
        </p:nvSpPr>
        <p:spPr>
          <a:xfrm>
            <a:off x="4547921" y="2633472"/>
            <a:ext cx="3096768" cy="310896"/>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次に来る語を確率で並べる</a:t>
            </a:r>
            <a:endParaRPr lang="en-US" sz="1650" dirty="0"/>
          </a:p>
        </p:txBody>
      </p:sp>
      <p:sp>
        <p:nvSpPr>
          <p:cNvPr id="13" name="Text 11"/>
          <p:cNvSpPr/>
          <p:nvPr/>
        </p:nvSpPr>
        <p:spPr>
          <a:xfrm>
            <a:off x="4547921" y="3035808"/>
            <a:ext cx="566928" cy="237744"/>
          </a:xfrm>
          <a:prstGeom prst="rect">
            <a:avLst/>
          </a:prstGeom>
          <a:noFill/>
          <a:ln/>
        </p:spPr>
        <p:txBody>
          <a:bodyPr wrap="none" lIns="0" tIns="0" rIns="0" bIns="0" rtlCol="0" anchor="ctr"/>
          <a:lstStyle/>
          <a:p>
            <a:pPr indent="0" marL="0">
              <a:buNone/>
            </a:pPr>
            <a:r>
              <a:rPr lang="en-US" sz="1050" dirty="0">
                <a:solidFill>
                  <a:srgbClr val="FAF9F5"/>
                </a:solidFill>
                <a:latin typeface="Consolas" pitchFamily="34" charset="0"/>
                <a:ea typeface="Consolas" pitchFamily="34" charset="-122"/>
                <a:cs typeface="Consolas" pitchFamily="34" charset="-120"/>
              </a:rPr>
              <a:t>点検</a:t>
            </a:r>
            <a:endParaRPr lang="en-US" sz="1050" dirty="0"/>
          </a:p>
        </p:txBody>
      </p:sp>
      <p:sp>
        <p:nvSpPr>
          <p:cNvPr id="14" name="Text 12"/>
          <p:cNvSpPr/>
          <p:nvPr/>
        </p:nvSpPr>
        <p:spPr>
          <a:xfrm>
            <a:off x="5188001" y="3099816"/>
            <a:ext cx="1124712" cy="100584"/>
          </a:xfrm>
          <a:prstGeom prst="rect">
            <a:avLst/>
          </a:prstGeom>
          <a:solidFill>
            <a:srgbClr val="D97757"/>
          </a:solidFill>
          <a:ln>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5" name="Text 13"/>
          <p:cNvSpPr/>
          <p:nvPr/>
        </p:nvSpPr>
        <p:spPr>
          <a:xfrm>
            <a:off x="6404153" y="3035808"/>
            <a:ext cx="548640" cy="237744"/>
          </a:xfrm>
          <a:prstGeom prst="rect">
            <a:avLst/>
          </a:prstGeom>
          <a:noFill/>
          <a:ln/>
        </p:spPr>
        <p:txBody>
          <a:bodyPr wrap="none" lIns="0" tIns="0" rIns="0" bIns="0" rtlCol="0" anchor="ctr"/>
          <a:lstStyle/>
          <a:p>
            <a:pPr indent="0" marL="0">
              <a:buNone/>
            </a:pPr>
            <a:r>
              <a:rPr lang="en-US" sz="1050" dirty="0">
                <a:solidFill>
                  <a:srgbClr val="B0AEA5"/>
                </a:solidFill>
                <a:latin typeface="Consolas" pitchFamily="34" charset="0"/>
                <a:ea typeface="Consolas" pitchFamily="34" charset="-122"/>
                <a:cs typeface="Consolas" pitchFamily="34" charset="-120"/>
              </a:rPr>
              <a:t>42%</a:t>
            </a:r>
            <a:endParaRPr lang="en-US" sz="1050" dirty="0"/>
          </a:p>
        </p:txBody>
      </p:sp>
      <p:sp>
        <p:nvSpPr>
          <p:cNvPr id="16" name="Text 14"/>
          <p:cNvSpPr/>
          <p:nvPr/>
        </p:nvSpPr>
        <p:spPr>
          <a:xfrm>
            <a:off x="4547921" y="3310128"/>
            <a:ext cx="566928" cy="237744"/>
          </a:xfrm>
          <a:prstGeom prst="rect">
            <a:avLst/>
          </a:prstGeom>
          <a:noFill/>
          <a:ln/>
        </p:spPr>
        <p:txBody>
          <a:bodyPr wrap="none" lIns="0" tIns="0" rIns="0" bIns="0" rtlCol="0" anchor="ctr"/>
          <a:lstStyle/>
          <a:p>
            <a:pPr indent="0" marL="0">
              <a:buNone/>
            </a:pPr>
            <a:r>
              <a:rPr lang="en-US" sz="1050" dirty="0">
                <a:solidFill>
                  <a:srgbClr val="FAF9F5"/>
                </a:solidFill>
                <a:latin typeface="Consolas" pitchFamily="34" charset="0"/>
                <a:ea typeface="Consolas" pitchFamily="34" charset="-122"/>
                <a:cs typeface="Consolas" pitchFamily="34" charset="-120"/>
              </a:rPr>
              <a:t>検査</a:t>
            </a:r>
            <a:endParaRPr lang="en-US" sz="1050" dirty="0"/>
          </a:p>
        </p:txBody>
      </p:sp>
      <p:sp>
        <p:nvSpPr>
          <p:cNvPr id="17" name="Text 15"/>
          <p:cNvSpPr/>
          <p:nvPr/>
        </p:nvSpPr>
        <p:spPr>
          <a:xfrm>
            <a:off x="5188001" y="3374136"/>
            <a:ext cx="832104" cy="100584"/>
          </a:xfrm>
          <a:prstGeom prst="rect">
            <a:avLst/>
          </a:prstGeom>
          <a:solidFill>
            <a:srgbClr val="6A9BCC"/>
          </a:solidFill>
          <a:ln>
            <a:solidFill>
              <a:srgbClr val="6A9BCC"/>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8" name="Text 16"/>
          <p:cNvSpPr/>
          <p:nvPr/>
        </p:nvSpPr>
        <p:spPr>
          <a:xfrm>
            <a:off x="6111545" y="3310128"/>
            <a:ext cx="548640" cy="237744"/>
          </a:xfrm>
          <a:prstGeom prst="rect">
            <a:avLst/>
          </a:prstGeom>
          <a:noFill/>
          <a:ln/>
        </p:spPr>
        <p:txBody>
          <a:bodyPr wrap="none" lIns="0" tIns="0" rIns="0" bIns="0" rtlCol="0" anchor="ctr"/>
          <a:lstStyle/>
          <a:p>
            <a:pPr indent="0" marL="0">
              <a:buNone/>
            </a:pPr>
            <a:r>
              <a:rPr lang="en-US" sz="1050" dirty="0">
                <a:solidFill>
                  <a:srgbClr val="B0AEA5"/>
                </a:solidFill>
                <a:latin typeface="Consolas" pitchFamily="34" charset="0"/>
                <a:ea typeface="Consolas" pitchFamily="34" charset="-122"/>
                <a:cs typeface="Consolas" pitchFamily="34" charset="-120"/>
              </a:rPr>
              <a:t>31%</a:t>
            </a:r>
            <a:endParaRPr lang="en-US" sz="1050" dirty="0"/>
          </a:p>
        </p:txBody>
      </p:sp>
      <p:sp>
        <p:nvSpPr>
          <p:cNvPr id="19" name="Text 17"/>
          <p:cNvSpPr/>
          <p:nvPr/>
        </p:nvSpPr>
        <p:spPr>
          <a:xfrm>
            <a:off x="4547921" y="3584448"/>
            <a:ext cx="566928" cy="237744"/>
          </a:xfrm>
          <a:prstGeom prst="rect">
            <a:avLst/>
          </a:prstGeom>
          <a:noFill/>
          <a:ln/>
        </p:spPr>
        <p:txBody>
          <a:bodyPr wrap="none" lIns="0" tIns="0" rIns="0" bIns="0" rtlCol="0" anchor="ctr"/>
          <a:lstStyle/>
          <a:p>
            <a:pPr indent="0" marL="0">
              <a:buNone/>
            </a:pPr>
            <a:r>
              <a:rPr lang="en-US" sz="1050" dirty="0">
                <a:solidFill>
                  <a:srgbClr val="FAF9F5"/>
                </a:solidFill>
                <a:latin typeface="Consolas" pitchFamily="34" charset="0"/>
                <a:ea typeface="Consolas" pitchFamily="34" charset="-122"/>
                <a:cs typeface="Consolas" pitchFamily="34" charset="-120"/>
              </a:rPr>
              <a:t>確認</a:t>
            </a:r>
            <a:endParaRPr lang="en-US" sz="1050" dirty="0"/>
          </a:p>
        </p:txBody>
      </p:sp>
      <p:sp>
        <p:nvSpPr>
          <p:cNvPr id="20" name="Text 18"/>
          <p:cNvSpPr/>
          <p:nvPr/>
        </p:nvSpPr>
        <p:spPr>
          <a:xfrm>
            <a:off x="5188001" y="3648456"/>
            <a:ext cx="475488" cy="100584"/>
          </a:xfrm>
          <a:prstGeom prst="rect">
            <a:avLst/>
          </a:prstGeom>
          <a:solidFill>
            <a:srgbClr val="B0AEA5"/>
          </a:solidFill>
          <a:ln>
            <a:solidFill>
              <a:srgbClr val="B0AEA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1" name="Text 19"/>
          <p:cNvSpPr/>
          <p:nvPr/>
        </p:nvSpPr>
        <p:spPr>
          <a:xfrm>
            <a:off x="5754929" y="3584448"/>
            <a:ext cx="548640" cy="237744"/>
          </a:xfrm>
          <a:prstGeom prst="rect">
            <a:avLst/>
          </a:prstGeom>
          <a:noFill/>
          <a:ln/>
        </p:spPr>
        <p:txBody>
          <a:bodyPr wrap="none" lIns="0" tIns="0" rIns="0" bIns="0" rtlCol="0" anchor="ctr"/>
          <a:lstStyle/>
          <a:p>
            <a:pPr indent="0" marL="0">
              <a:buNone/>
            </a:pPr>
            <a:r>
              <a:rPr lang="en-US" sz="1050" dirty="0">
                <a:solidFill>
                  <a:srgbClr val="B0AEA5"/>
                </a:solidFill>
                <a:latin typeface="Consolas" pitchFamily="34" charset="0"/>
                <a:ea typeface="Consolas" pitchFamily="34" charset="-122"/>
                <a:cs typeface="Consolas" pitchFamily="34" charset="-120"/>
              </a:rPr>
              <a:t>18%</a:t>
            </a:r>
            <a:endParaRPr lang="en-US" sz="1050" dirty="0"/>
          </a:p>
        </p:txBody>
      </p:sp>
      <p:sp>
        <p:nvSpPr>
          <p:cNvPr id="22" name="Text 20"/>
          <p:cNvSpPr/>
          <p:nvPr/>
        </p:nvSpPr>
        <p:spPr>
          <a:xfrm>
            <a:off x="8028737" y="2212848"/>
            <a:ext cx="3553968" cy="1691640"/>
          </a:xfrm>
          <a:prstGeom prst="roundRect">
            <a:avLst>
              <a:gd name="adj" fmla="val 5405"/>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3" name="Text 21"/>
          <p:cNvSpPr/>
          <p:nvPr/>
        </p:nvSpPr>
        <p:spPr>
          <a:xfrm>
            <a:off x="8257337" y="2359152"/>
            <a:ext cx="3096768" cy="219456"/>
          </a:xfrm>
          <a:prstGeom prst="rect">
            <a:avLst/>
          </a:prstGeom>
          <a:noFill/>
          <a:ln/>
        </p:spPr>
        <p:txBody>
          <a:bodyPr wrap="none" lIns="0" tIns="0" rIns="0" bIns="0" rtlCol="0" anchor="ctr"/>
          <a:lstStyle/>
          <a:p>
            <a:pPr indent="0" marL="0">
              <a:buNone/>
            </a:pPr>
            <a:r>
              <a:rPr lang="en-US" sz="1050" b="1" dirty="0">
                <a:solidFill>
                  <a:srgbClr val="D97757"/>
                </a:solidFill>
                <a:latin typeface="Noto Sans JP" pitchFamily="34" charset="0"/>
                <a:ea typeface="Noto Sans JP" pitchFamily="34" charset="-122"/>
                <a:cs typeface="Noto Sans JP" pitchFamily="34" charset="-120"/>
              </a:rPr>
              <a:t>STEP 03</a:t>
            </a:r>
            <a:endParaRPr lang="en-US" sz="1050" dirty="0"/>
          </a:p>
        </p:txBody>
      </p:sp>
      <p:sp>
        <p:nvSpPr>
          <p:cNvPr id="24" name="Text 22"/>
          <p:cNvSpPr/>
          <p:nvPr/>
        </p:nvSpPr>
        <p:spPr>
          <a:xfrm>
            <a:off x="8257337" y="2633472"/>
            <a:ext cx="3096768" cy="310896"/>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一つ選んで、また次へ</a:t>
            </a:r>
            <a:endParaRPr lang="en-US" sz="1650" dirty="0"/>
          </a:p>
        </p:txBody>
      </p:sp>
      <p:sp>
        <p:nvSpPr>
          <p:cNvPr id="25" name="Text 23"/>
          <p:cNvSpPr/>
          <p:nvPr/>
        </p:nvSpPr>
        <p:spPr>
          <a:xfrm>
            <a:off x="8257337" y="3017520"/>
            <a:ext cx="3096768" cy="822960"/>
          </a:xfrm>
          <a:prstGeom prst="rect">
            <a:avLst/>
          </a:prstGeom>
          <a:noFill/>
          <a:ln/>
        </p:spPr>
        <p:txBody>
          <a:bodyPr wrap="none" lIns="0" tIns="0" rIns="0" bIns="0" rtlCol="0" anchor="t"/>
          <a:lstStyle/>
          <a:p>
            <a:pPr indent="0" marL="0">
              <a:lnSpc>
                <a:spcPct val="145000"/>
              </a:lnSpc>
              <a:buNone/>
            </a:pPr>
            <a:r>
              <a:rPr lang="en-US" sz="1350" dirty="0">
                <a:solidFill>
                  <a:srgbClr val="B0AEA5"/>
                </a:solidFill>
                <a:latin typeface="Noto Sans JP" pitchFamily="34" charset="0"/>
                <a:ea typeface="Noto Sans JP" pitchFamily="34" charset="-122"/>
                <a:cs typeface="Noto Sans JP" pitchFamily="34" charset="-120"/>
              </a:rPr>
              <a:t>確率に応じて一つ選ぶ。</a:t>
            </a:r>
            <a:endParaRPr lang="en-US" sz="1350" dirty="0"/>
          </a:p>
          <a:p>
            <a:pPr indent="0" marL="0">
              <a:lnSpc>
                <a:spcPct val="145000"/>
              </a:lnSpc>
              <a:buNone/>
            </a:pPr>
            <a:r>
              <a:rPr lang="en-US" sz="1350" dirty="0">
                <a:solidFill>
                  <a:srgbClr val="B0AEA5"/>
                </a:solidFill>
                <a:latin typeface="Noto Sans JP" pitchFamily="34" charset="0"/>
                <a:ea typeface="Noto Sans JP" pitchFamily="34" charset="-122"/>
                <a:cs typeface="Noto Sans JP" pitchFamily="34" charset="-120"/>
              </a:rPr>
              <a:t>だから同じ問いでも、</a:t>
            </a:r>
            <a:endParaRPr lang="en-US" sz="1350" dirty="0"/>
          </a:p>
          <a:p>
            <a:pPr indent="0" marL="0">
              <a:lnSpc>
                <a:spcPct val="145000"/>
              </a:lnSpc>
              <a:buNone/>
            </a:pPr>
            <a:r>
              <a:rPr lang="en-US" sz="1350" dirty="0">
                <a:solidFill>
                  <a:srgbClr val="B0AEA5"/>
                </a:solidFill>
                <a:latin typeface="Noto Sans JP" pitchFamily="34" charset="0"/>
                <a:ea typeface="Noto Sans JP" pitchFamily="34" charset="-122"/>
                <a:cs typeface="Noto Sans JP" pitchFamily="34" charset="-120"/>
              </a:rPr>
              <a:t>毎回わずかに違う。</a:t>
            </a:r>
            <a:endParaRPr lang="en-US" sz="1350" dirty="0"/>
          </a:p>
        </p:txBody>
      </p:sp>
      <p:sp>
        <p:nvSpPr>
          <p:cNvPr id="26" name="Text 24"/>
          <p:cNvSpPr/>
          <p:nvPr/>
        </p:nvSpPr>
        <p:spPr>
          <a:xfrm>
            <a:off x="609905" y="4114800"/>
            <a:ext cx="5372100" cy="2148840"/>
          </a:xfrm>
          <a:prstGeom prst="roundRect">
            <a:avLst>
              <a:gd name="adj" fmla="val 4255"/>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7" name="Text 25"/>
          <p:cNvSpPr/>
          <p:nvPr/>
        </p:nvSpPr>
        <p:spPr>
          <a:xfrm>
            <a:off x="911657" y="4389120"/>
            <a:ext cx="4768596" cy="411480"/>
          </a:xfrm>
          <a:prstGeom prst="rect">
            <a:avLst/>
          </a:prstGeom>
          <a:noFill/>
          <a:ln/>
        </p:spPr>
        <p:txBody>
          <a:bodyPr wrap="none" lIns="0" tIns="0" rIns="0" bIns="0" rtlCol="0" anchor="ctr"/>
          <a:lstStyle/>
          <a:p>
            <a:pPr indent="0" marL="0">
              <a:buNone/>
            </a:pPr>
            <a:r>
              <a:rPr lang="en-US" sz="2250" b="1" dirty="0">
                <a:solidFill>
                  <a:srgbClr val="D97757"/>
                </a:solidFill>
                <a:latin typeface="Noto Sans JP" pitchFamily="34" charset="0"/>
                <a:ea typeface="Noto Sans JP" pitchFamily="34" charset="-122"/>
                <a:cs typeface="Noto Sans JP" pitchFamily="34" charset="-120"/>
              </a:rPr>
              <a:t>決定論的 → プログラムへ</a:t>
            </a:r>
            <a:endParaRPr lang="en-US" sz="2250" dirty="0"/>
          </a:p>
        </p:txBody>
      </p:sp>
      <p:sp>
        <p:nvSpPr>
          <p:cNvPr id="28" name="Text 26"/>
          <p:cNvSpPr/>
          <p:nvPr/>
        </p:nvSpPr>
        <p:spPr>
          <a:xfrm>
            <a:off x="975665" y="5074920"/>
            <a:ext cx="73152" cy="73152"/>
          </a:xfrm>
          <a:prstGeom prst="ellipse">
            <a:avLst/>
          </a:prstGeom>
          <a:solidFill>
            <a:srgbClr val="FAF9F5"/>
          </a:solidFill>
          <a:ln>
            <a:solidFill>
              <a:srgbClr val="FAF9F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9" name="Text 27"/>
          <p:cNvSpPr/>
          <p:nvPr/>
        </p:nvSpPr>
        <p:spPr>
          <a:xfrm>
            <a:off x="1213409" y="4983480"/>
            <a:ext cx="4457700" cy="27432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規定の様式どおりか</a:t>
            </a:r>
            <a:endParaRPr lang="en-US" sz="1650" dirty="0"/>
          </a:p>
        </p:txBody>
      </p:sp>
      <p:sp>
        <p:nvSpPr>
          <p:cNvPr id="30" name="Text 28"/>
          <p:cNvSpPr/>
          <p:nvPr/>
        </p:nvSpPr>
        <p:spPr>
          <a:xfrm>
            <a:off x="975665" y="5477256"/>
            <a:ext cx="73152" cy="73152"/>
          </a:xfrm>
          <a:prstGeom prst="ellipse">
            <a:avLst/>
          </a:prstGeom>
          <a:solidFill>
            <a:srgbClr val="FAF9F5"/>
          </a:solidFill>
          <a:ln>
            <a:solidFill>
              <a:srgbClr val="FAF9F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31" name="Text 29"/>
          <p:cNvSpPr/>
          <p:nvPr/>
        </p:nvSpPr>
        <p:spPr>
          <a:xfrm>
            <a:off x="1213409" y="5385816"/>
            <a:ext cx="4457700" cy="27432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型式番号が一覧と一致するか</a:t>
            </a:r>
            <a:endParaRPr lang="en-US" sz="1650" dirty="0"/>
          </a:p>
        </p:txBody>
      </p:sp>
      <p:sp>
        <p:nvSpPr>
          <p:cNvPr id="32" name="Text 30"/>
          <p:cNvSpPr/>
          <p:nvPr/>
        </p:nvSpPr>
        <p:spPr>
          <a:xfrm>
            <a:off x="6210605" y="4114800"/>
            <a:ext cx="5372100" cy="2148840"/>
          </a:xfrm>
          <a:prstGeom prst="roundRect">
            <a:avLst>
              <a:gd name="adj" fmla="val 4255"/>
            </a:avLst>
          </a:prstGeom>
          <a:solidFill>
            <a:srgbClr val="1D1D1B"/>
          </a:solidFill>
          <a:ln w="19050">
            <a:solidFill>
              <a:srgbClr val="1D1D1B"/>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33" name="Text 31"/>
          <p:cNvSpPr/>
          <p:nvPr/>
        </p:nvSpPr>
        <p:spPr>
          <a:xfrm>
            <a:off x="6512357" y="4389120"/>
            <a:ext cx="4768596" cy="411480"/>
          </a:xfrm>
          <a:prstGeom prst="rect">
            <a:avLst/>
          </a:prstGeom>
          <a:noFill/>
          <a:ln/>
        </p:spPr>
        <p:txBody>
          <a:bodyPr wrap="none" lIns="0" tIns="0" rIns="0" bIns="0" rtlCol="0" anchor="ctr"/>
          <a:lstStyle/>
          <a:p>
            <a:pPr indent="0" marL="0">
              <a:buNone/>
            </a:pPr>
            <a:r>
              <a:rPr lang="en-US" sz="2250" b="1" dirty="0">
                <a:solidFill>
                  <a:srgbClr val="B0AEA5"/>
                </a:solidFill>
                <a:latin typeface="Noto Sans JP" pitchFamily="34" charset="0"/>
                <a:ea typeface="Noto Sans JP" pitchFamily="34" charset="-122"/>
                <a:cs typeface="Noto Sans JP" pitchFamily="34" charset="-120"/>
              </a:rPr>
              <a:t>確率的でよい → AIへ</a:t>
            </a:r>
            <a:endParaRPr lang="en-US" sz="2250" dirty="0"/>
          </a:p>
        </p:txBody>
      </p:sp>
      <p:sp>
        <p:nvSpPr>
          <p:cNvPr id="34" name="Text 32"/>
          <p:cNvSpPr/>
          <p:nvPr/>
        </p:nvSpPr>
        <p:spPr>
          <a:xfrm>
            <a:off x="6576365" y="5074920"/>
            <a:ext cx="73152" cy="73152"/>
          </a:xfrm>
          <a:prstGeom prst="ellipse">
            <a:avLst/>
          </a:prstGeom>
          <a:solidFill>
            <a:srgbClr val="FAF9F5"/>
          </a:solidFill>
          <a:ln>
            <a:solidFill>
              <a:srgbClr val="FAF9F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35" name="Text 33"/>
          <p:cNvSpPr/>
          <p:nvPr/>
        </p:nvSpPr>
        <p:spPr>
          <a:xfrm>
            <a:off x="6814109" y="4983480"/>
            <a:ext cx="4457700" cy="27432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不具合の原因を推定して並べる</a:t>
            </a:r>
            <a:endParaRPr lang="en-US" sz="1650" dirty="0"/>
          </a:p>
        </p:txBody>
      </p:sp>
      <p:sp>
        <p:nvSpPr>
          <p:cNvPr id="36" name="Text 34"/>
          <p:cNvSpPr/>
          <p:nvPr/>
        </p:nvSpPr>
        <p:spPr>
          <a:xfrm>
            <a:off x="6576365" y="5477256"/>
            <a:ext cx="73152" cy="73152"/>
          </a:xfrm>
          <a:prstGeom prst="ellipse">
            <a:avLst/>
          </a:prstGeom>
          <a:solidFill>
            <a:srgbClr val="FAF9F5"/>
          </a:solidFill>
          <a:ln>
            <a:solidFill>
              <a:srgbClr val="FAF9F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37" name="Text 35"/>
          <p:cNvSpPr/>
          <p:nvPr/>
        </p:nvSpPr>
        <p:spPr>
          <a:xfrm>
            <a:off x="6814109" y="5385816"/>
            <a:ext cx="4457700" cy="27432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客先向けに言い回しを整える</a:t>
            </a:r>
            <a:endParaRPr lang="en-US" sz="1650" dirty="0"/>
          </a:p>
        </p:txBody>
      </p:sp>
      <p:sp>
        <p:nvSpPr>
          <p:cNvPr id="38" name="Text 36"/>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4</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スキルの正体</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手順書と道具をひとまとめにしたフォルダ</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20240"/>
            <a:ext cx="10972800" cy="3063240"/>
          </a:xfrm>
          <a:prstGeom prst="roundRect">
            <a:avLst>
              <a:gd name="adj" fmla="val 2985"/>
            </a:avLst>
          </a:prstGeom>
          <a:solidFill>
            <a:srgbClr val="1D1D1B"/>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838505" y="2057400"/>
            <a:ext cx="4572000" cy="256032"/>
          </a:xfrm>
          <a:prstGeom prst="rect">
            <a:avLst/>
          </a:prstGeom>
          <a:noFill/>
          <a:ln/>
        </p:spPr>
        <p:txBody>
          <a:bodyPr wrap="none" lIns="0" tIns="0" rIns="0" bIns="0" rtlCol="0" anchor="ctr"/>
          <a:lstStyle/>
          <a:p>
            <a:pPr indent="0" marL="0">
              <a:buNone/>
            </a:pPr>
            <a:r>
              <a:rPr lang="en-US" sz="1350" b="1" dirty="0">
                <a:solidFill>
                  <a:srgbClr val="D97757"/>
                </a:solidFill>
                <a:latin typeface="Noto Sans JP" pitchFamily="34" charset="0"/>
                <a:ea typeface="Noto Sans JP" pitchFamily="34" charset="-122"/>
                <a:cs typeface="Noto Sans JP" pitchFamily="34" charset="-120"/>
              </a:rPr>
              <a:t>スキル一つ ＝ フォルダ一つ</a:t>
            </a:r>
            <a:endParaRPr lang="en-US" sz="1350" dirty="0"/>
          </a:p>
        </p:txBody>
      </p:sp>
      <p:sp>
        <p:nvSpPr>
          <p:cNvPr id="7" name="Text 5"/>
          <p:cNvSpPr/>
          <p:nvPr/>
        </p:nvSpPr>
        <p:spPr>
          <a:xfrm>
            <a:off x="838505" y="2423160"/>
            <a:ext cx="4480560" cy="2286000"/>
          </a:xfrm>
          <a:prstGeom prst="roundRect">
            <a:avLst>
              <a:gd name="adj" fmla="val 3200"/>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8" name="Text 6"/>
          <p:cNvSpPr/>
          <p:nvPr/>
        </p:nvSpPr>
        <p:spPr>
          <a:xfrm>
            <a:off x="1067105" y="2606040"/>
            <a:ext cx="4023360" cy="310896"/>
          </a:xfrm>
          <a:prstGeom prst="rect">
            <a:avLst/>
          </a:prstGeom>
          <a:noFill/>
          <a:ln/>
        </p:spPr>
        <p:txBody>
          <a:bodyPr wrap="none" lIns="0" tIns="0" rIns="0" bIns="0" rtlCol="0" anchor="ctr"/>
          <a:lstStyle/>
          <a:p>
            <a:pPr indent="0" marL="0">
              <a:buNone/>
            </a:pPr>
            <a:r>
              <a:rPr lang="en-US" sz="1650" b="1" dirty="0">
                <a:solidFill>
                  <a:srgbClr val="D97757"/>
                </a:solidFill>
                <a:latin typeface="Consolas" pitchFamily="34" charset="0"/>
                <a:ea typeface="Consolas" pitchFamily="34" charset="-122"/>
                <a:cs typeface="Consolas" pitchFamily="34" charset="-120"/>
              </a:rPr>
              <a:t>summarize-minutes/</a:t>
            </a:r>
            <a:endParaRPr lang="en-US" sz="1650" dirty="0"/>
          </a:p>
        </p:txBody>
      </p:sp>
      <p:sp>
        <p:nvSpPr>
          <p:cNvPr id="9" name="Text 7"/>
          <p:cNvSpPr/>
          <p:nvPr/>
        </p:nvSpPr>
        <p:spPr>
          <a:xfrm>
            <a:off x="1067105" y="2926080"/>
            <a:ext cx="4023360" cy="310896"/>
          </a:xfrm>
          <a:prstGeom prst="rect">
            <a:avLst/>
          </a:prstGeom>
          <a:noFill/>
          <a:ln/>
        </p:spPr>
        <p:txBody>
          <a:bodyPr wrap="none" lIns="0" tIns="0" rIns="0" bIns="0" rtlCol="0" anchor="ctr"/>
          <a:lstStyle/>
          <a:p>
            <a:pPr indent="0" marL="0">
              <a:buNone/>
            </a:pPr>
            <a:r>
              <a:rPr lang="en-US" sz="1650" dirty="0">
                <a:solidFill>
                  <a:srgbClr val="6A9BCC"/>
                </a:solidFill>
                <a:latin typeface="Consolas" pitchFamily="34" charset="0"/>
                <a:ea typeface="Consolas" pitchFamily="34" charset="-122"/>
                <a:cs typeface="Consolas" pitchFamily="34" charset="-120"/>
              </a:rPr>
              <a:t>├── SKILL.md</a:t>
            </a:r>
            <a:endParaRPr lang="en-US" sz="1650" dirty="0"/>
          </a:p>
        </p:txBody>
      </p:sp>
      <p:sp>
        <p:nvSpPr>
          <p:cNvPr id="10" name="Text 8"/>
          <p:cNvSpPr/>
          <p:nvPr/>
        </p:nvSpPr>
        <p:spPr>
          <a:xfrm>
            <a:off x="1067105" y="3246120"/>
            <a:ext cx="4023360" cy="310896"/>
          </a:xfrm>
          <a:prstGeom prst="rect">
            <a:avLst/>
          </a:prstGeom>
          <a:noFill/>
          <a:ln/>
        </p:spPr>
        <p:txBody>
          <a:bodyPr wrap="none" lIns="0" tIns="0" rIns="0" bIns="0" rtlCol="0" anchor="ctr"/>
          <a:lstStyle/>
          <a:p>
            <a:pPr indent="0" marL="0">
              <a:buNone/>
            </a:pPr>
            <a:r>
              <a:rPr lang="en-US" sz="1650" b="1" dirty="0">
                <a:solidFill>
                  <a:srgbClr val="D97757"/>
                </a:solidFill>
                <a:latin typeface="Consolas" pitchFamily="34" charset="0"/>
                <a:ea typeface="Consolas" pitchFamily="34" charset="-122"/>
                <a:cs typeface="Consolas" pitchFamily="34" charset="-120"/>
              </a:rPr>
              <a:t>├── scripts/</a:t>
            </a:r>
            <a:endParaRPr lang="en-US" sz="1650" dirty="0"/>
          </a:p>
        </p:txBody>
      </p:sp>
      <p:sp>
        <p:nvSpPr>
          <p:cNvPr id="11" name="Text 9"/>
          <p:cNvSpPr/>
          <p:nvPr/>
        </p:nvSpPr>
        <p:spPr>
          <a:xfrm>
            <a:off x="1067105" y="3566160"/>
            <a:ext cx="4023360" cy="310896"/>
          </a:xfrm>
          <a:prstGeom prst="rect">
            <a:avLst/>
          </a:prstGeom>
          <a:noFill/>
          <a:ln/>
        </p:spPr>
        <p:txBody>
          <a:bodyPr wrap="none" lIns="0" tIns="0" rIns="0" bIns="0" rtlCol="0" anchor="ctr"/>
          <a:lstStyle/>
          <a:p>
            <a:pPr indent="0" marL="0">
              <a:buNone/>
            </a:pPr>
            <a:r>
              <a:rPr lang="en-US" sz="1650" dirty="0">
                <a:solidFill>
                  <a:srgbClr val="6A9BCC"/>
                </a:solidFill>
                <a:latin typeface="Consolas" pitchFamily="34" charset="0"/>
                <a:ea typeface="Consolas" pitchFamily="34" charset="-122"/>
                <a:cs typeface="Consolas" pitchFamily="34" charset="-120"/>
              </a:rPr>
              <a:t>│   └── check_format.py</a:t>
            </a:r>
            <a:endParaRPr lang="en-US" sz="1650" dirty="0"/>
          </a:p>
        </p:txBody>
      </p:sp>
      <p:sp>
        <p:nvSpPr>
          <p:cNvPr id="12" name="Text 10"/>
          <p:cNvSpPr/>
          <p:nvPr/>
        </p:nvSpPr>
        <p:spPr>
          <a:xfrm>
            <a:off x="1067105" y="3886200"/>
            <a:ext cx="4023360" cy="310896"/>
          </a:xfrm>
          <a:prstGeom prst="rect">
            <a:avLst/>
          </a:prstGeom>
          <a:noFill/>
          <a:ln/>
        </p:spPr>
        <p:txBody>
          <a:bodyPr wrap="none" lIns="0" tIns="0" rIns="0" bIns="0" rtlCol="0" anchor="ctr"/>
          <a:lstStyle/>
          <a:p>
            <a:pPr indent="0" marL="0">
              <a:buNone/>
            </a:pPr>
            <a:r>
              <a:rPr lang="en-US" sz="1650" b="1" dirty="0">
                <a:solidFill>
                  <a:srgbClr val="D97757"/>
                </a:solidFill>
                <a:latin typeface="Consolas" pitchFamily="34" charset="0"/>
                <a:ea typeface="Consolas" pitchFamily="34" charset="-122"/>
                <a:cs typeface="Consolas" pitchFamily="34" charset="-120"/>
              </a:rPr>
              <a:t>└── reference/</a:t>
            </a:r>
            <a:endParaRPr lang="en-US" sz="1650" dirty="0"/>
          </a:p>
        </p:txBody>
      </p:sp>
      <p:sp>
        <p:nvSpPr>
          <p:cNvPr id="13" name="Text 11"/>
          <p:cNvSpPr/>
          <p:nvPr/>
        </p:nvSpPr>
        <p:spPr>
          <a:xfrm>
            <a:off x="1067105" y="4206240"/>
            <a:ext cx="4023360" cy="310896"/>
          </a:xfrm>
          <a:prstGeom prst="rect">
            <a:avLst/>
          </a:prstGeom>
          <a:noFill/>
          <a:ln/>
        </p:spPr>
        <p:txBody>
          <a:bodyPr wrap="none" lIns="0" tIns="0" rIns="0" bIns="0" rtlCol="0" anchor="ctr"/>
          <a:lstStyle/>
          <a:p>
            <a:pPr indent="0" marL="0">
              <a:buNone/>
            </a:pPr>
            <a:r>
              <a:rPr lang="en-US" sz="1650" dirty="0">
                <a:solidFill>
                  <a:srgbClr val="6A9BCC"/>
                </a:solidFill>
                <a:latin typeface="Consolas" pitchFamily="34" charset="0"/>
                <a:ea typeface="Consolas" pitchFamily="34" charset="-122"/>
                <a:cs typeface="Consolas" pitchFamily="34" charset="-120"/>
              </a:rPr>
              <a:t>    └── sample_format.md</a:t>
            </a:r>
            <a:endParaRPr lang="en-US" sz="1650" dirty="0"/>
          </a:p>
        </p:txBody>
      </p:sp>
      <p:sp>
        <p:nvSpPr>
          <p:cNvPr id="14" name="Text 12"/>
          <p:cNvSpPr/>
          <p:nvPr/>
        </p:nvSpPr>
        <p:spPr>
          <a:xfrm>
            <a:off x="5639105" y="2423160"/>
            <a:ext cx="1783080" cy="329184"/>
          </a:xfrm>
          <a:prstGeom prst="rect">
            <a:avLst/>
          </a:prstGeom>
          <a:noFill/>
          <a:ln/>
        </p:spPr>
        <p:txBody>
          <a:bodyPr wrap="none" lIns="0" tIns="0" rIns="0" bIns="0" rtlCol="0" anchor="ctr"/>
          <a:lstStyle/>
          <a:p>
            <a:pPr indent="0" marL="0">
              <a:buNone/>
            </a:pPr>
            <a:r>
              <a:rPr lang="en-US" sz="1350" b="1" dirty="0">
                <a:solidFill>
                  <a:srgbClr val="D97757"/>
                </a:solidFill>
                <a:latin typeface="Consolas" pitchFamily="34" charset="0"/>
                <a:ea typeface="Consolas" pitchFamily="34" charset="-122"/>
                <a:cs typeface="Consolas" pitchFamily="34" charset="-120"/>
              </a:rPr>
              <a:t>summarize-minutes/</a:t>
            </a:r>
            <a:endParaRPr lang="en-US" sz="1350" dirty="0"/>
          </a:p>
        </p:txBody>
      </p:sp>
      <p:sp>
        <p:nvSpPr>
          <p:cNvPr id="15" name="Text 13"/>
          <p:cNvSpPr/>
          <p:nvPr/>
        </p:nvSpPr>
        <p:spPr>
          <a:xfrm>
            <a:off x="7513625" y="2423160"/>
            <a:ext cx="3840480" cy="329184"/>
          </a:xfrm>
          <a:prstGeom prst="rect">
            <a:avLst/>
          </a:prstGeom>
          <a:noFill/>
          <a:ln/>
        </p:spPr>
        <p:txBody>
          <a:bodyPr wrap="none" lIns="0" tIns="0" rIns="0" bIns="0" rtlCol="0" anchor="ctr"/>
          <a:lstStyle/>
          <a:p>
            <a:pPr indent="0" marL="0">
              <a:buNone/>
            </a:pPr>
            <a:r>
              <a:rPr lang="en-US" sz="1350" dirty="0">
                <a:solidFill>
                  <a:srgbClr val="FAF9F5"/>
                </a:solidFill>
                <a:latin typeface="Noto Sans JP" pitchFamily="34" charset="0"/>
                <a:ea typeface="Noto Sans JP" pitchFamily="34" charset="-122"/>
                <a:cs typeface="Noto Sans JP" pitchFamily="34" charset="-120"/>
              </a:rPr>
              <a:t>フォルダ名が、そのまま呼び名になる</a:t>
            </a:r>
            <a:endParaRPr lang="en-US" sz="1350" dirty="0"/>
          </a:p>
        </p:txBody>
      </p:sp>
      <p:sp>
        <p:nvSpPr>
          <p:cNvPr id="16" name="Text 14"/>
          <p:cNvSpPr/>
          <p:nvPr/>
        </p:nvSpPr>
        <p:spPr>
          <a:xfrm>
            <a:off x="5639105" y="2770632"/>
            <a:ext cx="57150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7" name="Text 15"/>
          <p:cNvSpPr/>
          <p:nvPr/>
        </p:nvSpPr>
        <p:spPr>
          <a:xfrm>
            <a:off x="5639105" y="2825496"/>
            <a:ext cx="1783080" cy="329184"/>
          </a:xfrm>
          <a:prstGeom prst="rect">
            <a:avLst/>
          </a:prstGeom>
          <a:noFill/>
          <a:ln/>
        </p:spPr>
        <p:txBody>
          <a:bodyPr wrap="none" lIns="0" tIns="0" rIns="0" bIns="0" rtlCol="0" anchor="ctr"/>
          <a:lstStyle/>
          <a:p>
            <a:pPr indent="0" marL="0">
              <a:buNone/>
            </a:pPr>
            <a:r>
              <a:rPr lang="en-US" sz="1350" b="1" dirty="0">
                <a:solidFill>
                  <a:srgbClr val="6A9BCC"/>
                </a:solidFill>
                <a:latin typeface="Consolas" pitchFamily="34" charset="0"/>
                <a:ea typeface="Consolas" pitchFamily="34" charset="-122"/>
                <a:cs typeface="Consolas" pitchFamily="34" charset="-120"/>
              </a:rPr>
              <a:t>SKILL.md</a:t>
            </a:r>
            <a:endParaRPr lang="en-US" sz="1350" dirty="0"/>
          </a:p>
        </p:txBody>
      </p:sp>
      <p:sp>
        <p:nvSpPr>
          <p:cNvPr id="18" name="Text 16"/>
          <p:cNvSpPr/>
          <p:nvPr/>
        </p:nvSpPr>
        <p:spPr>
          <a:xfrm>
            <a:off x="7513625" y="2825496"/>
            <a:ext cx="3840480" cy="329184"/>
          </a:xfrm>
          <a:prstGeom prst="rect">
            <a:avLst/>
          </a:prstGeom>
          <a:noFill/>
          <a:ln/>
        </p:spPr>
        <p:txBody>
          <a:bodyPr wrap="none" lIns="0" tIns="0" rIns="0" bIns="0" rtlCol="0" anchor="ctr"/>
          <a:lstStyle/>
          <a:p>
            <a:pPr indent="0" marL="0">
              <a:buNone/>
            </a:pPr>
            <a:r>
              <a:rPr lang="en-US" sz="1350" dirty="0">
                <a:solidFill>
                  <a:srgbClr val="FAF9F5"/>
                </a:solidFill>
                <a:latin typeface="Noto Sans JP" pitchFamily="34" charset="0"/>
                <a:ea typeface="Noto Sans JP" pitchFamily="34" charset="-122"/>
                <a:cs typeface="Noto Sans JP" pitchFamily="34" charset="-120"/>
              </a:rPr>
              <a:t>手順書の本体。frontmatter（説明文）＋手順</a:t>
            </a:r>
            <a:endParaRPr lang="en-US" sz="1350" dirty="0"/>
          </a:p>
        </p:txBody>
      </p:sp>
      <p:sp>
        <p:nvSpPr>
          <p:cNvPr id="19" name="Text 17"/>
          <p:cNvSpPr/>
          <p:nvPr/>
        </p:nvSpPr>
        <p:spPr>
          <a:xfrm>
            <a:off x="5639105" y="3172968"/>
            <a:ext cx="57150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0" name="Text 18"/>
          <p:cNvSpPr/>
          <p:nvPr/>
        </p:nvSpPr>
        <p:spPr>
          <a:xfrm>
            <a:off x="5639105" y="3227832"/>
            <a:ext cx="1783080" cy="329184"/>
          </a:xfrm>
          <a:prstGeom prst="rect">
            <a:avLst/>
          </a:prstGeom>
          <a:noFill/>
          <a:ln/>
        </p:spPr>
        <p:txBody>
          <a:bodyPr wrap="none" lIns="0" tIns="0" rIns="0" bIns="0" rtlCol="0" anchor="ctr"/>
          <a:lstStyle/>
          <a:p>
            <a:pPr indent="0" marL="0">
              <a:buNone/>
            </a:pPr>
            <a:r>
              <a:rPr lang="en-US" sz="1350" b="1" dirty="0">
                <a:solidFill>
                  <a:srgbClr val="D97757"/>
                </a:solidFill>
                <a:latin typeface="Consolas" pitchFamily="34" charset="0"/>
                <a:ea typeface="Consolas" pitchFamily="34" charset="-122"/>
                <a:cs typeface="Consolas" pitchFamily="34" charset="-120"/>
              </a:rPr>
              <a:t>scripts/</a:t>
            </a:r>
            <a:endParaRPr lang="en-US" sz="1350" dirty="0"/>
          </a:p>
        </p:txBody>
      </p:sp>
      <p:sp>
        <p:nvSpPr>
          <p:cNvPr id="21" name="Text 19"/>
          <p:cNvSpPr/>
          <p:nvPr/>
        </p:nvSpPr>
        <p:spPr>
          <a:xfrm>
            <a:off x="7513625" y="3227832"/>
            <a:ext cx="3840480" cy="329184"/>
          </a:xfrm>
          <a:prstGeom prst="rect">
            <a:avLst/>
          </a:prstGeom>
          <a:noFill/>
          <a:ln/>
        </p:spPr>
        <p:txBody>
          <a:bodyPr wrap="none" lIns="0" tIns="0" rIns="0" bIns="0" rtlCol="0" anchor="ctr"/>
          <a:lstStyle/>
          <a:p>
            <a:pPr indent="0" marL="0">
              <a:buNone/>
            </a:pPr>
            <a:r>
              <a:rPr lang="en-US" sz="1350" dirty="0">
                <a:solidFill>
                  <a:srgbClr val="FAF9F5"/>
                </a:solidFill>
                <a:latin typeface="Noto Sans JP" pitchFamily="34" charset="0"/>
                <a:ea typeface="Noto Sans JP" pitchFamily="34" charset="-122"/>
                <a:cs typeface="Noto Sans JP" pitchFamily="34" charset="-120"/>
              </a:rPr>
              <a:t>同梱するプログラムの置き場</a:t>
            </a:r>
            <a:endParaRPr lang="en-US" sz="1350" dirty="0"/>
          </a:p>
        </p:txBody>
      </p:sp>
      <p:sp>
        <p:nvSpPr>
          <p:cNvPr id="22" name="Text 20"/>
          <p:cNvSpPr/>
          <p:nvPr/>
        </p:nvSpPr>
        <p:spPr>
          <a:xfrm>
            <a:off x="5639105" y="3575304"/>
            <a:ext cx="57150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3" name="Text 21"/>
          <p:cNvSpPr/>
          <p:nvPr/>
        </p:nvSpPr>
        <p:spPr>
          <a:xfrm>
            <a:off x="5639105" y="3630168"/>
            <a:ext cx="1783080" cy="329184"/>
          </a:xfrm>
          <a:prstGeom prst="rect">
            <a:avLst/>
          </a:prstGeom>
          <a:noFill/>
          <a:ln/>
        </p:spPr>
        <p:txBody>
          <a:bodyPr wrap="none" lIns="0" tIns="0" rIns="0" bIns="0" rtlCol="0" anchor="ctr"/>
          <a:lstStyle/>
          <a:p>
            <a:pPr indent="0" marL="0">
              <a:buNone/>
            </a:pPr>
            <a:r>
              <a:rPr lang="en-US" sz="1350" b="1" dirty="0">
                <a:solidFill>
                  <a:srgbClr val="6A9BCC"/>
                </a:solidFill>
                <a:latin typeface="Consolas" pitchFamily="34" charset="0"/>
                <a:ea typeface="Consolas" pitchFamily="34" charset="-122"/>
                <a:cs typeface="Consolas" pitchFamily="34" charset="-120"/>
              </a:rPr>
              <a:t>check_format.py</a:t>
            </a:r>
            <a:endParaRPr lang="en-US" sz="1350" dirty="0"/>
          </a:p>
        </p:txBody>
      </p:sp>
      <p:sp>
        <p:nvSpPr>
          <p:cNvPr id="24" name="Text 22"/>
          <p:cNvSpPr/>
          <p:nvPr/>
        </p:nvSpPr>
        <p:spPr>
          <a:xfrm>
            <a:off x="7513625" y="3630168"/>
            <a:ext cx="3840480" cy="329184"/>
          </a:xfrm>
          <a:prstGeom prst="rect">
            <a:avLst/>
          </a:prstGeom>
          <a:noFill/>
          <a:ln/>
        </p:spPr>
        <p:txBody>
          <a:bodyPr wrap="none" lIns="0" tIns="0" rIns="0" bIns="0" rtlCol="0" anchor="ctr"/>
          <a:lstStyle/>
          <a:p>
            <a:pPr indent="0" marL="0">
              <a:buNone/>
            </a:pPr>
            <a:r>
              <a:rPr lang="en-US" sz="1350" dirty="0">
                <a:solidFill>
                  <a:srgbClr val="FAF9F5"/>
                </a:solidFill>
                <a:latin typeface="Noto Sans JP" pitchFamily="34" charset="0"/>
                <a:ea typeface="Noto Sans JP" pitchFamily="34" charset="-122"/>
                <a:cs typeface="Noto Sans JP" pitchFamily="34" charset="-120"/>
              </a:rPr>
              <a:t>規定の様式どおりかを機械的に照合する</a:t>
            </a:r>
            <a:endParaRPr lang="en-US" sz="1350" dirty="0"/>
          </a:p>
        </p:txBody>
      </p:sp>
      <p:sp>
        <p:nvSpPr>
          <p:cNvPr id="25" name="Text 23"/>
          <p:cNvSpPr/>
          <p:nvPr/>
        </p:nvSpPr>
        <p:spPr>
          <a:xfrm>
            <a:off x="5639105" y="3977640"/>
            <a:ext cx="57150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6" name="Text 24"/>
          <p:cNvSpPr/>
          <p:nvPr/>
        </p:nvSpPr>
        <p:spPr>
          <a:xfrm>
            <a:off x="5639105" y="4032504"/>
            <a:ext cx="1783080" cy="329184"/>
          </a:xfrm>
          <a:prstGeom prst="rect">
            <a:avLst/>
          </a:prstGeom>
          <a:noFill/>
          <a:ln/>
        </p:spPr>
        <p:txBody>
          <a:bodyPr wrap="none" lIns="0" tIns="0" rIns="0" bIns="0" rtlCol="0" anchor="ctr"/>
          <a:lstStyle/>
          <a:p>
            <a:pPr indent="0" marL="0">
              <a:buNone/>
            </a:pPr>
            <a:r>
              <a:rPr lang="en-US" sz="1350" b="1" dirty="0">
                <a:solidFill>
                  <a:srgbClr val="D97757"/>
                </a:solidFill>
                <a:latin typeface="Consolas" pitchFamily="34" charset="0"/>
                <a:ea typeface="Consolas" pitchFamily="34" charset="-122"/>
                <a:cs typeface="Consolas" pitchFamily="34" charset="-120"/>
              </a:rPr>
              <a:t>reference/</a:t>
            </a:r>
            <a:endParaRPr lang="en-US" sz="1350" dirty="0"/>
          </a:p>
        </p:txBody>
      </p:sp>
      <p:sp>
        <p:nvSpPr>
          <p:cNvPr id="27" name="Text 25"/>
          <p:cNvSpPr/>
          <p:nvPr/>
        </p:nvSpPr>
        <p:spPr>
          <a:xfrm>
            <a:off x="7513625" y="4032504"/>
            <a:ext cx="3840480" cy="329184"/>
          </a:xfrm>
          <a:prstGeom prst="rect">
            <a:avLst/>
          </a:prstGeom>
          <a:noFill/>
          <a:ln/>
        </p:spPr>
        <p:txBody>
          <a:bodyPr wrap="none" lIns="0" tIns="0" rIns="0" bIns="0" rtlCol="0" anchor="ctr"/>
          <a:lstStyle/>
          <a:p>
            <a:pPr indent="0" marL="0">
              <a:buNone/>
            </a:pPr>
            <a:r>
              <a:rPr lang="en-US" sz="1350" dirty="0">
                <a:solidFill>
                  <a:srgbClr val="FAF9F5"/>
                </a:solidFill>
                <a:latin typeface="Noto Sans JP" pitchFamily="34" charset="0"/>
                <a:ea typeface="Noto Sans JP" pitchFamily="34" charset="-122"/>
                <a:cs typeface="Noto Sans JP" pitchFamily="34" charset="-120"/>
              </a:rPr>
              <a:t>必要なときだけ読ませる参考資料</a:t>
            </a:r>
            <a:endParaRPr lang="en-US" sz="1350" dirty="0"/>
          </a:p>
        </p:txBody>
      </p:sp>
      <p:sp>
        <p:nvSpPr>
          <p:cNvPr id="28" name="Text 26"/>
          <p:cNvSpPr/>
          <p:nvPr/>
        </p:nvSpPr>
        <p:spPr>
          <a:xfrm>
            <a:off x="5639105" y="4379976"/>
            <a:ext cx="57150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9" name="Text 27"/>
          <p:cNvSpPr/>
          <p:nvPr/>
        </p:nvSpPr>
        <p:spPr>
          <a:xfrm>
            <a:off x="609905" y="5230368"/>
            <a:ext cx="10972800" cy="777240"/>
          </a:xfrm>
          <a:prstGeom prst="roundRect">
            <a:avLst>
              <a:gd name="adj" fmla="val 11765"/>
            </a:avLst>
          </a:prstGeom>
          <a:solidFill>
            <a:srgbClr val="232321"/>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30" name="Text 28"/>
          <p:cNvSpPr/>
          <p:nvPr/>
        </p:nvSpPr>
        <p:spPr>
          <a:xfrm>
            <a:off x="609905" y="5230368"/>
            <a:ext cx="10972800" cy="77724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現場でいえば、作業標準書と治具をひとまとめにして渡すこと</a:t>
            </a:r>
            <a:endParaRPr lang="en-US" sz="2250" dirty="0"/>
          </a:p>
        </p:txBody>
      </p:sp>
      <p:sp>
        <p:nvSpPr>
          <p:cNvPr id="31" name="Text 29"/>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5</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今日の資料も、五本のスキルが作っている</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工程を分け、切れ目に人の承認を置く</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20240"/>
            <a:ext cx="1938528" cy="1097280"/>
          </a:xfrm>
          <a:prstGeom prst="roundRect">
            <a:avLst>
              <a:gd name="adj" fmla="val 6667"/>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609905" y="2048256"/>
            <a:ext cx="1938528"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01</a:t>
            </a:r>
            <a:endParaRPr lang="en-US" sz="1350" dirty="0"/>
          </a:p>
        </p:txBody>
      </p:sp>
      <p:sp>
        <p:nvSpPr>
          <p:cNvPr id="7" name="Text 5"/>
          <p:cNvSpPr/>
          <p:nvPr/>
        </p:nvSpPr>
        <p:spPr>
          <a:xfrm>
            <a:off x="609905" y="2322576"/>
            <a:ext cx="1938528"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聞き出す</a:t>
            </a:r>
            <a:endParaRPr lang="en-US" sz="1650" dirty="0"/>
          </a:p>
        </p:txBody>
      </p:sp>
      <p:sp>
        <p:nvSpPr>
          <p:cNvPr id="8" name="Text 6"/>
          <p:cNvSpPr/>
          <p:nvPr/>
        </p:nvSpPr>
        <p:spPr>
          <a:xfrm>
            <a:off x="2548433" y="1920240"/>
            <a:ext cx="320040" cy="109728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a:t>
            </a:r>
            <a:endParaRPr lang="en-US" sz="2250" dirty="0"/>
          </a:p>
        </p:txBody>
      </p:sp>
      <p:sp>
        <p:nvSpPr>
          <p:cNvPr id="9" name="Text 7"/>
          <p:cNvSpPr/>
          <p:nvPr/>
        </p:nvSpPr>
        <p:spPr>
          <a:xfrm>
            <a:off x="2868473" y="1920240"/>
            <a:ext cx="1938528" cy="1097280"/>
          </a:xfrm>
          <a:prstGeom prst="roundRect">
            <a:avLst>
              <a:gd name="adj" fmla="val 6667"/>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0" name="Text 8"/>
          <p:cNvSpPr/>
          <p:nvPr/>
        </p:nvSpPr>
        <p:spPr>
          <a:xfrm>
            <a:off x="2868473" y="2048256"/>
            <a:ext cx="1938528"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02</a:t>
            </a:r>
            <a:endParaRPr lang="en-US" sz="1350" dirty="0"/>
          </a:p>
        </p:txBody>
      </p:sp>
      <p:sp>
        <p:nvSpPr>
          <p:cNvPr id="11" name="Text 9"/>
          <p:cNvSpPr/>
          <p:nvPr/>
        </p:nvSpPr>
        <p:spPr>
          <a:xfrm>
            <a:off x="2868473" y="2322576"/>
            <a:ext cx="1938528"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調べる</a:t>
            </a:r>
            <a:endParaRPr lang="en-US" sz="1650" dirty="0"/>
          </a:p>
        </p:txBody>
      </p:sp>
      <p:sp>
        <p:nvSpPr>
          <p:cNvPr id="12" name="Text 10"/>
          <p:cNvSpPr/>
          <p:nvPr/>
        </p:nvSpPr>
        <p:spPr>
          <a:xfrm>
            <a:off x="4807001" y="1920240"/>
            <a:ext cx="320040" cy="109728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a:t>
            </a:r>
            <a:endParaRPr lang="en-US" sz="2250" dirty="0"/>
          </a:p>
        </p:txBody>
      </p:sp>
      <p:sp>
        <p:nvSpPr>
          <p:cNvPr id="13" name="Text 11"/>
          <p:cNvSpPr/>
          <p:nvPr/>
        </p:nvSpPr>
        <p:spPr>
          <a:xfrm>
            <a:off x="5127041" y="1920240"/>
            <a:ext cx="1938528" cy="1097280"/>
          </a:xfrm>
          <a:prstGeom prst="roundRect">
            <a:avLst>
              <a:gd name="adj" fmla="val 6667"/>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4" name="Text 12"/>
          <p:cNvSpPr/>
          <p:nvPr/>
        </p:nvSpPr>
        <p:spPr>
          <a:xfrm>
            <a:off x="5127041" y="2048256"/>
            <a:ext cx="1938528"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03</a:t>
            </a:r>
            <a:endParaRPr lang="en-US" sz="1350" dirty="0"/>
          </a:p>
        </p:txBody>
      </p:sp>
      <p:sp>
        <p:nvSpPr>
          <p:cNvPr id="15" name="Text 13"/>
          <p:cNvSpPr/>
          <p:nvPr/>
        </p:nvSpPr>
        <p:spPr>
          <a:xfrm>
            <a:off x="5127041" y="2322576"/>
            <a:ext cx="1938528"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骨格を組む</a:t>
            </a:r>
            <a:endParaRPr lang="en-US" sz="1650" dirty="0"/>
          </a:p>
        </p:txBody>
      </p:sp>
      <p:sp>
        <p:nvSpPr>
          <p:cNvPr id="16" name="Text 14"/>
          <p:cNvSpPr/>
          <p:nvPr/>
        </p:nvSpPr>
        <p:spPr>
          <a:xfrm>
            <a:off x="7065569" y="1920240"/>
            <a:ext cx="320040" cy="109728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a:t>
            </a:r>
            <a:endParaRPr lang="en-US" sz="2250" dirty="0"/>
          </a:p>
        </p:txBody>
      </p:sp>
      <p:sp>
        <p:nvSpPr>
          <p:cNvPr id="17" name="Text 15"/>
          <p:cNvSpPr/>
          <p:nvPr/>
        </p:nvSpPr>
        <p:spPr>
          <a:xfrm>
            <a:off x="7385609" y="1920240"/>
            <a:ext cx="1938528" cy="1097280"/>
          </a:xfrm>
          <a:prstGeom prst="roundRect">
            <a:avLst>
              <a:gd name="adj" fmla="val 6667"/>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8" name="Text 16"/>
          <p:cNvSpPr/>
          <p:nvPr/>
        </p:nvSpPr>
        <p:spPr>
          <a:xfrm>
            <a:off x="7385609" y="2048256"/>
            <a:ext cx="1938528"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04</a:t>
            </a:r>
            <a:endParaRPr lang="en-US" sz="1350" dirty="0"/>
          </a:p>
        </p:txBody>
      </p:sp>
      <p:sp>
        <p:nvSpPr>
          <p:cNvPr id="19" name="Text 17"/>
          <p:cNvSpPr/>
          <p:nvPr/>
        </p:nvSpPr>
        <p:spPr>
          <a:xfrm>
            <a:off x="7385609" y="2322576"/>
            <a:ext cx="1938528"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台本にする</a:t>
            </a:r>
            <a:endParaRPr lang="en-US" sz="1650" dirty="0"/>
          </a:p>
        </p:txBody>
      </p:sp>
      <p:sp>
        <p:nvSpPr>
          <p:cNvPr id="20" name="Text 18"/>
          <p:cNvSpPr/>
          <p:nvPr/>
        </p:nvSpPr>
        <p:spPr>
          <a:xfrm>
            <a:off x="9324137" y="1920240"/>
            <a:ext cx="320040" cy="109728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a:t>
            </a:r>
            <a:endParaRPr lang="en-US" sz="2250" dirty="0"/>
          </a:p>
        </p:txBody>
      </p:sp>
      <p:sp>
        <p:nvSpPr>
          <p:cNvPr id="21" name="Text 19"/>
          <p:cNvSpPr/>
          <p:nvPr/>
        </p:nvSpPr>
        <p:spPr>
          <a:xfrm>
            <a:off x="9644177" y="1920240"/>
            <a:ext cx="1938528" cy="1097280"/>
          </a:xfrm>
          <a:prstGeom prst="roundRect">
            <a:avLst>
              <a:gd name="adj" fmla="val 6667"/>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2" name="Text 20"/>
          <p:cNvSpPr/>
          <p:nvPr/>
        </p:nvSpPr>
        <p:spPr>
          <a:xfrm>
            <a:off x="9644177" y="2048256"/>
            <a:ext cx="1938528"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05</a:t>
            </a:r>
            <a:endParaRPr lang="en-US" sz="1350" dirty="0"/>
          </a:p>
        </p:txBody>
      </p:sp>
      <p:sp>
        <p:nvSpPr>
          <p:cNvPr id="23" name="Text 21"/>
          <p:cNvSpPr/>
          <p:nvPr/>
        </p:nvSpPr>
        <p:spPr>
          <a:xfrm>
            <a:off x="9644177" y="2322576"/>
            <a:ext cx="1938528"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スライド</a:t>
            </a:r>
            <a:endParaRPr lang="en-US" sz="1650" dirty="0"/>
          </a:p>
        </p:txBody>
      </p:sp>
      <p:sp>
        <p:nvSpPr>
          <p:cNvPr id="24" name="Text 22"/>
          <p:cNvSpPr/>
          <p:nvPr/>
        </p:nvSpPr>
        <p:spPr>
          <a:xfrm>
            <a:off x="609905" y="3200400"/>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 が人の承認。承認するまで次へ進みません。表紙の文言と導入の長さは、実際に差し戻しました。</a:t>
            </a:r>
            <a:endParaRPr lang="en-US" sz="1350" dirty="0"/>
          </a:p>
        </p:txBody>
      </p:sp>
      <p:sp>
        <p:nvSpPr>
          <p:cNvPr id="25" name="Text 23"/>
          <p:cNvSpPr/>
          <p:nvPr/>
        </p:nvSpPr>
        <p:spPr>
          <a:xfrm>
            <a:off x="609905" y="3657600"/>
            <a:ext cx="10972800" cy="777240"/>
          </a:xfrm>
          <a:prstGeom prst="roundRect">
            <a:avLst>
              <a:gd name="adj" fmla="val 11765"/>
            </a:avLst>
          </a:prstGeom>
          <a:solidFill>
            <a:srgbClr val="232321"/>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6" name="Text 24"/>
          <p:cNvSpPr/>
          <p:nvPr/>
        </p:nvSpPr>
        <p:spPr>
          <a:xfrm>
            <a:off x="609905" y="3657600"/>
            <a:ext cx="10972800" cy="77724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字数と出典の対応は、verify_script.py が機械的に検査する</a:t>
            </a:r>
            <a:endParaRPr lang="en-US" sz="2250" dirty="0"/>
          </a:p>
        </p:txBody>
      </p:sp>
      <p:sp>
        <p:nvSpPr>
          <p:cNvPr id="27" name="Text 25"/>
          <p:cNvSpPr/>
          <p:nvPr/>
        </p:nvSpPr>
        <p:spPr>
          <a:xfrm>
            <a:off x="609905" y="4709160"/>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目視で出典の付け忘れを二件見落とし、字数の見積もりは三割ずれました。だから機械に渡しました。</a:t>
            </a:r>
            <a:endParaRPr lang="en-US" sz="1350" dirty="0"/>
          </a:p>
        </p:txBody>
      </p:sp>
      <p:sp>
        <p:nvSpPr>
          <p:cNvPr id="28" name="Text 26"/>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6</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関所が、危険な操作を実際に止めた</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関所の正式な名前は、フック（Hooks）</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2743200"/>
            <a:ext cx="2670048" cy="685800"/>
          </a:xfrm>
          <a:prstGeom prst="roundRect">
            <a:avLst>
              <a:gd name="adj" fmla="val 13333"/>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609905" y="2743200"/>
            <a:ext cx="2670048" cy="685800"/>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AIが操作を出す</a:t>
            </a:r>
            <a:endParaRPr lang="en-US" sz="1650" dirty="0"/>
          </a:p>
        </p:txBody>
      </p:sp>
      <p:sp>
        <p:nvSpPr>
          <p:cNvPr id="7" name="Text 5"/>
          <p:cNvSpPr/>
          <p:nvPr/>
        </p:nvSpPr>
        <p:spPr>
          <a:xfrm>
            <a:off x="3398825" y="2743200"/>
            <a:ext cx="548640" cy="68580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a:t>
            </a:r>
            <a:endParaRPr lang="en-US" sz="2250" dirty="0"/>
          </a:p>
        </p:txBody>
      </p:sp>
      <p:sp>
        <p:nvSpPr>
          <p:cNvPr id="8" name="Text 6"/>
          <p:cNvSpPr/>
          <p:nvPr/>
        </p:nvSpPr>
        <p:spPr>
          <a:xfrm>
            <a:off x="5074920" y="2331720"/>
            <a:ext cx="2286000" cy="1463040"/>
          </a:xfrm>
          <a:prstGeom prst="diamond">
            <a:avLst/>
          </a:prstGeom>
          <a:solidFill>
            <a:srgbClr val="141413"/>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9" name="Text 7"/>
          <p:cNvSpPr/>
          <p:nvPr/>
        </p:nvSpPr>
        <p:spPr>
          <a:xfrm>
            <a:off x="5074920" y="2331720"/>
            <a:ext cx="2286000" cy="1463040"/>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PreToolUse</a:t>
            </a:r>
            <a:endParaRPr lang="en-US" sz="1350" dirty="0"/>
          </a:p>
          <a:p>
            <a:pPr algn="ctr" indent="0" marL="0">
              <a:buNone/>
            </a:pPr>
            <a:r>
              <a:rPr lang="en-US" sz="1350" b="1" dirty="0">
                <a:solidFill>
                  <a:srgbClr val="D97757"/>
                </a:solidFill>
                <a:latin typeface="Noto Sans JP" pitchFamily="34" charset="0"/>
                <a:ea typeface="Noto Sans JP" pitchFamily="34" charset="-122"/>
                <a:cs typeface="Noto Sans JP" pitchFamily="34" charset="-120"/>
              </a:rPr>
              <a:t>危険な型と一致するか</a:t>
            </a:r>
            <a:endParaRPr lang="en-US" sz="1350" dirty="0"/>
          </a:p>
        </p:txBody>
      </p:sp>
      <p:sp>
        <p:nvSpPr>
          <p:cNvPr id="10" name="Text 8"/>
          <p:cNvSpPr/>
          <p:nvPr/>
        </p:nvSpPr>
        <p:spPr>
          <a:xfrm>
            <a:off x="7498080" y="2743200"/>
            <a:ext cx="548640" cy="68580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a:t>
            </a:r>
            <a:endParaRPr lang="en-US" sz="2250" dirty="0"/>
          </a:p>
        </p:txBody>
      </p:sp>
      <p:sp>
        <p:nvSpPr>
          <p:cNvPr id="11" name="Text 9"/>
          <p:cNvSpPr/>
          <p:nvPr/>
        </p:nvSpPr>
        <p:spPr>
          <a:xfrm>
            <a:off x="8183880" y="2331720"/>
            <a:ext cx="3401568" cy="658368"/>
          </a:xfrm>
          <a:prstGeom prst="roundRect">
            <a:avLst>
              <a:gd name="adj" fmla="val 13889"/>
            </a:avLst>
          </a:prstGeom>
          <a:solidFill>
            <a:srgbClr val="232321"/>
          </a:solidFill>
          <a:ln w="19050">
            <a:solidFill>
              <a:srgbClr val="788C5D"/>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2" name="Text 10"/>
          <p:cNvSpPr/>
          <p:nvPr/>
        </p:nvSpPr>
        <p:spPr>
          <a:xfrm>
            <a:off x="8183880" y="2331720"/>
            <a:ext cx="3401568" cy="658368"/>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一致しない → 実行</a:t>
            </a:r>
            <a:endParaRPr lang="en-US" sz="1650" dirty="0"/>
          </a:p>
        </p:txBody>
      </p:sp>
      <p:sp>
        <p:nvSpPr>
          <p:cNvPr id="13" name="Text 11"/>
          <p:cNvSpPr/>
          <p:nvPr/>
        </p:nvSpPr>
        <p:spPr>
          <a:xfrm>
            <a:off x="8183880" y="3136392"/>
            <a:ext cx="3401568" cy="658368"/>
          </a:xfrm>
          <a:prstGeom prst="roundRect">
            <a:avLst>
              <a:gd name="adj" fmla="val 13889"/>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4" name="Text 12"/>
          <p:cNvSpPr/>
          <p:nvPr/>
        </p:nvSpPr>
        <p:spPr>
          <a:xfrm>
            <a:off x="8183880" y="3136392"/>
            <a:ext cx="3401568" cy="658368"/>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一致する → 停止</a:t>
            </a:r>
            <a:endParaRPr lang="en-US" sz="1650" dirty="0"/>
          </a:p>
        </p:txBody>
      </p:sp>
      <p:sp>
        <p:nvSpPr>
          <p:cNvPr id="15" name="Text 13"/>
          <p:cNvSpPr/>
          <p:nvPr/>
        </p:nvSpPr>
        <p:spPr>
          <a:xfrm>
            <a:off x="609905" y="4160520"/>
            <a:ext cx="10972800" cy="603504"/>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フックとは、決まったタイミングで必ず自動的に走る仕掛けのことです。</a:t>
            </a:r>
            <a:endParaRPr lang="en-US" sz="1350" dirty="0"/>
          </a:p>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PreToolUse は「AIが道具を使う直前」に割り込む種類で、実行そのものをさせません。</a:t>
            </a:r>
            <a:endParaRPr lang="en-US" sz="1350" dirty="0"/>
          </a:p>
        </p:txBody>
      </p:sp>
      <p:sp>
        <p:nvSpPr>
          <p:cNvPr id="16" name="Text 14"/>
          <p:cNvSpPr/>
          <p:nvPr/>
        </p:nvSpPr>
        <p:spPr>
          <a:xfrm>
            <a:off x="609905" y="4983480"/>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資料の調査中、AIが出したフォルダの一括削除を実際に止めました。現場のポカヨケと同じ発想です。</a:t>
            </a:r>
            <a:endParaRPr lang="en-US" sz="1350" dirty="0"/>
          </a:p>
        </p:txBody>
      </p:sp>
      <p:sp>
        <p:nvSpPr>
          <p:cNvPr id="17" name="Text 15"/>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7</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いつ読まれるのか</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説明文は常に、本文は呼ばれたときだけ</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65960"/>
            <a:ext cx="10972800" cy="1005840"/>
          </a:xfrm>
          <a:prstGeom prst="roundRect">
            <a:avLst>
              <a:gd name="adj" fmla="val 9091"/>
            </a:avLst>
          </a:prstGeom>
          <a:solidFill>
            <a:srgbClr val="232321"/>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911657" y="2121408"/>
            <a:ext cx="4572000" cy="256032"/>
          </a:xfrm>
          <a:prstGeom prst="rect">
            <a:avLst/>
          </a:prstGeom>
          <a:noFill/>
          <a:ln/>
        </p:spPr>
        <p:txBody>
          <a:bodyPr wrap="none" lIns="0" tIns="0" rIns="0" bIns="0" rtlCol="0" anchor="ctr"/>
          <a:lstStyle/>
          <a:p>
            <a:pPr indent="0" marL="0">
              <a:buNone/>
            </a:pPr>
            <a:r>
              <a:rPr lang="en-US" sz="1350" b="1" dirty="0">
                <a:solidFill>
                  <a:srgbClr val="D97757"/>
                </a:solidFill>
                <a:latin typeface="Noto Sans JP" pitchFamily="34" charset="0"/>
                <a:ea typeface="Noto Sans JP" pitchFamily="34" charset="-122"/>
                <a:cs typeface="Noto Sans JP" pitchFamily="34" charset="-120"/>
              </a:rPr>
              <a:t>常に読まれる</a:t>
            </a:r>
            <a:endParaRPr lang="en-US" sz="1350" dirty="0"/>
          </a:p>
        </p:txBody>
      </p:sp>
      <p:sp>
        <p:nvSpPr>
          <p:cNvPr id="7" name="Text 5"/>
          <p:cNvSpPr/>
          <p:nvPr/>
        </p:nvSpPr>
        <p:spPr>
          <a:xfrm>
            <a:off x="911657" y="2432304"/>
            <a:ext cx="10369296" cy="329184"/>
          </a:xfrm>
          <a:prstGeom prst="rect">
            <a:avLst/>
          </a:prstGeom>
          <a:noFill/>
          <a:ln/>
        </p:spPr>
        <p:txBody>
          <a:bodyPr wrap="none" lIns="0" tIns="0" rIns="0" bIns="0" rtlCol="0" anchor="ctr"/>
          <a:lstStyle/>
          <a:p>
            <a:pPr indent="0" marL="0">
              <a:buNone/>
            </a:pPr>
            <a:r>
              <a:rPr lang="en-US" sz="1650" dirty="0">
                <a:solidFill>
                  <a:srgbClr val="FAF9F5"/>
                </a:solidFill>
                <a:latin typeface="Noto Sans JP" pitchFamily="34" charset="0"/>
                <a:ea typeface="Noto Sans JP" pitchFamily="34" charset="-122"/>
                <a:cs typeface="Noto Sans JP" pitchFamily="34" charset="-120"/>
              </a:rPr>
              <a:t>冒頭の説明文。入れてあるあいだ、使わなくても毎回読まれ続けます。</a:t>
            </a:r>
            <a:endParaRPr lang="en-US" sz="1650" dirty="0"/>
          </a:p>
        </p:txBody>
      </p:sp>
      <p:sp>
        <p:nvSpPr>
          <p:cNvPr id="8" name="Text 6"/>
          <p:cNvSpPr/>
          <p:nvPr/>
        </p:nvSpPr>
        <p:spPr>
          <a:xfrm>
            <a:off x="609905" y="3127248"/>
            <a:ext cx="10972800" cy="1005840"/>
          </a:xfrm>
          <a:prstGeom prst="roundRect">
            <a:avLst>
              <a:gd name="adj" fmla="val 9091"/>
            </a:avLst>
          </a:prstGeom>
          <a:solidFill>
            <a:srgbClr val="1D1D1B"/>
          </a:solidFill>
          <a:ln w="2794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9" name="Text 7"/>
          <p:cNvSpPr/>
          <p:nvPr/>
        </p:nvSpPr>
        <p:spPr>
          <a:xfrm>
            <a:off x="911657" y="3282696"/>
            <a:ext cx="4572000" cy="256032"/>
          </a:xfrm>
          <a:prstGeom prst="rect">
            <a:avLst/>
          </a:prstGeom>
          <a:noFill/>
          <a:ln/>
        </p:spPr>
        <p:txBody>
          <a:bodyPr wrap="none" lIns="0" tIns="0" rIns="0" bIns="0" rtlCol="0" anchor="ctr"/>
          <a:lstStyle/>
          <a:p>
            <a:pPr indent="0" marL="0">
              <a:buNone/>
            </a:pPr>
            <a:r>
              <a:rPr lang="en-US" sz="1350" b="1" dirty="0">
                <a:solidFill>
                  <a:srgbClr val="B0AEA5"/>
                </a:solidFill>
                <a:latin typeface="Noto Sans JP" pitchFamily="34" charset="0"/>
                <a:ea typeface="Noto Sans JP" pitchFamily="34" charset="-122"/>
                <a:cs typeface="Noto Sans JP" pitchFamily="34" charset="-120"/>
              </a:rPr>
              <a:t>呼ばれたときだけ読まれる</a:t>
            </a:r>
            <a:endParaRPr lang="en-US" sz="1350" dirty="0"/>
          </a:p>
        </p:txBody>
      </p:sp>
      <p:sp>
        <p:nvSpPr>
          <p:cNvPr id="10" name="Text 8"/>
          <p:cNvSpPr/>
          <p:nvPr/>
        </p:nvSpPr>
        <p:spPr>
          <a:xfrm>
            <a:off x="911657" y="3593592"/>
            <a:ext cx="10369296" cy="329184"/>
          </a:xfrm>
          <a:prstGeom prst="rect">
            <a:avLst/>
          </a:prstGeom>
          <a:noFill/>
          <a:ln/>
        </p:spPr>
        <p:txBody>
          <a:bodyPr wrap="none" lIns="0" tIns="0" rIns="0" bIns="0" rtlCol="0" anchor="ctr"/>
          <a:lstStyle/>
          <a:p>
            <a:pPr indent="0" marL="0">
              <a:buNone/>
            </a:pPr>
            <a:r>
              <a:rPr lang="en-US" sz="1650" dirty="0">
                <a:solidFill>
                  <a:srgbClr val="FAF9F5"/>
                </a:solidFill>
                <a:latin typeface="Noto Sans JP" pitchFamily="34" charset="0"/>
                <a:ea typeface="Noto Sans JP" pitchFamily="34" charset="-122"/>
                <a:cs typeface="Noto Sans JP" pitchFamily="34" charset="-120"/>
              </a:rPr>
              <a:t>手順の本文。ただし一度呼び出すと、読み込んだあとも残ります。</a:t>
            </a:r>
            <a:endParaRPr lang="en-US" sz="1650" dirty="0"/>
          </a:p>
        </p:txBody>
      </p:sp>
      <p:sp>
        <p:nvSpPr>
          <p:cNvPr id="11" name="Text 9"/>
          <p:cNvSpPr/>
          <p:nvPr/>
        </p:nvSpPr>
        <p:spPr>
          <a:xfrm>
            <a:off x="609905" y="4434840"/>
            <a:ext cx="10972800" cy="777240"/>
          </a:xfrm>
          <a:prstGeom prst="roundRect">
            <a:avLst>
              <a:gd name="adj" fmla="val 11765"/>
            </a:avLst>
          </a:prstGeom>
          <a:solidFill>
            <a:srgbClr val="232321"/>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2" name="Text 10"/>
          <p:cNvSpPr/>
          <p:nvPr/>
        </p:nvSpPr>
        <p:spPr>
          <a:xfrm>
            <a:off x="609905" y="4434840"/>
            <a:ext cx="10972800" cy="77724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二段構えの名前は、段階的開示（progressive disclosure）</a:t>
            </a:r>
            <a:endParaRPr lang="en-US" sz="2250" dirty="0"/>
          </a:p>
        </p:txBody>
      </p:sp>
      <p:sp>
        <p:nvSpPr>
          <p:cNvPr id="13" name="Text 11"/>
          <p:cNvSpPr/>
          <p:nvPr/>
        </p:nvSpPr>
        <p:spPr>
          <a:xfrm>
            <a:off x="609905" y="5486400"/>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薄い情報を見せておいて、必要になった段階で深い情報を開く設計です。自分で作るときの指針になります。</a:t>
            </a:r>
            <a:endParaRPr lang="en-US" sz="1350" dirty="0"/>
          </a:p>
        </p:txBody>
      </p:sp>
      <p:sp>
        <p:nvSpPr>
          <p:cNvPr id="14" name="Text 12"/>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8</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CLAUDE.md との使い分け</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常に効かせたいことと、作業の手順を分ける</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65960"/>
            <a:ext cx="10972800" cy="566928"/>
          </a:xfrm>
          <a:prstGeom prst="rect">
            <a:avLst/>
          </a:prstGeom>
          <a:solidFill>
            <a:srgbClr val="232321"/>
          </a:solidFill>
          <a:ln>
            <a:solidFill>
              <a:srgbClr val="141413"/>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838505" y="1965960"/>
            <a:ext cx="2491740" cy="566928"/>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置き先</a:t>
            </a:r>
            <a:endParaRPr lang="en-US" sz="1650" dirty="0"/>
          </a:p>
        </p:txBody>
      </p:sp>
      <p:sp>
        <p:nvSpPr>
          <p:cNvPr id="7" name="Text 5"/>
          <p:cNvSpPr/>
          <p:nvPr/>
        </p:nvSpPr>
        <p:spPr>
          <a:xfrm>
            <a:off x="3696005" y="1965960"/>
            <a:ext cx="2491740" cy="566928"/>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読まれ方</a:t>
            </a:r>
            <a:endParaRPr lang="en-US" sz="1650" dirty="0"/>
          </a:p>
        </p:txBody>
      </p:sp>
      <p:sp>
        <p:nvSpPr>
          <p:cNvPr id="8" name="Text 6"/>
          <p:cNvSpPr/>
          <p:nvPr/>
        </p:nvSpPr>
        <p:spPr>
          <a:xfrm>
            <a:off x="6553505" y="1965960"/>
            <a:ext cx="4892040" cy="566928"/>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書く内容の例</a:t>
            </a:r>
            <a:endParaRPr lang="en-US" sz="1650" dirty="0"/>
          </a:p>
        </p:txBody>
      </p:sp>
      <p:sp>
        <p:nvSpPr>
          <p:cNvPr id="9" name="Text 7"/>
          <p:cNvSpPr/>
          <p:nvPr/>
        </p:nvSpPr>
        <p:spPr>
          <a:xfrm>
            <a:off x="609905" y="2532888"/>
            <a:ext cx="10972800" cy="0"/>
          </a:xfrm>
          <a:prstGeom prst="line">
            <a:avLst/>
          </a:prstGeom>
          <a:noFill/>
          <a:ln w="25400">
            <a:solidFill>
              <a:srgbClr val="FAF9F5"/>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0" name="Text 8"/>
          <p:cNvSpPr/>
          <p:nvPr/>
        </p:nvSpPr>
        <p:spPr>
          <a:xfrm>
            <a:off x="838505" y="2532888"/>
            <a:ext cx="2491740" cy="621792"/>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CLAUDE.md</a:t>
            </a:r>
            <a:endParaRPr lang="en-US" sz="1650" dirty="0"/>
          </a:p>
        </p:txBody>
      </p:sp>
      <p:sp>
        <p:nvSpPr>
          <p:cNvPr id="11" name="Text 9"/>
          <p:cNvSpPr/>
          <p:nvPr/>
        </p:nvSpPr>
        <p:spPr>
          <a:xfrm>
            <a:off x="3696005" y="2532888"/>
            <a:ext cx="2491740" cy="621792"/>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毎回、必ず読まれる</a:t>
            </a:r>
            <a:endParaRPr lang="en-US" sz="1650" dirty="0"/>
          </a:p>
        </p:txBody>
      </p:sp>
      <p:sp>
        <p:nvSpPr>
          <p:cNvPr id="12" name="Text 10"/>
          <p:cNvSpPr/>
          <p:nvPr/>
        </p:nvSpPr>
        <p:spPr>
          <a:xfrm>
            <a:off x="6553505" y="2532888"/>
            <a:ext cx="4892040" cy="621792"/>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数値には必ず単位を付ける</a:t>
            </a:r>
            <a:endParaRPr lang="en-US" sz="1650" dirty="0"/>
          </a:p>
        </p:txBody>
      </p:sp>
      <p:sp>
        <p:nvSpPr>
          <p:cNvPr id="13" name="Text 11"/>
          <p:cNvSpPr/>
          <p:nvPr/>
        </p:nvSpPr>
        <p:spPr>
          <a:xfrm>
            <a:off x="609905" y="3154680"/>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4" name="Text 12"/>
          <p:cNvSpPr/>
          <p:nvPr/>
        </p:nvSpPr>
        <p:spPr>
          <a:xfrm>
            <a:off x="838505" y="3154680"/>
            <a:ext cx="2491740" cy="621792"/>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スキル</a:t>
            </a:r>
            <a:endParaRPr lang="en-US" sz="1650" dirty="0"/>
          </a:p>
        </p:txBody>
      </p:sp>
      <p:sp>
        <p:nvSpPr>
          <p:cNvPr id="15" name="Text 13"/>
          <p:cNvSpPr/>
          <p:nvPr/>
        </p:nvSpPr>
        <p:spPr>
          <a:xfrm>
            <a:off x="3696005" y="3154680"/>
            <a:ext cx="2491740" cy="621792"/>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使う作業のときだけ</a:t>
            </a:r>
            <a:endParaRPr lang="en-US" sz="1650" dirty="0"/>
          </a:p>
        </p:txBody>
      </p:sp>
      <p:sp>
        <p:nvSpPr>
          <p:cNvPr id="16" name="Text 14"/>
          <p:cNvSpPr/>
          <p:nvPr/>
        </p:nvSpPr>
        <p:spPr>
          <a:xfrm>
            <a:off x="6553505" y="3154680"/>
            <a:ext cx="4892040" cy="621792"/>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月次の設備報告を作る三段の手順</a:t>
            </a:r>
            <a:endParaRPr lang="en-US" sz="1650" dirty="0"/>
          </a:p>
        </p:txBody>
      </p:sp>
      <p:sp>
        <p:nvSpPr>
          <p:cNvPr id="17" name="Text 15"/>
          <p:cNvSpPr/>
          <p:nvPr/>
        </p:nvSpPr>
        <p:spPr>
          <a:xfrm>
            <a:off x="609905" y="3776472"/>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8" name="Text 16"/>
          <p:cNvSpPr/>
          <p:nvPr/>
        </p:nvSpPr>
        <p:spPr>
          <a:xfrm>
            <a:off x="609905" y="4114800"/>
            <a:ext cx="10972800" cy="603504"/>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迷ったときの目安は一つ。CLAUDE.md のある部分が、変わらない事実ではなく手順に育ってきたら、</a:t>
            </a:r>
            <a:endParaRPr lang="en-US" sz="1350" dirty="0"/>
          </a:p>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スキルに切り出すサインです。順番が三つ四つと増えたら、もう手順書です。</a:t>
            </a:r>
            <a:endParaRPr lang="en-US" sz="1350" dirty="0"/>
          </a:p>
        </p:txBody>
      </p:sp>
      <p:sp>
        <p:nvSpPr>
          <p:cNvPr id="19" name="Text 17"/>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9</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2148840"/>
            <a:ext cx="10972800" cy="1005840"/>
          </a:xfrm>
          <a:prstGeom prst="rect">
            <a:avLst/>
          </a:prstGeom>
          <a:noFill/>
          <a:ln/>
        </p:spPr>
        <p:txBody>
          <a:bodyPr wrap="none" lIns="0" tIns="0" rIns="0" bIns="0" rtlCol="0" anchor="ctr"/>
          <a:lstStyle/>
          <a:p>
            <a:pPr indent="0" marL="0">
              <a:buNone/>
            </a:pPr>
            <a:r>
              <a:rPr lang="en-US" sz="7800" b="1" dirty="0">
                <a:solidFill>
                  <a:srgbClr val="D97757"/>
                </a:solidFill>
                <a:latin typeface="Noto Sans JP" pitchFamily="34" charset="0"/>
                <a:ea typeface="Noto Sans JP" pitchFamily="34" charset="-122"/>
                <a:cs typeface="Noto Sans JP" pitchFamily="34" charset="-120"/>
              </a:rPr>
              <a:t>02</a:t>
            </a:r>
            <a:endParaRPr lang="en-US" sz="7800" dirty="0"/>
          </a:p>
        </p:txBody>
      </p:sp>
      <p:sp>
        <p:nvSpPr>
          <p:cNvPr id="3" name="Text 1"/>
          <p:cNvSpPr/>
          <p:nvPr/>
        </p:nvSpPr>
        <p:spPr>
          <a:xfrm>
            <a:off x="609905" y="3337560"/>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まず探す</a:t>
            </a:r>
            <a:endParaRPr lang="en-US" sz="3600" dirty="0"/>
          </a:p>
        </p:txBody>
      </p:sp>
      <p:sp>
        <p:nvSpPr>
          <p:cNvPr id="4" name="Text 2"/>
          <p:cNvSpPr/>
          <p:nvPr/>
        </p:nvSpPr>
        <p:spPr>
          <a:xfrm>
            <a:off x="609905" y="4114800"/>
            <a:ext cx="10972800" cy="384048"/>
          </a:xfrm>
          <a:prstGeom prst="rect">
            <a:avLst/>
          </a:prstGeom>
          <a:noFill/>
          <a:ln/>
        </p:spPr>
        <p:txBody>
          <a:bodyPr wrap="none" lIns="0" tIns="0" rIns="0" bIns="0" rtlCol="0" anchor="ctr"/>
          <a:lstStyle/>
          <a:p>
            <a:pPr indent="0" marL="0">
              <a:buNone/>
            </a:pPr>
            <a:r>
              <a:rPr lang="en-US" sz="1800" dirty="0">
                <a:solidFill>
                  <a:srgbClr val="B0AEA5"/>
                </a:solidFill>
                <a:latin typeface="Noto Sans JP" pitchFamily="34" charset="0"/>
                <a:ea typeface="Noto Sans JP" pitchFamily="34" charset="-122"/>
                <a:cs typeface="Noto Sans JP" pitchFamily="34" charset="-120"/>
              </a:rPr>
              <a:t>三つの入口</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どこにあって、どう探すか</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置き場は二つ、探し方は三つ</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65960"/>
            <a:ext cx="10972800" cy="566928"/>
          </a:xfrm>
          <a:prstGeom prst="rect">
            <a:avLst/>
          </a:prstGeom>
          <a:solidFill>
            <a:srgbClr val="232321"/>
          </a:solidFill>
          <a:ln>
            <a:solidFill>
              <a:srgbClr val="141413"/>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838505" y="1965960"/>
            <a:ext cx="3346704" cy="566928"/>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探し方（打つもの・開くもの）</a:t>
            </a:r>
            <a:endParaRPr lang="en-US" sz="1650" dirty="0"/>
          </a:p>
        </p:txBody>
      </p:sp>
      <p:sp>
        <p:nvSpPr>
          <p:cNvPr id="7" name="Text 5"/>
          <p:cNvSpPr/>
          <p:nvPr/>
        </p:nvSpPr>
        <p:spPr>
          <a:xfrm>
            <a:off x="4550969" y="1965960"/>
            <a:ext cx="2395728" cy="566928"/>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どこを見にいくか</a:t>
            </a:r>
            <a:endParaRPr lang="en-US" sz="1650" dirty="0"/>
          </a:p>
        </p:txBody>
      </p:sp>
      <p:sp>
        <p:nvSpPr>
          <p:cNvPr id="8" name="Text 6"/>
          <p:cNvSpPr/>
          <p:nvPr/>
        </p:nvSpPr>
        <p:spPr>
          <a:xfrm>
            <a:off x="7312457" y="1965960"/>
            <a:ext cx="4133088" cy="566928"/>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並んでいるもの</a:t>
            </a:r>
            <a:endParaRPr lang="en-US" sz="1650" dirty="0"/>
          </a:p>
        </p:txBody>
      </p:sp>
      <p:sp>
        <p:nvSpPr>
          <p:cNvPr id="9" name="Text 7"/>
          <p:cNvSpPr/>
          <p:nvPr/>
        </p:nvSpPr>
        <p:spPr>
          <a:xfrm>
            <a:off x="609905" y="2532888"/>
            <a:ext cx="10972800" cy="0"/>
          </a:xfrm>
          <a:prstGeom prst="line">
            <a:avLst/>
          </a:prstGeom>
          <a:noFill/>
          <a:ln w="25400">
            <a:solidFill>
              <a:srgbClr val="FAF9F5"/>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0" name="Text 8"/>
          <p:cNvSpPr/>
          <p:nvPr/>
        </p:nvSpPr>
        <p:spPr>
          <a:xfrm>
            <a:off x="838505" y="2532888"/>
            <a:ext cx="3346704" cy="960120"/>
          </a:xfrm>
          <a:prstGeom prst="rect">
            <a:avLst/>
          </a:prstGeom>
          <a:noFill/>
          <a:ln/>
        </p:spPr>
        <p:txBody>
          <a:bodyPr wrap="none" lIns="0" tIns="0" rIns="0" bIns="0" rtlCol="0" anchor="ctr"/>
          <a:lstStyle/>
          <a:p>
            <a:pPr indent="0" marL="0">
              <a:lnSpc>
                <a:spcPct val="140000"/>
              </a:lnSpc>
              <a:buNone/>
            </a:pPr>
            <a:r>
              <a:rPr lang="en-US" sz="1650" b="1" dirty="0">
                <a:solidFill>
                  <a:srgbClr val="FAF9F5"/>
                </a:solidFill>
                <a:latin typeface="Noto Sans JP" pitchFamily="34" charset="0"/>
                <a:ea typeface="Noto Sans JP" pitchFamily="34" charset="-122"/>
                <a:cs typeface="Noto Sans JP" pitchFamily="34" charset="-120"/>
              </a:rPr>
              <a:t>/plugin → Discover タブ</a:t>
            </a:r>
            <a:endParaRPr lang="en-US" sz="1650" dirty="0"/>
          </a:p>
        </p:txBody>
      </p:sp>
      <p:sp>
        <p:nvSpPr>
          <p:cNvPr id="11" name="Text 9"/>
          <p:cNvSpPr/>
          <p:nvPr/>
        </p:nvSpPr>
        <p:spPr>
          <a:xfrm>
            <a:off x="4550969" y="2532888"/>
            <a:ext cx="2395728" cy="96012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純正の一覧</a:t>
            </a:r>
            <a:endParaRPr lang="en-US" sz="1650" dirty="0"/>
          </a:p>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claude-plugins-official</a:t>
            </a:r>
            <a:endParaRPr lang="en-US" sz="1650" dirty="0"/>
          </a:p>
        </p:txBody>
      </p:sp>
      <p:sp>
        <p:nvSpPr>
          <p:cNvPr id="12" name="Text 10"/>
          <p:cNvSpPr/>
          <p:nvPr/>
        </p:nvSpPr>
        <p:spPr>
          <a:xfrm>
            <a:off x="7312457" y="2532888"/>
            <a:ext cx="4133088" cy="96012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開発元が並べた 276個。</a:t>
            </a:r>
            <a:endParaRPr lang="en-US" sz="1650" dirty="0"/>
          </a:p>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skill-creator も同じ棚に</a:t>
            </a:r>
            <a:endParaRPr lang="en-US" sz="1650" dirty="0"/>
          </a:p>
        </p:txBody>
      </p:sp>
      <p:sp>
        <p:nvSpPr>
          <p:cNvPr id="13" name="Text 11"/>
          <p:cNvSpPr/>
          <p:nvPr/>
        </p:nvSpPr>
        <p:spPr>
          <a:xfrm>
            <a:off x="609905" y="34930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4" name="Text 12"/>
          <p:cNvSpPr/>
          <p:nvPr/>
        </p:nvSpPr>
        <p:spPr>
          <a:xfrm>
            <a:off x="838505" y="3493008"/>
            <a:ext cx="3346704" cy="96012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ブラウザで skills.sh を開く</a:t>
            </a:r>
            <a:endParaRPr lang="en-US" sz="1650" dirty="0"/>
          </a:p>
        </p:txBody>
      </p:sp>
      <p:sp>
        <p:nvSpPr>
          <p:cNvPr id="15" name="Text 13"/>
          <p:cNvSpPr/>
          <p:nvPr/>
        </p:nvSpPr>
        <p:spPr>
          <a:xfrm>
            <a:off x="4550969" y="3493008"/>
            <a:ext cx="2395728" cy="96012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社外の一覧</a:t>
            </a:r>
            <a:endParaRPr lang="en-US" sz="1650" dirty="0"/>
          </a:p>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（レジストリ）</a:t>
            </a:r>
            <a:endParaRPr lang="en-US" sz="1650" dirty="0"/>
          </a:p>
        </p:txBody>
      </p:sp>
      <p:sp>
        <p:nvSpPr>
          <p:cNvPr id="16" name="Text 14"/>
          <p:cNvSpPr/>
          <p:nvPr/>
        </p:nvSpPr>
        <p:spPr>
          <a:xfrm>
            <a:off x="7312457" y="3493008"/>
            <a:ext cx="4133088" cy="96012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他社が運営。品揃えが広く、</a:t>
            </a:r>
            <a:endParaRPr lang="en-US" sz="1650" dirty="0"/>
          </a:p>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他のAIの道具にも入る</a:t>
            </a:r>
            <a:endParaRPr lang="en-US" sz="1650" dirty="0"/>
          </a:p>
        </p:txBody>
      </p:sp>
      <p:sp>
        <p:nvSpPr>
          <p:cNvPr id="17" name="Text 15"/>
          <p:cNvSpPr/>
          <p:nvPr/>
        </p:nvSpPr>
        <p:spPr>
          <a:xfrm>
            <a:off x="609905" y="445312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8" name="Text 16"/>
          <p:cNvSpPr/>
          <p:nvPr/>
        </p:nvSpPr>
        <p:spPr>
          <a:xfrm>
            <a:off x="838505" y="4453128"/>
            <a:ext cx="3346704" cy="960120"/>
          </a:xfrm>
          <a:prstGeom prst="rect">
            <a:avLst/>
          </a:prstGeom>
          <a:noFill/>
          <a:ln/>
        </p:spPr>
        <p:txBody>
          <a:bodyPr wrap="none" lIns="0" tIns="0" rIns="0" bIns="0" rtlCol="0" anchor="ctr"/>
          <a:lstStyle/>
          <a:p>
            <a:pPr indent="0" marL="0">
              <a:lnSpc>
                <a:spcPct val="140000"/>
              </a:lnSpc>
              <a:buNone/>
            </a:pPr>
            <a:r>
              <a:rPr lang="en-US" sz="1650" b="1" dirty="0">
                <a:solidFill>
                  <a:srgbClr val="FAF9F5"/>
                </a:solidFill>
                <a:latin typeface="Noto Sans JP" pitchFamily="34" charset="0"/>
                <a:ea typeface="Noto Sans JP" pitchFamily="34" charset="-122"/>
                <a:cs typeface="Noto Sans JP" pitchFamily="34" charset="-120"/>
              </a:rPr>
              <a:t>/find-skills 議事録をまとめたい</a:t>
            </a:r>
            <a:endParaRPr lang="en-US" sz="1650" dirty="0"/>
          </a:p>
        </p:txBody>
      </p:sp>
      <p:sp>
        <p:nvSpPr>
          <p:cNvPr id="19" name="Text 17"/>
          <p:cNvSpPr/>
          <p:nvPr/>
        </p:nvSpPr>
        <p:spPr>
          <a:xfrm>
            <a:off x="4550969" y="4453128"/>
            <a:ext cx="2395728" cy="96012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社外の一覧を</a:t>
            </a:r>
            <a:endParaRPr lang="en-US" sz="1650" dirty="0"/>
          </a:p>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日本語で検索</a:t>
            </a:r>
            <a:endParaRPr lang="en-US" sz="1650" dirty="0"/>
          </a:p>
        </p:txBody>
      </p:sp>
      <p:sp>
        <p:nvSpPr>
          <p:cNvPr id="20" name="Text 18"/>
          <p:cNvSpPr/>
          <p:nvPr/>
        </p:nvSpPr>
        <p:spPr>
          <a:xfrm>
            <a:off x="7312457" y="4453128"/>
            <a:ext cx="4133088" cy="96012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名前を知らなくてよい。</a:t>
            </a:r>
            <a:endParaRPr lang="en-US" sz="1650" dirty="0"/>
          </a:p>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やりたいことを書くだけ</a:t>
            </a:r>
            <a:endParaRPr lang="en-US" sz="1650" dirty="0"/>
          </a:p>
        </p:txBody>
      </p:sp>
      <p:sp>
        <p:nvSpPr>
          <p:cNvPr id="21" name="Text 19"/>
          <p:cNvSpPr/>
          <p:nvPr/>
        </p:nvSpPr>
        <p:spPr>
          <a:xfrm>
            <a:off x="609905" y="541324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2" name="Text 20"/>
          <p:cNvSpPr/>
          <p:nvPr/>
        </p:nvSpPr>
        <p:spPr>
          <a:xfrm>
            <a:off x="609905" y="5577840"/>
            <a:ext cx="10972800" cy="603504"/>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形式は Agent Skills という共通の規格です。ネジの規格が共通なら、どのメーカーの工具でも回せます。</a:t>
            </a:r>
            <a:endParaRPr lang="en-US" sz="1350" dirty="0"/>
          </a:p>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順番は「まず探す → 見つかれば使う → 無ければ作る」。自分で作るのは最後の手段です。</a:t>
            </a:r>
            <a:endParaRPr lang="en-US" sz="1350" dirty="0"/>
          </a:p>
        </p:txBody>
      </p:sp>
      <p:sp>
        <p:nvSpPr>
          <p:cNvPr id="23" name="Text 21"/>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10</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純正の一覧を見る</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純正の一覧には、スキルを作るスキルもある</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65960"/>
            <a:ext cx="10972800" cy="777240"/>
          </a:xfrm>
          <a:prstGeom prst="roundRect">
            <a:avLst>
              <a:gd name="adj" fmla="val 11765"/>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911657" y="1965960"/>
            <a:ext cx="10369296" cy="777240"/>
          </a:xfrm>
          <a:prstGeom prst="rect">
            <a:avLst/>
          </a:prstGeom>
          <a:noFill/>
          <a:ln/>
        </p:spPr>
        <p:txBody>
          <a:bodyPr wrap="none" lIns="0" tIns="0" rIns="0" bIns="0" rtlCol="0" anchor="ctr"/>
          <a:lstStyle/>
          <a:p>
            <a:pPr indent="0" marL="0">
              <a:buNone/>
            </a:pPr>
            <a:r>
              <a:rPr lang="en-US" sz="1800" b="1" dirty="0">
                <a:solidFill>
                  <a:srgbClr val="D97757"/>
                </a:solidFill>
                <a:latin typeface="Consolas" pitchFamily="34" charset="0"/>
                <a:ea typeface="Consolas" pitchFamily="34" charset="-122"/>
                <a:cs typeface="Consolas" pitchFamily="34" charset="-120"/>
              </a:rPr>
              <a:t>/plugin</a:t>
            </a:r>
            <a:pPr indent="0" marL="0">
              <a:buNone/>
            </a:pPr>
            <a:r>
              <a:rPr lang="en-US" sz="1800" dirty="0">
                <a:solidFill>
                  <a:srgbClr val="FAF9F5"/>
                </a:solidFill>
                <a:latin typeface="Consolas" pitchFamily="34" charset="0"/>
                <a:ea typeface="Consolas" pitchFamily="34" charset="-122"/>
                <a:cs typeface="Consolas" pitchFamily="34" charset="-120"/>
              </a:rPr>
              <a:t> → Discover タブ</a:t>
            </a:r>
            <a:endParaRPr lang="en-US" sz="1800" dirty="0"/>
          </a:p>
        </p:txBody>
      </p:sp>
      <p:sp>
        <p:nvSpPr>
          <p:cNvPr id="7" name="Text 5"/>
          <p:cNvSpPr/>
          <p:nvPr/>
        </p:nvSpPr>
        <p:spPr>
          <a:xfrm>
            <a:off x="609905" y="2971800"/>
            <a:ext cx="3505200" cy="2057400"/>
          </a:xfrm>
          <a:prstGeom prst="roundRect">
            <a:avLst>
              <a:gd name="adj" fmla="val 4444"/>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8" name="Text 6"/>
          <p:cNvSpPr/>
          <p:nvPr/>
        </p:nvSpPr>
        <p:spPr>
          <a:xfrm>
            <a:off x="838505" y="3172968"/>
            <a:ext cx="3048000" cy="256032"/>
          </a:xfrm>
          <a:prstGeom prst="rect">
            <a:avLst/>
          </a:prstGeom>
          <a:noFill/>
          <a:ln/>
        </p:spPr>
        <p:txBody>
          <a:bodyPr wrap="none" lIns="0" tIns="0" rIns="0" bIns="0" rtlCol="0" anchor="ctr"/>
          <a:lstStyle/>
          <a:p>
            <a:pPr indent="0" marL="0">
              <a:buNone/>
            </a:pPr>
            <a:r>
              <a:rPr lang="en-US" sz="1350" b="1" spc="200" kern="0" dirty="0">
                <a:solidFill>
                  <a:srgbClr val="D97757"/>
                </a:solidFill>
                <a:latin typeface="Noto Sans JP" pitchFamily="34" charset="0"/>
                <a:ea typeface="Noto Sans JP" pitchFamily="34" charset="-122"/>
                <a:cs typeface="Noto Sans JP" pitchFamily="34" charset="-120"/>
              </a:rPr>
              <a:t>値札</a:t>
            </a:r>
            <a:endParaRPr lang="en-US" sz="1350" dirty="0"/>
          </a:p>
        </p:txBody>
      </p:sp>
      <p:sp>
        <p:nvSpPr>
          <p:cNvPr id="9" name="Text 7"/>
          <p:cNvSpPr/>
          <p:nvPr/>
        </p:nvSpPr>
        <p:spPr>
          <a:xfrm>
            <a:off x="838505" y="3502152"/>
            <a:ext cx="3048000" cy="329184"/>
          </a:xfrm>
          <a:prstGeom prst="rect">
            <a:avLst/>
          </a:prstGeom>
          <a:noFill/>
          <a:ln/>
        </p:spPr>
        <p:txBody>
          <a:bodyPr wrap="none" lIns="0" tIns="0" rIns="0" bIns="0" rtlCol="0" anchor="ctr"/>
          <a:lstStyle/>
          <a:p>
            <a:pPr indent="0" marL="0">
              <a:buNone/>
            </a:pPr>
            <a:r>
              <a:rPr lang="en-US" sz="1800" b="1" dirty="0">
                <a:solidFill>
                  <a:srgbClr val="FAF9F5"/>
                </a:solidFill>
                <a:latin typeface="Noto Sans JP" pitchFamily="34" charset="0"/>
                <a:ea typeface="Noto Sans JP" pitchFamily="34" charset="-122"/>
                <a:cs typeface="Noto Sans JP" pitchFamily="34" charset="-120"/>
              </a:rPr>
              <a:t>Context cost</a:t>
            </a:r>
            <a:endParaRPr lang="en-US" sz="1800" dirty="0"/>
          </a:p>
        </p:txBody>
      </p:sp>
      <p:sp>
        <p:nvSpPr>
          <p:cNvPr id="10" name="Text 8"/>
          <p:cNvSpPr/>
          <p:nvPr/>
        </p:nvSpPr>
        <p:spPr>
          <a:xfrm>
            <a:off x="838505" y="3922776"/>
            <a:ext cx="3048000" cy="54864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入れると、AIが毎回読む量が</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どれだけ増えるかの見積もり。</a:t>
            </a:r>
            <a:endParaRPr lang="en-US" sz="1650" dirty="0"/>
          </a:p>
        </p:txBody>
      </p:sp>
      <p:sp>
        <p:nvSpPr>
          <p:cNvPr id="11" name="Text 9"/>
          <p:cNvSpPr/>
          <p:nvPr/>
        </p:nvSpPr>
        <p:spPr>
          <a:xfrm>
            <a:off x="4343705" y="2971800"/>
            <a:ext cx="3505200" cy="2057400"/>
          </a:xfrm>
          <a:prstGeom prst="roundRect">
            <a:avLst>
              <a:gd name="adj" fmla="val 4444"/>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2" name="Text 10"/>
          <p:cNvSpPr/>
          <p:nvPr/>
        </p:nvSpPr>
        <p:spPr>
          <a:xfrm>
            <a:off x="4572305" y="3172968"/>
            <a:ext cx="3048000" cy="256032"/>
          </a:xfrm>
          <a:prstGeom prst="rect">
            <a:avLst/>
          </a:prstGeom>
          <a:noFill/>
          <a:ln/>
        </p:spPr>
        <p:txBody>
          <a:bodyPr wrap="none" lIns="0" tIns="0" rIns="0" bIns="0" rtlCol="0" anchor="ctr"/>
          <a:lstStyle/>
          <a:p>
            <a:pPr indent="0" marL="0">
              <a:buNone/>
            </a:pPr>
            <a:r>
              <a:rPr lang="en-US" sz="1350" b="1" spc="200" kern="0" dirty="0">
                <a:solidFill>
                  <a:srgbClr val="6A9BCC"/>
                </a:solidFill>
                <a:latin typeface="Noto Sans JP" pitchFamily="34" charset="0"/>
                <a:ea typeface="Noto Sans JP" pitchFamily="34" charset="-122"/>
                <a:cs typeface="Noto Sans JP" pitchFamily="34" charset="-120"/>
              </a:rPr>
              <a:t>中身</a:t>
            </a:r>
            <a:endParaRPr lang="en-US" sz="1350" dirty="0"/>
          </a:p>
        </p:txBody>
      </p:sp>
      <p:sp>
        <p:nvSpPr>
          <p:cNvPr id="13" name="Text 11"/>
          <p:cNvSpPr/>
          <p:nvPr/>
        </p:nvSpPr>
        <p:spPr>
          <a:xfrm>
            <a:off x="4572305" y="3502152"/>
            <a:ext cx="3048000" cy="329184"/>
          </a:xfrm>
          <a:prstGeom prst="rect">
            <a:avLst/>
          </a:prstGeom>
          <a:noFill/>
          <a:ln/>
        </p:spPr>
        <p:txBody>
          <a:bodyPr wrap="none" lIns="0" tIns="0" rIns="0" bIns="0" rtlCol="0" anchor="ctr"/>
          <a:lstStyle/>
          <a:p>
            <a:pPr indent="0" marL="0">
              <a:buNone/>
            </a:pPr>
            <a:r>
              <a:rPr lang="en-US" sz="1800" b="1" dirty="0">
                <a:solidFill>
                  <a:srgbClr val="FAF9F5"/>
                </a:solidFill>
                <a:latin typeface="Noto Sans JP" pitchFamily="34" charset="0"/>
                <a:ea typeface="Noto Sans JP" pitchFamily="34" charset="-122"/>
                <a:cs typeface="Noto Sans JP" pitchFamily="34" charset="-120"/>
              </a:rPr>
              <a:t>何が増えるかの一覧</a:t>
            </a:r>
            <a:endParaRPr lang="en-US" sz="1800" dirty="0"/>
          </a:p>
        </p:txBody>
      </p:sp>
      <p:sp>
        <p:nvSpPr>
          <p:cNvPr id="14" name="Text 12"/>
          <p:cNvSpPr/>
          <p:nvPr/>
        </p:nvSpPr>
        <p:spPr>
          <a:xfrm>
            <a:off x="4572305" y="3922776"/>
            <a:ext cx="3048000" cy="54864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中を開けずに買わされる、</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ということが無い作り。</a:t>
            </a:r>
            <a:endParaRPr lang="en-US" sz="1650" dirty="0"/>
          </a:p>
        </p:txBody>
      </p:sp>
      <p:sp>
        <p:nvSpPr>
          <p:cNvPr id="15" name="Text 13"/>
          <p:cNvSpPr/>
          <p:nvPr/>
        </p:nvSpPr>
        <p:spPr>
          <a:xfrm>
            <a:off x="8077505" y="2971800"/>
            <a:ext cx="3505200" cy="2057400"/>
          </a:xfrm>
          <a:prstGeom prst="roundRect">
            <a:avLst>
              <a:gd name="adj" fmla="val 4444"/>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6" name="Text 14"/>
          <p:cNvSpPr/>
          <p:nvPr/>
        </p:nvSpPr>
        <p:spPr>
          <a:xfrm>
            <a:off x="8306105" y="3172968"/>
            <a:ext cx="3048000" cy="256032"/>
          </a:xfrm>
          <a:prstGeom prst="rect">
            <a:avLst/>
          </a:prstGeom>
          <a:noFill/>
          <a:ln/>
        </p:spPr>
        <p:txBody>
          <a:bodyPr wrap="none" lIns="0" tIns="0" rIns="0" bIns="0" rtlCol="0" anchor="ctr"/>
          <a:lstStyle/>
          <a:p>
            <a:pPr indent="0" marL="0">
              <a:buNone/>
            </a:pPr>
            <a:r>
              <a:rPr lang="en-US" sz="1350" b="1" spc="200" kern="0" dirty="0">
                <a:solidFill>
                  <a:srgbClr val="788C5D"/>
                </a:solidFill>
                <a:latin typeface="Noto Sans JP" pitchFamily="34" charset="0"/>
                <a:ea typeface="Noto Sans JP" pitchFamily="34" charset="-122"/>
                <a:cs typeface="Noto Sans JP" pitchFamily="34" charset="-120"/>
              </a:rPr>
              <a:t>今日使う</a:t>
            </a:r>
            <a:endParaRPr lang="en-US" sz="1350" dirty="0"/>
          </a:p>
        </p:txBody>
      </p:sp>
      <p:sp>
        <p:nvSpPr>
          <p:cNvPr id="17" name="Text 15"/>
          <p:cNvSpPr/>
          <p:nvPr/>
        </p:nvSpPr>
        <p:spPr>
          <a:xfrm>
            <a:off x="8306105" y="3502152"/>
            <a:ext cx="3048000" cy="329184"/>
          </a:xfrm>
          <a:prstGeom prst="rect">
            <a:avLst/>
          </a:prstGeom>
          <a:noFill/>
          <a:ln/>
        </p:spPr>
        <p:txBody>
          <a:bodyPr wrap="none" lIns="0" tIns="0" rIns="0" bIns="0" rtlCol="0" anchor="ctr"/>
          <a:lstStyle/>
          <a:p>
            <a:pPr indent="0" marL="0">
              <a:buNone/>
            </a:pPr>
            <a:r>
              <a:rPr lang="en-US" sz="1800" b="1" dirty="0">
                <a:solidFill>
                  <a:srgbClr val="FAF9F5"/>
                </a:solidFill>
                <a:latin typeface="Noto Sans JP" pitchFamily="34" charset="0"/>
                <a:ea typeface="Noto Sans JP" pitchFamily="34" charset="-122"/>
                <a:cs typeface="Noto Sans JP" pitchFamily="34" charset="-120"/>
              </a:rPr>
              <a:t>skill-creator</a:t>
            </a:r>
            <a:endParaRPr lang="en-US" sz="1800" dirty="0"/>
          </a:p>
        </p:txBody>
      </p:sp>
      <p:sp>
        <p:nvSpPr>
          <p:cNvPr id="18" name="Text 16"/>
          <p:cNvSpPr/>
          <p:nvPr/>
        </p:nvSpPr>
        <p:spPr>
          <a:xfrm>
            <a:off x="8306105" y="3922776"/>
            <a:ext cx="3048000" cy="54864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スキルを作るためのスキル。</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最後の作業で使います。</a:t>
            </a:r>
            <a:endParaRPr lang="en-US" sz="1650" dirty="0"/>
          </a:p>
        </p:txBody>
      </p:sp>
      <p:sp>
        <p:nvSpPr>
          <p:cNvPr id="19" name="Text 17"/>
          <p:cNvSpPr/>
          <p:nvPr/>
        </p:nvSpPr>
        <p:spPr>
          <a:xfrm>
            <a:off x="609905" y="5349240"/>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値札と更新日は、提供元が情報を出していないと空欄になります。壊れているわけではありません。</a:t>
            </a:r>
            <a:endParaRPr lang="en-US" sz="1350" dirty="0"/>
          </a:p>
        </p:txBody>
      </p:sp>
      <p:sp>
        <p:nvSpPr>
          <p:cNvPr id="20" name="Text 18"/>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11</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どこに入れるか</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案件の中だけか、いつでも使えるかを選ぶ</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65960"/>
            <a:ext cx="5372100" cy="2377440"/>
          </a:xfrm>
          <a:prstGeom prst="roundRect">
            <a:avLst>
              <a:gd name="adj" fmla="val 3846"/>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911657" y="2240280"/>
            <a:ext cx="4768596" cy="411480"/>
          </a:xfrm>
          <a:prstGeom prst="rect">
            <a:avLst/>
          </a:prstGeom>
          <a:noFill/>
          <a:ln/>
        </p:spPr>
        <p:txBody>
          <a:bodyPr wrap="none" lIns="0" tIns="0" rIns="0" bIns="0" rtlCol="0" anchor="ctr"/>
          <a:lstStyle/>
          <a:p>
            <a:pPr indent="0" marL="0">
              <a:buNone/>
            </a:pPr>
            <a:r>
              <a:rPr lang="en-US" sz="2250" b="1" dirty="0">
                <a:solidFill>
                  <a:srgbClr val="D97757"/>
                </a:solidFill>
                <a:latin typeface="Noto Sans JP" pitchFamily="34" charset="0"/>
                <a:ea typeface="Noto Sans JP" pitchFamily="34" charset="-122"/>
                <a:cs typeface="Noto Sans JP" pitchFamily="34" charset="-120"/>
              </a:rPr>
              <a:t>プロジェクトスキル</a:t>
            </a:r>
            <a:endParaRPr lang="en-US" sz="2250" dirty="0"/>
          </a:p>
        </p:txBody>
      </p:sp>
      <p:sp>
        <p:nvSpPr>
          <p:cNvPr id="7" name="Text 5"/>
          <p:cNvSpPr/>
          <p:nvPr/>
        </p:nvSpPr>
        <p:spPr>
          <a:xfrm>
            <a:off x="975665" y="2926080"/>
            <a:ext cx="73152" cy="73152"/>
          </a:xfrm>
          <a:prstGeom prst="ellipse">
            <a:avLst/>
          </a:prstGeom>
          <a:solidFill>
            <a:srgbClr val="FAF9F5"/>
          </a:solidFill>
          <a:ln>
            <a:solidFill>
              <a:srgbClr val="FAF9F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8" name="Text 6"/>
          <p:cNvSpPr/>
          <p:nvPr/>
        </p:nvSpPr>
        <p:spPr>
          <a:xfrm>
            <a:off x="1213409" y="2834640"/>
            <a:ext cx="4457700" cy="27432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案件のフォルダの .claude/skills/</a:t>
            </a:r>
            <a:endParaRPr lang="en-US" sz="1650" dirty="0"/>
          </a:p>
        </p:txBody>
      </p:sp>
      <p:sp>
        <p:nvSpPr>
          <p:cNvPr id="9" name="Text 7"/>
          <p:cNvSpPr/>
          <p:nvPr/>
        </p:nvSpPr>
        <p:spPr>
          <a:xfrm>
            <a:off x="975665" y="3328416"/>
            <a:ext cx="73152" cy="73152"/>
          </a:xfrm>
          <a:prstGeom prst="ellipse">
            <a:avLst/>
          </a:prstGeom>
          <a:solidFill>
            <a:srgbClr val="FAF9F5"/>
          </a:solidFill>
          <a:ln>
            <a:solidFill>
              <a:srgbClr val="FAF9F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0" name="Text 8"/>
          <p:cNvSpPr/>
          <p:nvPr/>
        </p:nvSpPr>
        <p:spPr>
          <a:xfrm>
            <a:off x="1213409" y="3236976"/>
            <a:ext cx="4457700" cy="27432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開いている案件のときだけ使える</a:t>
            </a:r>
            <a:endParaRPr lang="en-US" sz="1650" dirty="0"/>
          </a:p>
        </p:txBody>
      </p:sp>
      <p:sp>
        <p:nvSpPr>
          <p:cNvPr id="11" name="Text 9"/>
          <p:cNvSpPr/>
          <p:nvPr/>
        </p:nvSpPr>
        <p:spPr>
          <a:xfrm>
            <a:off x="975665" y="3730752"/>
            <a:ext cx="73152" cy="73152"/>
          </a:xfrm>
          <a:prstGeom prst="ellipse">
            <a:avLst/>
          </a:prstGeom>
          <a:solidFill>
            <a:srgbClr val="FAF9F5"/>
          </a:solidFill>
          <a:ln>
            <a:solidFill>
              <a:srgbClr val="FAF9F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2" name="Text 10"/>
          <p:cNvSpPr/>
          <p:nvPr/>
        </p:nvSpPr>
        <p:spPr>
          <a:xfrm>
            <a:off x="1213409" y="3639312"/>
            <a:ext cx="4457700" cy="27432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工程のラインに置く専用治具</a:t>
            </a:r>
            <a:endParaRPr lang="en-US" sz="1650" dirty="0"/>
          </a:p>
        </p:txBody>
      </p:sp>
      <p:sp>
        <p:nvSpPr>
          <p:cNvPr id="13" name="Text 11"/>
          <p:cNvSpPr/>
          <p:nvPr/>
        </p:nvSpPr>
        <p:spPr>
          <a:xfrm>
            <a:off x="6210605" y="1965960"/>
            <a:ext cx="5372100" cy="2377440"/>
          </a:xfrm>
          <a:prstGeom prst="roundRect">
            <a:avLst>
              <a:gd name="adj" fmla="val 3846"/>
            </a:avLst>
          </a:prstGeom>
          <a:solidFill>
            <a:srgbClr val="1D1D1B"/>
          </a:solidFill>
          <a:ln w="19050">
            <a:solidFill>
              <a:srgbClr val="1D1D1B"/>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4" name="Text 12"/>
          <p:cNvSpPr/>
          <p:nvPr/>
        </p:nvSpPr>
        <p:spPr>
          <a:xfrm>
            <a:off x="6512357" y="2240280"/>
            <a:ext cx="4768596" cy="411480"/>
          </a:xfrm>
          <a:prstGeom prst="rect">
            <a:avLst/>
          </a:prstGeom>
          <a:noFill/>
          <a:ln/>
        </p:spPr>
        <p:txBody>
          <a:bodyPr wrap="none" lIns="0" tIns="0" rIns="0" bIns="0" rtlCol="0" anchor="ctr"/>
          <a:lstStyle/>
          <a:p>
            <a:pPr indent="0" marL="0">
              <a:buNone/>
            </a:pPr>
            <a:r>
              <a:rPr lang="en-US" sz="2250" b="1" dirty="0">
                <a:solidFill>
                  <a:srgbClr val="B0AEA5"/>
                </a:solidFill>
                <a:latin typeface="Noto Sans JP" pitchFamily="34" charset="0"/>
                <a:ea typeface="Noto Sans JP" pitchFamily="34" charset="-122"/>
                <a:cs typeface="Noto Sans JP" pitchFamily="34" charset="-120"/>
              </a:rPr>
              <a:t>パーソナルスキル</a:t>
            </a:r>
            <a:endParaRPr lang="en-US" sz="2250" dirty="0"/>
          </a:p>
        </p:txBody>
      </p:sp>
      <p:sp>
        <p:nvSpPr>
          <p:cNvPr id="15" name="Text 13"/>
          <p:cNvSpPr/>
          <p:nvPr/>
        </p:nvSpPr>
        <p:spPr>
          <a:xfrm>
            <a:off x="6576365" y="2926080"/>
            <a:ext cx="73152" cy="73152"/>
          </a:xfrm>
          <a:prstGeom prst="ellipse">
            <a:avLst/>
          </a:prstGeom>
          <a:solidFill>
            <a:srgbClr val="FAF9F5"/>
          </a:solidFill>
          <a:ln>
            <a:solidFill>
              <a:srgbClr val="FAF9F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6" name="Text 14"/>
          <p:cNvSpPr/>
          <p:nvPr/>
        </p:nvSpPr>
        <p:spPr>
          <a:xfrm>
            <a:off x="6814109" y="2834640"/>
            <a:ext cx="4457700" cy="27432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自分の設定側の ~/.claude/skills/</a:t>
            </a:r>
            <a:endParaRPr lang="en-US" sz="1650" dirty="0"/>
          </a:p>
        </p:txBody>
      </p:sp>
      <p:sp>
        <p:nvSpPr>
          <p:cNvPr id="17" name="Text 15"/>
          <p:cNvSpPr/>
          <p:nvPr/>
        </p:nvSpPr>
        <p:spPr>
          <a:xfrm>
            <a:off x="6576365" y="3328416"/>
            <a:ext cx="73152" cy="73152"/>
          </a:xfrm>
          <a:prstGeom prst="ellipse">
            <a:avLst/>
          </a:prstGeom>
          <a:solidFill>
            <a:srgbClr val="FAF9F5"/>
          </a:solidFill>
          <a:ln>
            <a:solidFill>
              <a:srgbClr val="FAF9F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8" name="Text 16"/>
          <p:cNvSpPr/>
          <p:nvPr/>
        </p:nvSpPr>
        <p:spPr>
          <a:xfrm>
            <a:off x="6814109" y="3236976"/>
            <a:ext cx="4457700" cy="27432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どの案件を開いても使える</a:t>
            </a:r>
            <a:endParaRPr lang="en-US" sz="1650" dirty="0"/>
          </a:p>
        </p:txBody>
      </p:sp>
      <p:sp>
        <p:nvSpPr>
          <p:cNvPr id="19" name="Text 17"/>
          <p:cNvSpPr/>
          <p:nvPr/>
        </p:nvSpPr>
        <p:spPr>
          <a:xfrm>
            <a:off x="6576365" y="3730752"/>
            <a:ext cx="73152" cy="73152"/>
          </a:xfrm>
          <a:prstGeom prst="ellipse">
            <a:avLst/>
          </a:prstGeom>
          <a:solidFill>
            <a:srgbClr val="FAF9F5"/>
          </a:solidFill>
          <a:ln>
            <a:solidFill>
              <a:srgbClr val="FAF9F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0" name="Text 18"/>
          <p:cNvSpPr/>
          <p:nvPr/>
        </p:nvSpPr>
        <p:spPr>
          <a:xfrm>
            <a:off x="6814109" y="3639312"/>
            <a:ext cx="4457700" cy="27432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持ち歩く自分の工具箱</a:t>
            </a:r>
            <a:endParaRPr lang="en-US" sz="1650" dirty="0"/>
          </a:p>
        </p:txBody>
      </p:sp>
      <p:sp>
        <p:nvSpPr>
          <p:cNvPr id="21" name="Text 19"/>
          <p:cNvSpPr/>
          <p:nvPr/>
        </p:nvSpPr>
        <p:spPr>
          <a:xfrm>
            <a:off x="609905" y="4617720"/>
            <a:ext cx="10972800" cy="777240"/>
          </a:xfrm>
          <a:prstGeom prst="roundRect">
            <a:avLst>
              <a:gd name="adj" fmla="val 11765"/>
            </a:avLst>
          </a:prstGeom>
          <a:solidFill>
            <a:srgbClr val="232321"/>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2" name="Text 20"/>
          <p:cNvSpPr/>
          <p:nvPr/>
        </p:nvSpPr>
        <p:spPr>
          <a:xfrm>
            <a:off x="609905" y="4617720"/>
            <a:ext cx="10972800" cy="77724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今日は User scope（自分だけで使う）を選んでください</a:t>
            </a:r>
            <a:endParaRPr lang="en-US" sz="2250" dirty="0"/>
          </a:p>
        </p:txBody>
      </p:sp>
      <p:sp>
        <p:nvSpPr>
          <p:cNvPr id="23" name="Text 21"/>
          <p:cNvSpPr/>
          <p:nvPr/>
        </p:nvSpPr>
        <p:spPr>
          <a:xfrm>
            <a:off x="609905" y="5669280"/>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置き場は見張られていて即反映されます。ただし置き場自体を今日はじめて作った場合だけ再起動が要ります。</a:t>
            </a:r>
            <a:endParaRPr lang="en-US" sz="1350" dirty="0"/>
          </a:p>
        </p:txBody>
      </p:sp>
      <p:sp>
        <p:nvSpPr>
          <p:cNvPr id="24" name="Text 22"/>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12</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説明文だけでは、合うか分からない</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合うかどうかは、入れて動かすと分かる</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65960"/>
            <a:ext cx="10972800" cy="822960"/>
          </a:xfrm>
          <a:prstGeom prst="roundRect">
            <a:avLst>
              <a:gd name="adj" fmla="val 11111"/>
            </a:avLst>
          </a:prstGeom>
          <a:solidFill>
            <a:srgbClr val="232321"/>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609905" y="1965960"/>
            <a:ext cx="10972800" cy="82296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どんなものかは、使ってみないと分からない</a:t>
            </a:r>
            <a:endParaRPr lang="en-US" sz="2250" dirty="0"/>
          </a:p>
        </p:txBody>
      </p:sp>
      <p:sp>
        <p:nvSpPr>
          <p:cNvPr id="7" name="Text 5"/>
          <p:cNvSpPr/>
          <p:nvPr/>
        </p:nvSpPr>
        <p:spPr>
          <a:xfrm>
            <a:off x="609905" y="3063240"/>
            <a:ext cx="10972800" cy="2240280"/>
          </a:xfrm>
          <a:prstGeom prst="roundRect">
            <a:avLst>
              <a:gd name="adj" fmla="val 4082"/>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8" name="Text 6"/>
          <p:cNvSpPr/>
          <p:nvPr/>
        </p:nvSpPr>
        <p:spPr>
          <a:xfrm>
            <a:off x="911657" y="3337560"/>
            <a:ext cx="10369296" cy="411480"/>
          </a:xfrm>
          <a:prstGeom prst="rect">
            <a:avLst/>
          </a:prstGeom>
          <a:noFill/>
          <a:ln/>
        </p:spPr>
        <p:txBody>
          <a:bodyPr wrap="none" lIns="0" tIns="0" rIns="0" bIns="0" rtlCol="0" anchor="ctr"/>
          <a:lstStyle/>
          <a:p>
            <a:pPr indent="0" marL="0">
              <a:buNone/>
            </a:pPr>
            <a:r>
              <a:rPr lang="en-US" sz="2250" b="1" dirty="0">
                <a:solidFill>
                  <a:srgbClr val="D97757"/>
                </a:solidFill>
                <a:latin typeface="Noto Sans JP" pitchFamily="34" charset="0"/>
                <a:ea typeface="Noto Sans JP" pitchFamily="34" charset="-122"/>
                <a:cs typeface="Noto Sans JP" pitchFamily="34" charset="-120"/>
              </a:rPr>
              <a:t>開発元が示す確かめ方</a:t>
            </a:r>
            <a:endParaRPr lang="en-US" sz="2250" dirty="0"/>
          </a:p>
        </p:txBody>
      </p:sp>
      <p:sp>
        <p:nvSpPr>
          <p:cNvPr id="9" name="Text 7"/>
          <p:cNvSpPr/>
          <p:nvPr/>
        </p:nvSpPr>
        <p:spPr>
          <a:xfrm>
            <a:off x="975665" y="4023360"/>
            <a:ext cx="73152" cy="73152"/>
          </a:xfrm>
          <a:prstGeom prst="ellipse">
            <a:avLst/>
          </a:prstGeom>
          <a:solidFill>
            <a:srgbClr val="FAF9F5"/>
          </a:solidFill>
          <a:ln>
            <a:solidFill>
              <a:srgbClr val="FAF9F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0" name="Text 8"/>
          <p:cNvSpPr/>
          <p:nvPr/>
        </p:nvSpPr>
        <p:spPr>
          <a:xfrm>
            <a:off x="1213409" y="3931920"/>
            <a:ext cx="10058400" cy="27432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同じ頼みごとを用意する</a:t>
            </a:r>
            <a:endParaRPr lang="en-US" sz="1650" dirty="0"/>
          </a:p>
        </p:txBody>
      </p:sp>
      <p:sp>
        <p:nvSpPr>
          <p:cNvPr id="11" name="Text 9"/>
          <p:cNvSpPr/>
          <p:nvPr/>
        </p:nvSpPr>
        <p:spPr>
          <a:xfrm>
            <a:off x="975665" y="4425696"/>
            <a:ext cx="73152" cy="73152"/>
          </a:xfrm>
          <a:prstGeom prst="ellipse">
            <a:avLst/>
          </a:prstGeom>
          <a:solidFill>
            <a:srgbClr val="FAF9F5"/>
          </a:solidFill>
          <a:ln>
            <a:solidFill>
              <a:srgbClr val="FAF9F5"/>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2" name="Text 10"/>
          <p:cNvSpPr/>
          <p:nvPr/>
        </p:nvSpPr>
        <p:spPr>
          <a:xfrm>
            <a:off x="1213409" y="4334256"/>
            <a:ext cx="10058400" cy="54864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有効にした状態と、切った状態を、</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別々の新しい画面で試して比べる</a:t>
            </a:r>
            <a:endParaRPr lang="en-US" sz="1650" dirty="0"/>
          </a:p>
        </p:txBody>
      </p:sp>
      <p:sp>
        <p:nvSpPr>
          <p:cNvPr id="13" name="Text 11"/>
          <p:cNvSpPr/>
          <p:nvPr/>
        </p:nvSpPr>
        <p:spPr>
          <a:xfrm>
            <a:off x="609905" y="5532120"/>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カタログの数値だけで治具は選びません。何個か流して、寸法が出るかを見ます。</a:t>
            </a:r>
            <a:endParaRPr lang="en-US" sz="1350" dirty="0"/>
          </a:p>
        </p:txBody>
      </p:sp>
      <p:sp>
        <p:nvSpPr>
          <p:cNvPr id="14" name="Text 12"/>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13</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2148840"/>
            <a:ext cx="10972800" cy="1005840"/>
          </a:xfrm>
          <a:prstGeom prst="rect">
            <a:avLst/>
          </a:prstGeom>
          <a:noFill/>
          <a:ln/>
        </p:spPr>
        <p:txBody>
          <a:bodyPr wrap="none" lIns="0" tIns="0" rIns="0" bIns="0" rtlCol="0" anchor="ctr"/>
          <a:lstStyle/>
          <a:p>
            <a:pPr indent="0" marL="0">
              <a:buNone/>
            </a:pPr>
            <a:r>
              <a:rPr lang="en-US" sz="7800" b="1" dirty="0">
                <a:solidFill>
                  <a:srgbClr val="D97757"/>
                </a:solidFill>
                <a:latin typeface="Noto Sans JP" pitchFamily="34" charset="0"/>
                <a:ea typeface="Noto Sans JP" pitchFamily="34" charset="-122"/>
                <a:cs typeface="Noto Sans JP" pitchFamily="34" charset="-120"/>
              </a:rPr>
              <a:t>03</a:t>
            </a:r>
            <a:endParaRPr lang="en-US" sz="7800" dirty="0"/>
          </a:p>
        </p:txBody>
      </p:sp>
      <p:sp>
        <p:nvSpPr>
          <p:cNvPr id="3" name="Text 1"/>
          <p:cNvSpPr/>
          <p:nvPr/>
        </p:nvSpPr>
        <p:spPr>
          <a:xfrm>
            <a:off x="609905" y="3337560"/>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ワークA</a:t>
            </a:r>
            <a:endParaRPr lang="en-US" sz="3600" dirty="0"/>
          </a:p>
        </p:txBody>
      </p:sp>
      <p:sp>
        <p:nvSpPr>
          <p:cNvPr id="4" name="Text 2"/>
          <p:cNvSpPr/>
          <p:nvPr/>
        </p:nvSpPr>
        <p:spPr>
          <a:xfrm>
            <a:off x="609905" y="4114800"/>
            <a:ext cx="10972800" cy="384048"/>
          </a:xfrm>
          <a:prstGeom prst="rect">
            <a:avLst/>
          </a:prstGeom>
          <a:noFill/>
          <a:ln/>
        </p:spPr>
        <p:txBody>
          <a:bodyPr wrap="none" lIns="0" tIns="0" rIns="0" bIns="0" rtlCol="0" anchor="ctr"/>
          <a:lstStyle/>
          <a:p>
            <a:pPr indent="0" marL="0">
              <a:buNone/>
            </a:pPr>
            <a:r>
              <a:rPr lang="en-US" sz="1800" dirty="0">
                <a:solidFill>
                  <a:srgbClr val="B0AEA5"/>
                </a:solidFill>
                <a:latin typeface="Noto Sans JP" pitchFamily="34" charset="0"/>
                <a:ea typeface="Noto Sans JP" pitchFamily="34" charset="-122"/>
                <a:cs typeface="Noto Sans JP" pitchFamily="34" charset="-120"/>
              </a:rPr>
              <a:t>一つ入れて、動かす（21分）</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ワークAの進め方</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一つ選び、入れて、必ず一回動かす</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810512"/>
            <a:ext cx="10972800" cy="274320"/>
          </a:xfrm>
          <a:prstGeom prst="rect">
            <a:avLst/>
          </a:prstGeom>
          <a:noFill/>
          <a:ln/>
        </p:spPr>
        <p:txBody>
          <a:bodyPr wrap="none" lIns="0" tIns="0" rIns="0" bIns="0" rtlCol="0" anchor="ctr"/>
          <a:lstStyle/>
          <a:p>
            <a:pPr indent="0" marL="0">
              <a:buNone/>
            </a:pPr>
            <a:r>
              <a:rPr lang="en-US" sz="1350" b="1" dirty="0">
                <a:solidFill>
                  <a:srgbClr val="B0AEA5"/>
                </a:solidFill>
                <a:latin typeface="Noto Sans JP" pitchFamily="34" charset="0"/>
                <a:ea typeface="Noto Sans JP" pitchFamily="34" charset="-122"/>
                <a:cs typeface="Noto Sans JP" pitchFamily="34" charset="-120"/>
              </a:rPr>
              <a:t>お題に迷ったら、次の四つから選んでください</a:t>
            </a:r>
            <a:endParaRPr lang="en-US" sz="1350" dirty="0"/>
          </a:p>
        </p:txBody>
      </p:sp>
      <p:sp>
        <p:nvSpPr>
          <p:cNvPr id="6" name="Text 4"/>
          <p:cNvSpPr/>
          <p:nvPr/>
        </p:nvSpPr>
        <p:spPr>
          <a:xfrm>
            <a:off x="609905" y="2212848"/>
            <a:ext cx="10972800" cy="530352"/>
          </a:xfrm>
          <a:prstGeom prst="rect">
            <a:avLst/>
          </a:prstGeom>
          <a:solidFill>
            <a:srgbClr val="232321"/>
          </a:solidFill>
          <a:ln>
            <a:solidFill>
              <a:srgbClr val="141413"/>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7" name="Text 5"/>
          <p:cNvSpPr/>
          <p:nvPr/>
        </p:nvSpPr>
        <p:spPr>
          <a:xfrm>
            <a:off x="838505" y="2212848"/>
            <a:ext cx="4590288" cy="530352"/>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やらせたいこと</a:t>
            </a:r>
            <a:endParaRPr lang="en-US" sz="1650" dirty="0"/>
          </a:p>
        </p:txBody>
      </p:sp>
      <p:sp>
        <p:nvSpPr>
          <p:cNvPr id="8" name="Text 6"/>
          <p:cNvSpPr/>
          <p:nvPr/>
        </p:nvSpPr>
        <p:spPr>
          <a:xfrm>
            <a:off x="5794553" y="2212848"/>
            <a:ext cx="5650992" cy="530352"/>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そのまま打ってみる言葉</a:t>
            </a:r>
            <a:endParaRPr lang="en-US" sz="1650" dirty="0"/>
          </a:p>
        </p:txBody>
      </p:sp>
      <p:sp>
        <p:nvSpPr>
          <p:cNvPr id="9" name="Text 7"/>
          <p:cNvSpPr/>
          <p:nvPr/>
        </p:nvSpPr>
        <p:spPr>
          <a:xfrm>
            <a:off x="609905" y="2743200"/>
            <a:ext cx="10972800" cy="0"/>
          </a:xfrm>
          <a:prstGeom prst="line">
            <a:avLst/>
          </a:prstGeom>
          <a:noFill/>
          <a:ln w="25400">
            <a:solidFill>
              <a:srgbClr val="FAF9F5"/>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0" name="Text 8"/>
          <p:cNvSpPr/>
          <p:nvPr/>
        </p:nvSpPr>
        <p:spPr>
          <a:xfrm>
            <a:off x="838505" y="2743200"/>
            <a:ext cx="4590288" cy="576072"/>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会議のメモを、決定事項と宿題に分ける</a:t>
            </a:r>
            <a:endParaRPr lang="en-US" sz="1650" dirty="0"/>
          </a:p>
        </p:txBody>
      </p:sp>
      <p:sp>
        <p:nvSpPr>
          <p:cNvPr id="11" name="Text 9"/>
          <p:cNvSpPr/>
          <p:nvPr/>
        </p:nvSpPr>
        <p:spPr>
          <a:xfrm>
            <a:off x="5794553" y="2743200"/>
            <a:ext cx="5650992" cy="576072"/>
          </a:xfrm>
          <a:prstGeom prst="rect">
            <a:avLst/>
          </a:prstGeom>
          <a:noFill/>
          <a:ln/>
        </p:spPr>
        <p:txBody>
          <a:bodyPr wrap="none" lIns="0" tIns="0" rIns="0" bIns="0" rtlCol="0" anchor="ctr"/>
          <a:lstStyle/>
          <a:p>
            <a:pPr indent="0" marL="0">
              <a:lnSpc>
                <a:spcPct val="140000"/>
              </a:lnSpc>
              <a:buNone/>
            </a:pPr>
            <a:r>
              <a:rPr lang="en-US" sz="1650" b="1" dirty="0">
                <a:solidFill>
                  <a:srgbClr val="FAF9F5"/>
                </a:solidFill>
                <a:latin typeface="Noto Sans JP" pitchFamily="34" charset="0"/>
                <a:ea typeface="Noto Sans JP" pitchFamily="34" charset="-122"/>
                <a:cs typeface="Noto Sans JP" pitchFamily="34" charset="-120"/>
              </a:rPr>
              <a:t>/find-skills 議事録をまとめたい</a:t>
            </a:r>
            <a:endParaRPr lang="en-US" sz="1650" dirty="0"/>
          </a:p>
        </p:txBody>
      </p:sp>
      <p:sp>
        <p:nvSpPr>
          <p:cNvPr id="12" name="Text 10"/>
          <p:cNvSpPr/>
          <p:nvPr/>
        </p:nvSpPr>
        <p:spPr>
          <a:xfrm>
            <a:off x="609905" y="3319272"/>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3" name="Text 11"/>
          <p:cNvSpPr/>
          <p:nvPr/>
        </p:nvSpPr>
        <p:spPr>
          <a:xfrm>
            <a:off x="838505" y="3319272"/>
            <a:ext cx="4590288" cy="576072"/>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長い記録や報告から、要点だけ拾う</a:t>
            </a:r>
            <a:endParaRPr lang="en-US" sz="1650" dirty="0"/>
          </a:p>
        </p:txBody>
      </p:sp>
      <p:sp>
        <p:nvSpPr>
          <p:cNvPr id="14" name="Text 12"/>
          <p:cNvSpPr/>
          <p:nvPr/>
        </p:nvSpPr>
        <p:spPr>
          <a:xfrm>
            <a:off x="5794553" y="3319272"/>
            <a:ext cx="5650992" cy="576072"/>
          </a:xfrm>
          <a:prstGeom prst="rect">
            <a:avLst/>
          </a:prstGeom>
          <a:noFill/>
          <a:ln/>
        </p:spPr>
        <p:txBody>
          <a:bodyPr wrap="none" lIns="0" tIns="0" rIns="0" bIns="0" rtlCol="0" anchor="ctr"/>
          <a:lstStyle/>
          <a:p>
            <a:pPr indent="0" marL="0">
              <a:lnSpc>
                <a:spcPct val="140000"/>
              </a:lnSpc>
              <a:buNone/>
            </a:pPr>
            <a:r>
              <a:rPr lang="en-US" sz="1650" b="1" dirty="0">
                <a:solidFill>
                  <a:srgbClr val="FAF9F5"/>
                </a:solidFill>
                <a:latin typeface="Noto Sans JP" pitchFamily="34" charset="0"/>
                <a:ea typeface="Noto Sans JP" pitchFamily="34" charset="-122"/>
                <a:cs typeface="Noto Sans JP" pitchFamily="34" charset="-120"/>
              </a:rPr>
              <a:t>/find-skills 長い文章を要約したい</a:t>
            </a:r>
            <a:endParaRPr lang="en-US" sz="1650" dirty="0"/>
          </a:p>
        </p:txBody>
      </p:sp>
      <p:sp>
        <p:nvSpPr>
          <p:cNvPr id="15" name="Text 13"/>
          <p:cNvSpPr/>
          <p:nvPr/>
        </p:nvSpPr>
        <p:spPr>
          <a:xfrm>
            <a:off x="609905" y="3895344"/>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6" name="Text 14"/>
          <p:cNvSpPr/>
          <p:nvPr/>
        </p:nvSpPr>
        <p:spPr>
          <a:xfrm>
            <a:off x="838505" y="3895344"/>
            <a:ext cx="4590288" cy="576072"/>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文章の言い回しや誤りを整える</a:t>
            </a:r>
            <a:endParaRPr lang="en-US" sz="1650" dirty="0"/>
          </a:p>
        </p:txBody>
      </p:sp>
      <p:sp>
        <p:nvSpPr>
          <p:cNvPr id="17" name="Text 15"/>
          <p:cNvSpPr/>
          <p:nvPr/>
        </p:nvSpPr>
        <p:spPr>
          <a:xfrm>
            <a:off x="5794553" y="3895344"/>
            <a:ext cx="5650992" cy="576072"/>
          </a:xfrm>
          <a:prstGeom prst="rect">
            <a:avLst/>
          </a:prstGeom>
          <a:noFill/>
          <a:ln/>
        </p:spPr>
        <p:txBody>
          <a:bodyPr wrap="none" lIns="0" tIns="0" rIns="0" bIns="0" rtlCol="0" anchor="ctr"/>
          <a:lstStyle/>
          <a:p>
            <a:pPr indent="0" marL="0">
              <a:lnSpc>
                <a:spcPct val="140000"/>
              </a:lnSpc>
              <a:buNone/>
            </a:pPr>
            <a:r>
              <a:rPr lang="en-US" sz="1650" b="1" dirty="0">
                <a:solidFill>
                  <a:srgbClr val="FAF9F5"/>
                </a:solidFill>
                <a:latin typeface="Noto Sans JP" pitchFamily="34" charset="0"/>
                <a:ea typeface="Noto Sans JP" pitchFamily="34" charset="-122"/>
                <a:cs typeface="Noto Sans JP" pitchFamily="34" charset="-120"/>
              </a:rPr>
              <a:t>/find-skills 日本語の文章を校正したい</a:t>
            </a:r>
            <a:endParaRPr lang="en-US" sz="1650" dirty="0"/>
          </a:p>
        </p:txBody>
      </p:sp>
      <p:sp>
        <p:nvSpPr>
          <p:cNvPr id="18" name="Text 16"/>
          <p:cNvSpPr/>
          <p:nvPr/>
        </p:nvSpPr>
        <p:spPr>
          <a:xfrm>
            <a:off x="609905" y="4471416"/>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9" name="Text 17"/>
          <p:cNvSpPr/>
          <p:nvPr/>
        </p:nvSpPr>
        <p:spPr>
          <a:xfrm>
            <a:off x="838505" y="4471416"/>
            <a:ext cx="4590288" cy="576072"/>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表やデータを決まった形に整理する</a:t>
            </a:r>
            <a:endParaRPr lang="en-US" sz="1650" dirty="0"/>
          </a:p>
        </p:txBody>
      </p:sp>
      <p:sp>
        <p:nvSpPr>
          <p:cNvPr id="20" name="Text 18"/>
          <p:cNvSpPr/>
          <p:nvPr/>
        </p:nvSpPr>
        <p:spPr>
          <a:xfrm>
            <a:off x="5794553" y="4471416"/>
            <a:ext cx="5650992" cy="576072"/>
          </a:xfrm>
          <a:prstGeom prst="rect">
            <a:avLst/>
          </a:prstGeom>
          <a:noFill/>
          <a:ln/>
        </p:spPr>
        <p:txBody>
          <a:bodyPr wrap="none" lIns="0" tIns="0" rIns="0" bIns="0" rtlCol="0" anchor="ctr"/>
          <a:lstStyle/>
          <a:p>
            <a:pPr indent="0" marL="0">
              <a:lnSpc>
                <a:spcPct val="140000"/>
              </a:lnSpc>
              <a:buNone/>
            </a:pPr>
            <a:r>
              <a:rPr lang="en-US" sz="1650" b="1" dirty="0">
                <a:solidFill>
                  <a:srgbClr val="FAF9F5"/>
                </a:solidFill>
                <a:latin typeface="Noto Sans JP" pitchFamily="34" charset="0"/>
                <a:ea typeface="Noto Sans JP" pitchFamily="34" charset="-122"/>
                <a:cs typeface="Noto Sans JP" pitchFamily="34" charset="-120"/>
              </a:rPr>
              <a:t>/find-skills 表のデータを整理したい</a:t>
            </a:r>
            <a:endParaRPr lang="en-US" sz="1650" dirty="0"/>
          </a:p>
        </p:txBody>
      </p:sp>
      <p:sp>
        <p:nvSpPr>
          <p:cNvPr id="21" name="Text 19"/>
          <p:cNvSpPr/>
          <p:nvPr/>
        </p:nvSpPr>
        <p:spPr>
          <a:xfrm>
            <a:off x="609905" y="504748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2" name="Text 20"/>
          <p:cNvSpPr/>
          <p:nvPr/>
        </p:nvSpPr>
        <p:spPr>
          <a:xfrm>
            <a:off x="609905" y="5212080"/>
            <a:ext cx="10972800" cy="603504"/>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置き場所は「案件の中で、自分だけ」。純正の一覧から入れたら /reload-plugins を打ちます。</a:t>
            </a:r>
            <a:endParaRPr lang="en-US" sz="1350" dirty="0"/>
          </a:p>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入れて満足せず、必ず一回やらせてみてください。目安は 探す4分・入れる3分・動かす8分。</a:t>
            </a:r>
            <a:endParaRPr lang="en-US" sz="1350" dirty="0"/>
          </a:p>
        </p:txBody>
      </p:sp>
      <p:sp>
        <p:nvSpPr>
          <p:cNvPr id="23" name="Text 21"/>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14</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ワークAの振り返り</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選んだ理由と、動かした感触を共有する</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65960"/>
            <a:ext cx="3553968" cy="868680"/>
          </a:xfrm>
          <a:prstGeom prst="roundRect">
            <a:avLst>
              <a:gd name="adj" fmla="val 10526"/>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838505" y="2112264"/>
            <a:ext cx="3096768" cy="219456"/>
          </a:xfrm>
          <a:prstGeom prst="rect">
            <a:avLst/>
          </a:prstGeom>
          <a:noFill/>
          <a:ln/>
        </p:spPr>
        <p:txBody>
          <a:bodyPr wrap="none" lIns="0" tIns="0" rIns="0" bIns="0" rtlCol="0" anchor="ctr"/>
          <a:lstStyle/>
          <a:p>
            <a:pPr indent="0" marL="0">
              <a:buNone/>
            </a:pPr>
            <a:r>
              <a:rPr lang="en-US" sz="1050" b="1" spc="100" kern="0" dirty="0">
                <a:solidFill>
                  <a:srgbClr val="D97757"/>
                </a:solidFill>
                <a:latin typeface="Noto Sans JP" pitchFamily="34" charset="0"/>
                <a:ea typeface="Noto Sans JP" pitchFamily="34" charset="-122"/>
                <a:cs typeface="Noto Sans JP" pitchFamily="34" charset="-120"/>
              </a:rPr>
              <a:t>01</a:t>
            </a:r>
            <a:endParaRPr lang="en-US" sz="1050" dirty="0"/>
          </a:p>
        </p:txBody>
      </p:sp>
      <p:sp>
        <p:nvSpPr>
          <p:cNvPr id="7" name="Text 5"/>
          <p:cNvSpPr/>
          <p:nvPr/>
        </p:nvSpPr>
        <p:spPr>
          <a:xfrm>
            <a:off x="838505" y="2377440"/>
            <a:ext cx="3096768" cy="274320"/>
          </a:xfrm>
          <a:prstGeom prst="rect">
            <a:avLst/>
          </a:prstGeom>
          <a:noFill/>
          <a:ln/>
        </p:spPr>
        <p:txBody>
          <a:bodyPr wrap="none" lIns="0" tIns="0" rIns="0" bIns="0" rtlCol="0" anchor="t"/>
          <a:lstStyle/>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何を選んだか</a:t>
            </a:r>
            <a:endParaRPr lang="en-US" sz="1350" dirty="0"/>
          </a:p>
        </p:txBody>
      </p:sp>
      <p:sp>
        <p:nvSpPr>
          <p:cNvPr id="8" name="Text 6"/>
          <p:cNvSpPr/>
          <p:nvPr/>
        </p:nvSpPr>
        <p:spPr>
          <a:xfrm>
            <a:off x="4319321" y="1965960"/>
            <a:ext cx="3553968" cy="868680"/>
          </a:xfrm>
          <a:prstGeom prst="roundRect">
            <a:avLst>
              <a:gd name="adj" fmla="val 10526"/>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9" name="Text 7"/>
          <p:cNvSpPr/>
          <p:nvPr/>
        </p:nvSpPr>
        <p:spPr>
          <a:xfrm>
            <a:off x="4547921" y="2112264"/>
            <a:ext cx="3096768" cy="219456"/>
          </a:xfrm>
          <a:prstGeom prst="rect">
            <a:avLst/>
          </a:prstGeom>
          <a:noFill/>
          <a:ln/>
        </p:spPr>
        <p:txBody>
          <a:bodyPr wrap="none" lIns="0" tIns="0" rIns="0" bIns="0" rtlCol="0" anchor="ctr"/>
          <a:lstStyle/>
          <a:p>
            <a:pPr indent="0" marL="0">
              <a:buNone/>
            </a:pPr>
            <a:r>
              <a:rPr lang="en-US" sz="1050" b="1" spc="100" kern="0" dirty="0">
                <a:solidFill>
                  <a:srgbClr val="6A9BCC"/>
                </a:solidFill>
                <a:latin typeface="Noto Sans JP" pitchFamily="34" charset="0"/>
                <a:ea typeface="Noto Sans JP" pitchFamily="34" charset="-122"/>
                <a:cs typeface="Noto Sans JP" pitchFamily="34" charset="-120"/>
              </a:rPr>
              <a:t>02</a:t>
            </a:r>
            <a:endParaRPr lang="en-US" sz="1050" dirty="0"/>
          </a:p>
        </p:txBody>
      </p:sp>
      <p:sp>
        <p:nvSpPr>
          <p:cNvPr id="10" name="Text 8"/>
          <p:cNvSpPr/>
          <p:nvPr/>
        </p:nvSpPr>
        <p:spPr>
          <a:xfrm>
            <a:off x="4547921" y="2377440"/>
            <a:ext cx="3096768" cy="274320"/>
          </a:xfrm>
          <a:prstGeom prst="rect">
            <a:avLst/>
          </a:prstGeom>
          <a:noFill/>
          <a:ln/>
        </p:spPr>
        <p:txBody>
          <a:bodyPr wrap="none" lIns="0" tIns="0" rIns="0" bIns="0" rtlCol="0" anchor="t"/>
          <a:lstStyle/>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なぜ選んだか</a:t>
            </a:r>
            <a:endParaRPr lang="en-US" sz="1350" dirty="0"/>
          </a:p>
        </p:txBody>
      </p:sp>
      <p:sp>
        <p:nvSpPr>
          <p:cNvPr id="11" name="Text 9"/>
          <p:cNvSpPr/>
          <p:nvPr/>
        </p:nvSpPr>
        <p:spPr>
          <a:xfrm>
            <a:off x="8028737" y="1965960"/>
            <a:ext cx="3553968" cy="868680"/>
          </a:xfrm>
          <a:prstGeom prst="roundRect">
            <a:avLst>
              <a:gd name="adj" fmla="val 10526"/>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2" name="Text 10"/>
          <p:cNvSpPr/>
          <p:nvPr/>
        </p:nvSpPr>
        <p:spPr>
          <a:xfrm>
            <a:off x="8257337" y="2112264"/>
            <a:ext cx="3096768" cy="219456"/>
          </a:xfrm>
          <a:prstGeom prst="rect">
            <a:avLst/>
          </a:prstGeom>
          <a:noFill/>
          <a:ln/>
        </p:spPr>
        <p:txBody>
          <a:bodyPr wrap="none" lIns="0" tIns="0" rIns="0" bIns="0" rtlCol="0" anchor="ctr"/>
          <a:lstStyle/>
          <a:p>
            <a:pPr indent="0" marL="0">
              <a:buNone/>
            </a:pPr>
            <a:r>
              <a:rPr lang="en-US" sz="1050" b="1" spc="100" kern="0" dirty="0">
                <a:solidFill>
                  <a:srgbClr val="788C5D"/>
                </a:solidFill>
                <a:latin typeface="Noto Sans JP" pitchFamily="34" charset="0"/>
                <a:ea typeface="Noto Sans JP" pitchFamily="34" charset="-122"/>
                <a:cs typeface="Noto Sans JP" pitchFamily="34" charset="-120"/>
              </a:rPr>
              <a:t>03</a:t>
            </a:r>
            <a:endParaRPr lang="en-US" sz="1050" dirty="0"/>
          </a:p>
        </p:txBody>
      </p:sp>
      <p:sp>
        <p:nvSpPr>
          <p:cNvPr id="13" name="Text 11"/>
          <p:cNvSpPr/>
          <p:nvPr/>
        </p:nvSpPr>
        <p:spPr>
          <a:xfrm>
            <a:off x="8257337" y="2377440"/>
            <a:ext cx="3096768" cy="274320"/>
          </a:xfrm>
          <a:prstGeom prst="rect">
            <a:avLst/>
          </a:prstGeom>
          <a:noFill/>
          <a:ln/>
        </p:spPr>
        <p:txBody>
          <a:bodyPr wrap="none" lIns="0" tIns="0" rIns="0" bIns="0" rtlCol="0" anchor="t"/>
          <a:lstStyle/>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動かしてどうだったか</a:t>
            </a:r>
            <a:endParaRPr lang="en-US" sz="1350" dirty="0"/>
          </a:p>
        </p:txBody>
      </p:sp>
      <p:sp>
        <p:nvSpPr>
          <p:cNvPr id="14" name="Text 12"/>
          <p:cNvSpPr/>
          <p:nvPr/>
        </p:nvSpPr>
        <p:spPr>
          <a:xfrm>
            <a:off x="609905" y="3108960"/>
            <a:ext cx="10972800" cy="822960"/>
          </a:xfrm>
          <a:prstGeom prst="roundRect">
            <a:avLst>
              <a:gd name="adj" fmla="val 11111"/>
            </a:avLst>
          </a:prstGeom>
          <a:solidFill>
            <a:srgbClr val="232321"/>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5" name="Text 13"/>
          <p:cNvSpPr/>
          <p:nvPr/>
        </p:nvSpPr>
        <p:spPr>
          <a:xfrm>
            <a:off x="609905" y="3108960"/>
            <a:ext cx="10972800" cy="82296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うまく動かなかった話の方が、今日は価値があります</a:t>
            </a:r>
            <a:endParaRPr lang="en-US" sz="2250" dirty="0"/>
          </a:p>
        </p:txBody>
      </p:sp>
      <p:sp>
        <p:nvSpPr>
          <p:cNvPr id="16" name="Text 14"/>
          <p:cNvSpPr/>
          <p:nvPr/>
        </p:nvSpPr>
        <p:spPr>
          <a:xfrm>
            <a:off x="609905" y="4206240"/>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合わなかった理由を言葉にできると、次に選ぶときの基準になります。お一人三十秒ずつでどうぞ。</a:t>
            </a:r>
            <a:endParaRPr lang="en-US" sz="1350" dirty="0"/>
          </a:p>
        </p:txBody>
      </p:sp>
      <p:sp>
        <p:nvSpPr>
          <p:cNvPr id="17" name="Text 15"/>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15</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2148840"/>
            <a:ext cx="10972800" cy="1005840"/>
          </a:xfrm>
          <a:prstGeom prst="rect">
            <a:avLst/>
          </a:prstGeom>
          <a:noFill/>
          <a:ln/>
        </p:spPr>
        <p:txBody>
          <a:bodyPr wrap="none" lIns="0" tIns="0" rIns="0" bIns="0" rtlCol="0" anchor="ctr"/>
          <a:lstStyle/>
          <a:p>
            <a:pPr indent="0" marL="0">
              <a:buNone/>
            </a:pPr>
            <a:r>
              <a:rPr lang="en-US" sz="7800" b="1" dirty="0">
                <a:solidFill>
                  <a:srgbClr val="D97757"/>
                </a:solidFill>
                <a:latin typeface="Noto Sans JP" pitchFamily="34" charset="0"/>
                <a:ea typeface="Noto Sans JP" pitchFamily="34" charset="-122"/>
                <a:cs typeface="Noto Sans JP" pitchFamily="34" charset="-120"/>
              </a:rPr>
              <a:t>04</a:t>
            </a:r>
            <a:endParaRPr lang="en-US" sz="7800" dirty="0"/>
          </a:p>
        </p:txBody>
      </p:sp>
      <p:sp>
        <p:nvSpPr>
          <p:cNvPr id="3" name="Text 1"/>
          <p:cNvSpPr/>
          <p:nvPr/>
        </p:nvSpPr>
        <p:spPr>
          <a:xfrm>
            <a:off x="609905" y="3337560"/>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選ぶ</a:t>
            </a:r>
            <a:endParaRPr lang="en-US" sz="3600" dirty="0"/>
          </a:p>
        </p:txBody>
      </p:sp>
      <p:sp>
        <p:nvSpPr>
          <p:cNvPr id="4" name="Text 2"/>
          <p:cNvSpPr/>
          <p:nvPr/>
        </p:nvSpPr>
        <p:spPr>
          <a:xfrm>
            <a:off x="609905" y="4114800"/>
            <a:ext cx="10972800" cy="384048"/>
          </a:xfrm>
          <a:prstGeom prst="rect">
            <a:avLst/>
          </a:prstGeom>
          <a:noFill/>
          <a:ln/>
        </p:spPr>
        <p:txBody>
          <a:bodyPr wrap="none" lIns="0" tIns="0" rIns="0" bIns="0" rtlCol="0" anchor="ctr"/>
          <a:lstStyle/>
          <a:p>
            <a:pPr indent="0" marL="0">
              <a:buNone/>
            </a:pPr>
            <a:r>
              <a:rPr lang="en-US" sz="1800" dirty="0">
                <a:solidFill>
                  <a:srgbClr val="B0AEA5"/>
                </a:solidFill>
                <a:latin typeface="Noto Sans JP" pitchFamily="34" charset="0"/>
                <a:ea typeface="Noto Sans JP" pitchFamily="34" charset="-122"/>
                <a:cs typeface="Noto Sans JP" pitchFamily="34" charset="-120"/>
              </a:rPr>
              <a:t>重さと、入れない判断</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全部入れれば強くなるのか</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説明文は、毎回ずっとAIに読まれ続ける</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20240"/>
            <a:ext cx="10972800" cy="384048"/>
          </a:xfrm>
          <a:prstGeom prst="rect">
            <a:avLst/>
          </a:prstGeom>
          <a:noFill/>
          <a:ln/>
        </p:spPr>
        <p:txBody>
          <a:bodyPr wrap="none" lIns="0" tIns="0" rIns="0" bIns="0" rtlCol="0" anchor="ctr"/>
          <a:lstStyle/>
          <a:p>
            <a:pPr indent="0" marL="0">
              <a:buNone/>
            </a:pPr>
            <a:r>
              <a:rPr lang="en-US" sz="1800" dirty="0">
                <a:solidFill>
                  <a:srgbClr val="FAF9F5"/>
                </a:solidFill>
                <a:latin typeface="Noto Sans JP" pitchFamily="34" charset="0"/>
                <a:ea typeface="Noto Sans JP" pitchFamily="34" charset="-122"/>
                <a:cs typeface="Noto Sans JP" pitchFamily="34" charset="-120"/>
              </a:rPr>
              <a:t>十個入れれば十個分が積み上がり、コンテキストウィンドウの余裕が減ります。</a:t>
            </a:r>
            <a:endParaRPr lang="en-US" sz="1800" dirty="0"/>
          </a:p>
        </p:txBody>
      </p:sp>
      <p:sp>
        <p:nvSpPr>
          <p:cNvPr id="6" name="Text 4"/>
          <p:cNvSpPr/>
          <p:nvPr/>
        </p:nvSpPr>
        <p:spPr>
          <a:xfrm>
            <a:off x="609905" y="2514600"/>
            <a:ext cx="3505200" cy="2103120"/>
          </a:xfrm>
          <a:prstGeom prst="roundRect">
            <a:avLst>
              <a:gd name="adj" fmla="val 4348"/>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7" name="Text 5"/>
          <p:cNvSpPr/>
          <p:nvPr/>
        </p:nvSpPr>
        <p:spPr>
          <a:xfrm>
            <a:off x="838505" y="2715768"/>
            <a:ext cx="3048000" cy="256032"/>
          </a:xfrm>
          <a:prstGeom prst="rect">
            <a:avLst/>
          </a:prstGeom>
          <a:noFill/>
          <a:ln/>
        </p:spPr>
        <p:txBody>
          <a:bodyPr wrap="none" lIns="0" tIns="0" rIns="0" bIns="0" rtlCol="0" anchor="ctr"/>
          <a:lstStyle/>
          <a:p>
            <a:pPr indent="0" marL="0">
              <a:buNone/>
            </a:pPr>
            <a:r>
              <a:rPr lang="en-US" sz="1350" b="1" spc="200" kern="0" dirty="0">
                <a:solidFill>
                  <a:srgbClr val="D97757"/>
                </a:solidFill>
                <a:latin typeface="Noto Sans JP" pitchFamily="34" charset="0"/>
                <a:ea typeface="Noto Sans JP" pitchFamily="34" charset="-122"/>
                <a:cs typeface="Noto Sans JP" pitchFamily="34" charset="-120"/>
              </a:rPr>
              <a:t>根拠 01</a:t>
            </a:r>
            <a:endParaRPr lang="en-US" sz="1350" dirty="0"/>
          </a:p>
        </p:txBody>
      </p:sp>
      <p:sp>
        <p:nvSpPr>
          <p:cNvPr id="8" name="Text 6"/>
          <p:cNvSpPr/>
          <p:nvPr/>
        </p:nvSpPr>
        <p:spPr>
          <a:xfrm>
            <a:off x="838505" y="3044952"/>
            <a:ext cx="3048000" cy="329184"/>
          </a:xfrm>
          <a:prstGeom prst="rect">
            <a:avLst/>
          </a:prstGeom>
          <a:noFill/>
          <a:ln/>
        </p:spPr>
        <p:txBody>
          <a:bodyPr wrap="none" lIns="0" tIns="0" rIns="0" bIns="0" rtlCol="0" anchor="ctr"/>
          <a:lstStyle/>
          <a:p>
            <a:pPr indent="0" marL="0">
              <a:buNone/>
            </a:pPr>
            <a:r>
              <a:rPr lang="en-US" sz="1800" b="1" dirty="0">
                <a:solidFill>
                  <a:srgbClr val="FAF9F5"/>
                </a:solidFill>
                <a:latin typeface="Noto Sans JP" pitchFamily="34" charset="0"/>
                <a:ea typeface="Noto Sans JP" pitchFamily="34" charset="-122"/>
                <a:cs typeface="Noto Sans JP" pitchFamily="34" charset="-120"/>
              </a:rPr>
              <a:t>八割以上を削除した</a:t>
            </a:r>
            <a:endParaRPr lang="en-US" sz="1800" dirty="0"/>
          </a:p>
        </p:txBody>
      </p:sp>
      <p:sp>
        <p:nvSpPr>
          <p:cNvPr id="9" name="Text 7"/>
          <p:cNvSpPr/>
          <p:nvPr/>
        </p:nvSpPr>
        <p:spPr>
          <a:xfrm>
            <a:off x="838505" y="3465576"/>
            <a:ext cx="3048000" cy="54864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組み込みの指示文を削っても、</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計測できる性能低下は無し。</a:t>
            </a:r>
            <a:endParaRPr lang="en-US" sz="1650" dirty="0"/>
          </a:p>
        </p:txBody>
      </p:sp>
      <p:sp>
        <p:nvSpPr>
          <p:cNvPr id="10" name="Text 8"/>
          <p:cNvSpPr/>
          <p:nvPr/>
        </p:nvSpPr>
        <p:spPr>
          <a:xfrm>
            <a:off x="4343705" y="2514600"/>
            <a:ext cx="3505200" cy="2103120"/>
          </a:xfrm>
          <a:prstGeom prst="roundRect">
            <a:avLst>
              <a:gd name="adj" fmla="val 4348"/>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1" name="Text 9"/>
          <p:cNvSpPr/>
          <p:nvPr/>
        </p:nvSpPr>
        <p:spPr>
          <a:xfrm>
            <a:off x="4572305" y="2715768"/>
            <a:ext cx="3048000" cy="256032"/>
          </a:xfrm>
          <a:prstGeom prst="rect">
            <a:avLst/>
          </a:prstGeom>
          <a:noFill/>
          <a:ln/>
        </p:spPr>
        <p:txBody>
          <a:bodyPr wrap="none" lIns="0" tIns="0" rIns="0" bIns="0" rtlCol="0" anchor="ctr"/>
          <a:lstStyle/>
          <a:p>
            <a:pPr indent="0" marL="0">
              <a:buNone/>
            </a:pPr>
            <a:r>
              <a:rPr lang="en-US" sz="1350" b="1" spc="200" kern="0" dirty="0">
                <a:solidFill>
                  <a:srgbClr val="6A9BCC"/>
                </a:solidFill>
                <a:latin typeface="Noto Sans JP" pitchFamily="34" charset="0"/>
                <a:ea typeface="Noto Sans JP" pitchFamily="34" charset="-122"/>
                <a:cs typeface="Noto Sans JP" pitchFamily="34" charset="-120"/>
              </a:rPr>
              <a:t>根拠 02</a:t>
            </a:r>
            <a:endParaRPr lang="en-US" sz="1350" dirty="0"/>
          </a:p>
        </p:txBody>
      </p:sp>
      <p:sp>
        <p:nvSpPr>
          <p:cNvPr id="12" name="Text 10"/>
          <p:cNvSpPr/>
          <p:nvPr/>
        </p:nvSpPr>
        <p:spPr>
          <a:xfrm>
            <a:off x="4572305" y="3044952"/>
            <a:ext cx="3048000" cy="329184"/>
          </a:xfrm>
          <a:prstGeom prst="rect">
            <a:avLst/>
          </a:prstGeom>
          <a:noFill/>
          <a:ln/>
        </p:spPr>
        <p:txBody>
          <a:bodyPr wrap="none" lIns="0" tIns="0" rIns="0" bIns="0" rtlCol="0" anchor="ctr"/>
          <a:lstStyle/>
          <a:p>
            <a:pPr indent="0" marL="0">
              <a:buNone/>
            </a:pPr>
            <a:r>
              <a:rPr lang="en-US" sz="1800" b="1" dirty="0">
                <a:solidFill>
                  <a:srgbClr val="FAF9F5"/>
                </a:solidFill>
                <a:latin typeface="Noto Sans JP" pitchFamily="34" charset="0"/>
                <a:ea typeface="Noto Sans JP" pitchFamily="34" charset="-122"/>
                <a:cs typeface="Noto Sans JP" pitchFamily="34" charset="-120"/>
              </a:rPr>
              <a:t>軽いガイドと考えよ</a:t>
            </a:r>
            <a:endParaRPr lang="en-US" sz="1800" dirty="0"/>
          </a:p>
        </p:txBody>
      </p:sp>
      <p:sp>
        <p:nvSpPr>
          <p:cNvPr id="13" name="Text 11"/>
          <p:cNvSpPr/>
          <p:nvPr/>
        </p:nvSpPr>
        <p:spPr>
          <a:xfrm>
            <a:off x="4572305" y="3465576"/>
            <a:ext cx="3048000" cy="54864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細かく制約を掛けすぎるな。</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SKILL.md は500行未満に。</a:t>
            </a:r>
            <a:endParaRPr lang="en-US" sz="1650" dirty="0"/>
          </a:p>
        </p:txBody>
      </p:sp>
      <p:sp>
        <p:nvSpPr>
          <p:cNvPr id="14" name="Text 12"/>
          <p:cNvSpPr/>
          <p:nvPr/>
        </p:nvSpPr>
        <p:spPr>
          <a:xfrm>
            <a:off x="8077505" y="2514600"/>
            <a:ext cx="3505200" cy="2103120"/>
          </a:xfrm>
          <a:prstGeom prst="roundRect">
            <a:avLst>
              <a:gd name="adj" fmla="val 4348"/>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5" name="Text 13"/>
          <p:cNvSpPr/>
          <p:nvPr/>
        </p:nvSpPr>
        <p:spPr>
          <a:xfrm>
            <a:off x="8306105" y="2715768"/>
            <a:ext cx="3048000" cy="256032"/>
          </a:xfrm>
          <a:prstGeom prst="rect">
            <a:avLst/>
          </a:prstGeom>
          <a:noFill/>
          <a:ln/>
        </p:spPr>
        <p:txBody>
          <a:bodyPr wrap="none" lIns="0" tIns="0" rIns="0" bIns="0" rtlCol="0" anchor="ctr"/>
          <a:lstStyle/>
          <a:p>
            <a:pPr indent="0" marL="0">
              <a:buNone/>
            </a:pPr>
            <a:r>
              <a:rPr lang="en-US" sz="1350" b="1" spc="200" kern="0" dirty="0">
                <a:solidFill>
                  <a:srgbClr val="788C5D"/>
                </a:solidFill>
                <a:latin typeface="Noto Sans JP" pitchFamily="34" charset="0"/>
                <a:ea typeface="Noto Sans JP" pitchFamily="34" charset="-122"/>
                <a:cs typeface="Noto Sans JP" pitchFamily="34" charset="-120"/>
              </a:rPr>
              <a:t>根拠 03</a:t>
            </a:r>
            <a:endParaRPr lang="en-US" sz="1350" dirty="0"/>
          </a:p>
        </p:txBody>
      </p:sp>
      <p:sp>
        <p:nvSpPr>
          <p:cNvPr id="16" name="Text 14"/>
          <p:cNvSpPr/>
          <p:nvPr/>
        </p:nvSpPr>
        <p:spPr>
          <a:xfrm>
            <a:off x="8306105" y="3044952"/>
            <a:ext cx="3048000" cy="329184"/>
          </a:xfrm>
          <a:prstGeom prst="rect">
            <a:avLst/>
          </a:prstGeom>
          <a:noFill/>
          <a:ln/>
        </p:spPr>
        <p:txBody>
          <a:bodyPr wrap="none" lIns="0" tIns="0" rIns="0" bIns="0" rtlCol="0" anchor="ctr"/>
          <a:lstStyle/>
          <a:p>
            <a:pPr indent="0" marL="0">
              <a:buNone/>
            </a:pPr>
            <a:r>
              <a:rPr lang="en-US" sz="1800" b="1" dirty="0">
                <a:solidFill>
                  <a:srgbClr val="FAF9F5"/>
                </a:solidFill>
                <a:latin typeface="Noto Sans JP" pitchFamily="34" charset="0"/>
                <a:ea typeface="Noto Sans JP" pitchFamily="34" charset="-122"/>
                <a:cs typeface="Noto Sans JP" pitchFamily="34" charset="-120"/>
              </a:rPr>
              <a:t>Not used recently</a:t>
            </a:r>
            <a:endParaRPr lang="en-US" sz="1800" dirty="0"/>
          </a:p>
        </p:txBody>
      </p:sp>
      <p:sp>
        <p:nvSpPr>
          <p:cNvPr id="17" name="Text 15"/>
          <p:cNvSpPr/>
          <p:nvPr/>
        </p:nvSpPr>
        <p:spPr>
          <a:xfrm>
            <a:off x="8306105" y="3465576"/>
            <a:ext cx="3048000" cy="54864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二週間・十回の作業を超えて</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使わないものを一覧に集める。</a:t>
            </a:r>
            <a:endParaRPr lang="en-US" sz="1650" dirty="0"/>
          </a:p>
        </p:txBody>
      </p:sp>
      <p:sp>
        <p:nvSpPr>
          <p:cNvPr id="18" name="Text 16"/>
          <p:cNvSpPr/>
          <p:nvPr/>
        </p:nvSpPr>
        <p:spPr>
          <a:xfrm>
            <a:off x="609905" y="4892040"/>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使っていないスキルは、目に見えない待機電力を払い続けている状態です。入れたことすら忘れます。</a:t>
            </a:r>
            <a:endParaRPr lang="en-US" sz="1350" dirty="0"/>
          </a:p>
        </p:txBody>
      </p:sp>
      <p:sp>
        <p:nvSpPr>
          <p:cNvPr id="19" name="Text 17"/>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16</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量ではなく、中身が自分に合うか</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軽い方が合わず、重い方が合った</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65960"/>
            <a:ext cx="10972800" cy="530352"/>
          </a:xfrm>
          <a:prstGeom prst="rect">
            <a:avLst/>
          </a:prstGeom>
          <a:solidFill>
            <a:srgbClr val="232321"/>
          </a:solidFill>
          <a:ln>
            <a:solidFill>
              <a:srgbClr val="141413"/>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838505" y="1965960"/>
            <a:ext cx="2112264" cy="530352"/>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実際に使ったもの</a:t>
            </a:r>
            <a:endParaRPr lang="en-US" sz="1650" dirty="0"/>
          </a:p>
        </p:txBody>
      </p:sp>
      <p:sp>
        <p:nvSpPr>
          <p:cNvPr id="7" name="Text 5"/>
          <p:cNvSpPr/>
          <p:nvPr/>
        </p:nvSpPr>
        <p:spPr>
          <a:xfrm>
            <a:off x="3316529" y="1965960"/>
            <a:ext cx="2491740" cy="530352"/>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常駐する説明文</a:t>
            </a:r>
            <a:endParaRPr lang="en-US" sz="1650" dirty="0"/>
          </a:p>
        </p:txBody>
      </p:sp>
      <p:sp>
        <p:nvSpPr>
          <p:cNvPr id="8" name="Text 6"/>
          <p:cNvSpPr/>
          <p:nvPr/>
        </p:nvSpPr>
        <p:spPr>
          <a:xfrm>
            <a:off x="6174029" y="1965960"/>
            <a:ext cx="5271516" cy="530352"/>
          </a:xfrm>
          <a:prstGeom prst="rect">
            <a:avLst/>
          </a:prstGeom>
          <a:noFill/>
          <a:ln/>
        </p:spPr>
        <p:txBody>
          <a:bodyPr wrap="none" lIns="0" tIns="0" rIns="0" bIns="0" rtlCol="0" anchor="ctr"/>
          <a:lstStyle/>
          <a:p>
            <a:pPr indent="0" marL="0">
              <a:buNone/>
            </a:pPr>
            <a:r>
              <a:rPr lang="en-US" sz="1650" b="1" dirty="0">
                <a:solidFill>
                  <a:srgbClr val="FAF9F5"/>
                </a:solidFill>
                <a:latin typeface="Noto Sans JP" pitchFamily="34" charset="0"/>
                <a:ea typeface="Noto Sans JP" pitchFamily="34" charset="-122"/>
                <a:cs typeface="Noto Sans JP" pitchFamily="34" charset="-120"/>
              </a:rPr>
              <a:t>使ってみた結果</a:t>
            </a:r>
            <a:endParaRPr lang="en-US" sz="1650" dirty="0"/>
          </a:p>
        </p:txBody>
      </p:sp>
      <p:sp>
        <p:nvSpPr>
          <p:cNvPr id="9" name="Text 7"/>
          <p:cNvSpPr/>
          <p:nvPr/>
        </p:nvSpPr>
        <p:spPr>
          <a:xfrm>
            <a:off x="609905" y="2496312"/>
            <a:ext cx="10972800" cy="0"/>
          </a:xfrm>
          <a:prstGeom prst="line">
            <a:avLst/>
          </a:prstGeom>
          <a:noFill/>
          <a:ln w="25400">
            <a:solidFill>
              <a:srgbClr val="FAF9F5"/>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0" name="Text 8"/>
          <p:cNvSpPr/>
          <p:nvPr/>
        </p:nvSpPr>
        <p:spPr>
          <a:xfrm>
            <a:off x="838505" y="2496312"/>
            <a:ext cx="2112264" cy="868680"/>
          </a:xfrm>
          <a:prstGeom prst="rect">
            <a:avLst/>
          </a:prstGeom>
          <a:noFill/>
          <a:ln/>
        </p:spPr>
        <p:txBody>
          <a:bodyPr wrap="none" lIns="0" tIns="0" rIns="0" bIns="0" rtlCol="0" anchor="ctr"/>
          <a:lstStyle/>
          <a:p>
            <a:pPr indent="0" marL="0">
              <a:lnSpc>
                <a:spcPct val="140000"/>
              </a:lnSpc>
              <a:buNone/>
            </a:pPr>
            <a:r>
              <a:rPr lang="en-US" sz="1650" b="1" dirty="0">
                <a:solidFill>
                  <a:srgbClr val="FAF9F5"/>
                </a:solidFill>
                <a:latin typeface="Noto Sans JP" pitchFamily="34" charset="0"/>
                <a:ea typeface="Noto Sans JP" pitchFamily="34" charset="-122"/>
                <a:cs typeface="Noto Sans JP" pitchFamily="34" charset="-120"/>
              </a:rPr>
              <a:t>Superpowers</a:t>
            </a:r>
            <a:endParaRPr lang="en-US" sz="1650" dirty="0"/>
          </a:p>
        </p:txBody>
      </p:sp>
      <p:sp>
        <p:nvSpPr>
          <p:cNvPr id="11" name="Text 9"/>
          <p:cNvSpPr/>
          <p:nvPr/>
        </p:nvSpPr>
        <p:spPr>
          <a:xfrm>
            <a:off x="3316529" y="2496312"/>
            <a:ext cx="2491740" cy="86868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約465トークン（軽い）</a:t>
            </a:r>
            <a:endParaRPr lang="en-US" sz="1650" dirty="0"/>
          </a:p>
        </p:txBody>
      </p:sp>
      <p:sp>
        <p:nvSpPr>
          <p:cNvPr id="12" name="Text 10"/>
          <p:cNvSpPr/>
          <p:nvPr/>
        </p:nvSpPr>
        <p:spPr>
          <a:xfrm>
            <a:off x="6174029" y="2496312"/>
            <a:ext cx="5271516" cy="86868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手順が細かすぎて回りくどい。</a:t>
            </a:r>
            <a:endParaRPr lang="en-US" sz="1650" dirty="0"/>
          </a:p>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今のモデルにはトゥーマッチ</a:t>
            </a:r>
            <a:endParaRPr lang="en-US" sz="1650" dirty="0"/>
          </a:p>
        </p:txBody>
      </p:sp>
      <p:sp>
        <p:nvSpPr>
          <p:cNvPr id="13" name="Text 11"/>
          <p:cNvSpPr/>
          <p:nvPr/>
        </p:nvSpPr>
        <p:spPr>
          <a:xfrm>
            <a:off x="609905" y="3364992"/>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4" name="Text 12"/>
          <p:cNvSpPr/>
          <p:nvPr/>
        </p:nvSpPr>
        <p:spPr>
          <a:xfrm>
            <a:off x="838505" y="3364992"/>
            <a:ext cx="2112264" cy="868680"/>
          </a:xfrm>
          <a:prstGeom prst="rect">
            <a:avLst/>
          </a:prstGeom>
          <a:noFill/>
          <a:ln/>
        </p:spPr>
        <p:txBody>
          <a:bodyPr wrap="none" lIns="0" tIns="0" rIns="0" bIns="0" rtlCol="0" anchor="ctr"/>
          <a:lstStyle/>
          <a:p>
            <a:pPr indent="0" marL="0">
              <a:lnSpc>
                <a:spcPct val="140000"/>
              </a:lnSpc>
              <a:buNone/>
            </a:pPr>
            <a:r>
              <a:rPr lang="en-US" sz="1650" b="1" dirty="0">
                <a:solidFill>
                  <a:srgbClr val="FAF9F5"/>
                </a:solidFill>
                <a:latin typeface="Noto Sans JP" pitchFamily="34" charset="0"/>
                <a:ea typeface="Noto Sans JP" pitchFamily="34" charset="-122"/>
                <a:cs typeface="Noto Sans JP" pitchFamily="34" charset="-120"/>
              </a:rPr>
              <a:t>mattpocock</a:t>
            </a:r>
            <a:endParaRPr lang="en-US" sz="1650" dirty="0"/>
          </a:p>
        </p:txBody>
      </p:sp>
      <p:sp>
        <p:nvSpPr>
          <p:cNvPr id="15" name="Text 13"/>
          <p:cNvSpPr/>
          <p:nvPr/>
        </p:nvSpPr>
        <p:spPr>
          <a:xfrm>
            <a:off x="3316529" y="3364992"/>
            <a:ext cx="2491740" cy="86868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約1,663トークン（重い）</a:t>
            </a:r>
            <a:endParaRPr lang="en-US" sz="1650" dirty="0"/>
          </a:p>
        </p:txBody>
      </p:sp>
      <p:sp>
        <p:nvSpPr>
          <p:cNvPr id="16" name="Text 14"/>
          <p:cNvSpPr/>
          <p:nvPr/>
        </p:nvSpPr>
        <p:spPr>
          <a:xfrm>
            <a:off x="6174029" y="3364992"/>
            <a:ext cx="5271516" cy="86868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量は三倍以上。しかし</a:t>
            </a:r>
            <a:endParaRPr lang="en-US" sz="1650" dirty="0"/>
          </a:p>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私に合う挙動を取ってくれた</a:t>
            </a:r>
            <a:endParaRPr lang="en-US" sz="1650" dirty="0"/>
          </a:p>
        </p:txBody>
      </p:sp>
      <p:sp>
        <p:nvSpPr>
          <p:cNvPr id="17" name="Text 15"/>
          <p:cNvSpPr/>
          <p:nvPr/>
        </p:nvSpPr>
        <p:spPr>
          <a:xfrm>
            <a:off x="609905" y="4233672"/>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8" name="Text 16"/>
          <p:cNvSpPr/>
          <p:nvPr/>
        </p:nvSpPr>
        <p:spPr>
          <a:xfrm>
            <a:off x="838505" y="4233672"/>
            <a:ext cx="2112264" cy="868680"/>
          </a:xfrm>
          <a:prstGeom prst="rect">
            <a:avLst/>
          </a:prstGeom>
          <a:noFill/>
          <a:ln/>
        </p:spPr>
        <p:txBody>
          <a:bodyPr wrap="none" lIns="0" tIns="0" rIns="0" bIns="0" rtlCol="0" anchor="ctr"/>
          <a:lstStyle/>
          <a:p>
            <a:pPr indent="0" marL="0">
              <a:lnSpc>
                <a:spcPct val="140000"/>
              </a:lnSpc>
              <a:buNone/>
            </a:pPr>
            <a:r>
              <a:rPr lang="en-US" sz="1650" b="1" dirty="0">
                <a:solidFill>
                  <a:srgbClr val="FAF9F5"/>
                </a:solidFill>
                <a:latin typeface="Noto Sans JP" pitchFamily="34" charset="0"/>
                <a:ea typeface="Noto Sans JP" pitchFamily="34" charset="-122"/>
                <a:cs typeface="Noto Sans JP" pitchFamily="34" charset="-120"/>
              </a:rPr>
              <a:t>自作のスキル群</a:t>
            </a:r>
            <a:endParaRPr lang="en-US" sz="1650" dirty="0"/>
          </a:p>
        </p:txBody>
      </p:sp>
      <p:sp>
        <p:nvSpPr>
          <p:cNvPr id="19" name="Text 17"/>
          <p:cNvSpPr/>
          <p:nvPr/>
        </p:nvSpPr>
        <p:spPr>
          <a:xfrm>
            <a:off x="3316529" y="4233672"/>
            <a:ext cx="2491740" cy="86868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69,100字 → 40,300字</a:t>
            </a:r>
            <a:endParaRPr lang="en-US" sz="1650" dirty="0"/>
          </a:p>
        </p:txBody>
      </p:sp>
      <p:sp>
        <p:nvSpPr>
          <p:cNvPr id="20" name="Text 18"/>
          <p:cNvSpPr/>
          <p:nvPr/>
        </p:nvSpPr>
        <p:spPr>
          <a:xfrm>
            <a:off x="6174029" y="4233672"/>
            <a:ext cx="5271516" cy="868680"/>
          </a:xfrm>
          <a:prstGeom prst="rect">
            <a:avLst/>
          </a:prstGeom>
          <a:noFill/>
          <a:ln/>
        </p:spPr>
        <p:txBody>
          <a:bodyPr wrap="none" lIns="0" tIns="0" rIns="0" bIns="0" rtlCol="0" anchor="ctr"/>
          <a:lstStyle/>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モデルが賢くなり、自作でも</a:t>
            </a:r>
            <a:endParaRPr lang="en-US" sz="1650" dirty="0"/>
          </a:p>
          <a:p>
            <a:pPr indent="0" marL="0">
              <a:lnSpc>
                <a:spcPct val="140000"/>
              </a:lnSpc>
              <a:buNone/>
            </a:pPr>
            <a:r>
              <a:rPr lang="en-US" sz="1650" dirty="0">
                <a:solidFill>
                  <a:srgbClr val="FAF9F5"/>
                </a:solidFill>
                <a:latin typeface="Noto Sans JP" pitchFamily="34" charset="0"/>
                <a:ea typeface="Noto Sans JP" pitchFamily="34" charset="-122"/>
                <a:cs typeface="Noto Sans JP" pitchFamily="34" charset="-120"/>
              </a:rPr>
              <a:t>合わなくなった。42%削って直した</a:t>
            </a:r>
            <a:endParaRPr lang="en-US" sz="1650" dirty="0"/>
          </a:p>
        </p:txBody>
      </p:sp>
      <p:sp>
        <p:nvSpPr>
          <p:cNvPr id="21" name="Text 19"/>
          <p:cNvSpPr/>
          <p:nvPr/>
        </p:nvSpPr>
        <p:spPr>
          <a:xfrm>
            <a:off x="609905" y="5102352"/>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2" name="Text 20"/>
          <p:cNvSpPr/>
          <p:nvPr/>
        </p:nvSpPr>
        <p:spPr>
          <a:xfrm>
            <a:off x="609905" y="5166360"/>
            <a:ext cx="10972800" cy="822960"/>
          </a:xfrm>
          <a:prstGeom prst="roundRect">
            <a:avLst>
              <a:gd name="adj" fmla="val 11111"/>
            </a:avLst>
          </a:prstGeom>
          <a:solidFill>
            <a:srgbClr val="232321"/>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3" name="Text 21"/>
          <p:cNvSpPr/>
          <p:nvPr/>
        </p:nvSpPr>
        <p:spPr>
          <a:xfrm>
            <a:off x="609905" y="5166360"/>
            <a:ext cx="10972800" cy="82296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「合う」はモデルが変わるたびに変わる。自作でも合わせ直す</a:t>
            </a:r>
            <a:endParaRPr lang="en-US" sz="2250" dirty="0"/>
          </a:p>
        </p:txBody>
      </p:sp>
      <p:sp>
        <p:nvSpPr>
          <p:cNvPr id="24" name="Text 22"/>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17</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探した結果は、四つに分かれる</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入れる・入れない・一部だけ・作る</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65960"/>
            <a:ext cx="2571750" cy="2331720"/>
          </a:xfrm>
          <a:prstGeom prst="roundRect">
            <a:avLst>
              <a:gd name="adj" fmla="val 3922"/>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838505" y="2167128"/>
            <a:ext cx="2114550" cy="256032"/>
          </a:xfrm>
          <a:prstGeom prst="rect">
            <a:avLst/>
          </a:prstGeom>
          <a:noFill/>
          <a:ln/>
        </p:spPr>
        <p:txBody>
          <a:bodyPr wrap="none" lIns="0" tIns="0" rIns="0" bIns="0" rtlCol="0" anchor="ctr"/>
          <a:lstStyle/>
          <a:p>
            <a:pPr indent="0" marL="0">
              <a:buNone/>
            </a:pPr>
            <a:r>
              <a:rPr lang="en-US" sz="1350" b="1" spc="200" kern="0" dirty="0">
                <a:solidFill>
                  <a:srgbClr val="D97757"/>
                </a:solidFill>
                <a:latin typeface="Noto Sans JP" pitchFamily="34" charset="0"/>
                <a:ea typeface="Noto Sans JP" pitchFamily="34" charset="-122"/>
                <a:cs typeface="Noto Sans JP" pitchFamily="34" charset="-120"/>
              </a:rPr>
              <a:t>01 入れる</a:t>
            </a:r>
            <a:endParaRPr lang="en-US" sz="1350" dirty="0"/>
          </a:p>
        </p:txBody>
      </p:sp>
      <p:sp>
        <p:nvSpPr>
          <p:cNvPr id="7" name="Text 5"/>
          <p:cNvSpPr/>
          <p:nvPr/>
        </p:nvSpPr>
        <p:spPr>
          <a:xfrm>
            <a:off x="838505" y="2496312"/>
            <a:ext cx="2114550" cy="109728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/grill-me</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計画を問い詰める。</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自作より優れていた</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ので乗り換えた。</a:t>
            </a:r>
            <a:endParaRPr lang="en-US" sz="1650" dirty="0"/>
          </a:p>
        </p:txBody>
      </p:sp>
      <p:sp>
        <p:nvSpPr>
          <p:cNvPr id="8" name="Text 6"/>
          <p:cNvSpPr/>
          <p:nvPr/>
        </p:nvSpPr>
        <p:spPr>
          <a:xfrm>
            <a:off x="3410255" y="1965960"/>
            <a:ext cx="2571750" cy="2331720"/>
          </a:xfrm>
          <a:prstGeom prst="roundRect">
            <a:avLst>
              <a:gd name="adj" fmla="val 3922"/>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9" name="Text 7"/>
          <p:cNvSpPr/>
          <p:nvPr/>
        </p:nvSpPr>
        <p:spPr>
          <a:xfrm>
            <a:off x="3638855" y="2167128"/>
            <a:ext cx="2114550" cy="256032"/>
          </a:xfrm>
          <a:prstGeom prst="rect">
            <a:avLst/>
          </a:prstGeom>
          <a:noFill/>
          <a:ln/>
        </p:spPr>
        <p:txBody>
          <a:bodyPr wrap="none" lIns="0" tIns="0" rIns="0" bIns="0" rtlCol="0" anchor="ctr"/>
          <a:lstStyle/>
          <a:p>
            <a:pPr indent="0" marL="0">
              <a:buNone/>
            </a:pPr>
            <a:r>
              <a:rPr lang="en-US" sz="1350" b="1" spc="200" kern="0" dirty="0">
                <a:solidFill>
                  <a:srgbClr val="6A9BCC"/>
                </a:solidFill>
                <a:latin typeface="Noto Sans JP" pitchFamily="34" charset="0"/>
                <a:ea typeface="Noto Sans JP" pitchFamily="34" charset="-122"/>
                <a:cs typeface="Noto Sans JP" pitchFamily="34" charset="-120"/>
              </a:rPr>
              <a:t>02 入れない</a:t>
            </a:r>
            <a:endParaRPr lang="en-US" sz="1350" dirty="0"/>
          </a:p>
        </p:txBody>
      </p:sp>
      <p:sp>
        <p:nvSpPr>
          <p:cNvPr id="10" name="Text 8"/>
          <p:cNvSpPr/>
          <p:nvPr/>
        </p:nvSpPr>
        <p:spPr>
          <a:xfrm>
            <a:off x="3638855" y="2496312"/>
            <a:ext cx="2114550" cy="109728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Superpowers</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いちばん有名。</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今のモデルには</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量が多すぎた。</a:t>
            </a:r>
            <a:endParaRPr lang="en-US" sz="1650" dirty="0"/>
          </a:p>
        </p:txBody>
      </p:sp>
      <p:sp>
        <p:nvSpPr>
          <p:cNvPr id="11" name="Text 9"/>
          <p:cNvSpPr/>
          <p:nvPr/>
        </p:nvSpPr>
        <p:spPr>
          <a:xfrm>
            <a:off x="6210605" y="1965960"/>
            <a:ext cx="2571750" cy="2331720"/>
          </a:xfrm>
          <a:prstGeom prst="roundRect">
            <a:avLst>
              <a:gd name="adj" fmla="val 3922"/>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2" name="Text 10"/>
          <p:cNvSpPr/>
          <p:nvPr/>
        </p:nvSpPr>
        <p:spPr>
          <a:xfrm>
            <a:off x="6439205" y="2167128"/>
            <a:ext cx="2114550" cy="256032"/>
          </a:xfrm>
          <a:prstGeom prst="rect">
            <a:avLst/>
          </a:prstGeom>
          <a:noFill/>
          <a:ln/>
        </p:spPr>
        <p:txBody>
          <a:bodyPr wrap="none" lIns="0" tIns="0" rIns="0" bIns="0" rtlCol="0" anchor="ctr"/>
          <a:lstStyle/>
          <a:p>
            <a:pPr indent="0" marL="0">
              <a:buNone/>
            </a:pPr>
            <a:r>
              <a:rPr lang="en-US" sz="1350" b="1" spc="200" kern="0" dirty="0">
                <a:solidFill>
                  <a:srgbClr val="788C5D"/>
                </a:solidFill>
                <a:latin typeface="Noto Sans JP" pitchFamily="34" charset="0"/>
                <a:ea typeface="Noto Sans JP" pitchFamily="34" charset="-122"/>
                <a:cs typeface="Noto Sans JP" pitchFamily="34" charset="-120"/>
              </a:rPr>
              <a:t>03 一部だけ</a:t>
            </a:r>
            <a:endParaRPr lang="en-US" sz="1350" dirty="0"/>
          </a:p>
        </p:txBody>
      </p:sp>
      <p:sp>
        <p:nvSpPr>
          <p:cNvPr id="13" name="Text 11"/>
          <p:cNvSpPr/>
          <p:nvPr/>
        </p:nvSpPr>
        <p:spPr>
          <a:xfrm>
            <a:off x="6439205" y="2496312"/>
            <a:ext cx="2114550" cy="109728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git-guardrails</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自作の関所と比べ、</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一点だけ足した。</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本体は入れない。</a:t>
            </a:r>
            <a:endParaRPr lang="en-US" sz="1650" dirty="0"/>
          </a:p>
        </p:txBody>
      </p:sp>
      <p:sp>
        <p:nvSpPr>
          <p:cNvPr id="14" name="Text 12"/>
          <p:cNvSpPr/>
          <p:nvPr/>
        </p:nvSpPr>
        <p:spPr>
          <a:xfrm>
            <a:off x="9010955" y="1965960"/>
            <a:ext cx="2571750" cy="2331720"/>
          </a:xfrm>
          <a:prstGeom prst="roundRect">
            <a:avLst>
              <a:gd name="adj" fmla="val 3922"/>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5" name="Text 13"/>
          <p:cNvSpPr/>
          <p:nvPr/>
        </p:nvSpPr>
        <p:spPr>
          <a:xfrm>
            <a:off x="9239555" y="2167128"/>
            <a:ext cx="2114550" cy="256032"/>
          </a:xfrm>
          <a:prstGeom prst="rect">
            <a:avLst/>
          </a:prstGeom>
          <a:noFill/>
          <a:ln/>
        </p:spPr>
        <p:txBody>
          <a:bodyPr wrap="none" lIns="0" tIns="0" rIns="0" bIns="0" rtlCol="0" anchor="ctr"/>
          <a:lstStyle/>
          <a:p>
            <a:pPr indent="0" marL="0">
              <a:buNone/>
            </a:pPr>
            <a:r>
              <a:rPr lang="en-US" sz="1350" b="1" spc="200" kern="0" dirty="0">
                <a:solidFill>
                  <a:srgbClr val="D97757"/>
                </a:solidFill>
                <a:latin typeface="Noto Sans JP" pitchFamily="34" charset="0"/>
                <a:ea typeface="Noto Sans JP" pitchFamily="34" charset="-122"/>
                <a:cs typeface="Noto Sans JP" pitchFamily="34" charset="-120"/>
              </a:rPr>
              <a:t>04 作る</a:t>
            </a:r>
            <a:endParaRPr lang="en-US" sz="1350" dirty="0"/>
          </a:p>
        </p:txBody>
      </p:sp>
      <p:sp>
        <p:nvSpPr>
          <p:cNvPr id="16" name="Text 14"/>
          <p:cNvSpPr/>
          <p:nvPr/>
        </p:nvSpPr>
        <p:spPr>
          <a:xfrm>
            <a:off x="9239555" y="2496312"/>
            <a:ext cx="2114550" cy="109728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探しても</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無いときは作る。</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次の二十分が</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四つ目にあたる。</a:t>
            </a:r>
            <a:endParaRPr lang="en-US" sz="1650" dirty="0"/>
          </a:p>
        </p:txBody>
      </p:sp>
      <p:sp>
        <p:nvSpPr>
          <p:cNvPr id="17" name="Text 15"/>
          <p:cNvSpPr/>
          <p:nvPr/>
        </p:nvSpPr>
        <p:spPr>
          <a:xfrm>
            <a:off x="609905" y="4617720"/>
            <a:ext cx="10972800" cy="603504"/>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四つとも、自分が既に持っているものと突き合わせて決めています。</a:t>
            </a:r>
            <a:endParaRPr lang="en-US" sz="1350" dirty="0"/>
          </a:p>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何も持っていない状態では、良し悪しは決まりません。まず何か一つ持ってください。</a:t>
            </a:r>
            <a:endParaRPr lang="en-US" sz="1350" dirty="0"/>
          </a:p>
        </p:txBody>
      </p:sp>
      <p:sp>
        <p:nvSpPr>
          <p:cNvPr id="18" name="Text 16"/>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18</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2148840"/>
            <a:ext cx="10972800" cy="1005840"/>
          </a:xfrm>
          <a:prstGeom prst="rect">
            <a:avLst/>
          </a:prstGeom>
          <a:noFill/>
          <a:ln/>
        </p:spPr>
        <p:txBody>
          <a:bodyPr wrap="none" lIns="0" tIns="0" rIns="0" bIns="0" rtlCol="0" anchor="ctr"/>
          <a:lstStyle/>
          <a:p>
            <a:pPr indent="0" marL="0">
              <a:buNone/>
            </a:pPr>
            <a:r>
              <a:rPr lang="en-US" sz="7800" b="1" dirty="0">
                <a:solidFill>
                  <a:srgbClr val="D97757"/>
                </a:solidFill>
                <a:latin typeface="Noto Sans JP" pitchFamily="34" charset="0"/>
                <a:ea typeface="Noto Sans JP" pitchFamily="34" charset="-122"/>
                <a:cs typeface="Noto Sans JP" pitchFamily="34" charset="-120"/>
              </a:rPr>
              <a:t>05</a:t>
            </a:r>
            <a:endParaRPr lang="en-US" sz="7800" dirty="0"/>
          </a:p>
        </p:txBody>
      </p:sp>
      <p:sp>
        <p:nvSpPr>
          <p:cNvPr id="3" name="Text 1"/>
          <p:cNvSpPr/>
          <p:nvPr/>
        </p:nvSpPr>
        <p:spPr>
          <a:xfrm>
            <a:off x="609905" y="3337560"/>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ワークB</a:t>
            </a:r>
            <a:endParaRPr lang="en-US" sz="3600" dirty="0"/>
          </a:p>
        </p:txBody>
      </p:sp>
      <p:sp>
        <p:nvSpPr>
          <p:cNvPr id="4" name="Text 2"/>
          <p:cNvSpPr/>
          <p:nvPr/>
        </p:nvSpPr>
        <p:spPr>
          <a:xfrm>
            <a:off x="609905" y="4114800"/>
            <a:ext cx="10972800" cy="384048"/>
          </a:xfrm>
          <a:prstGeom prst="rect">
            <a:avLst/>
          </a:prstGeom>
          <a:noFill/>
          <a:ln/>
        </p:spPr>
        <p:txBody>
          <a:bodyPr wrap="none" lIns="0" tIns="0" rIns="0" bIns="0" rtlCol="0" anchor="ctr"/>
          <a:lstStyle/>
          <a:p>
            <a:pPr indent="0" marL="0">
              <a:buNone/>
            </a:pPr>
            <a:r>
              <a:rPr lang="en-US" sz="1800" dirty="0">
                <a:solidFill>
                  <a:srgbClr val="B0AEA5"/>
                </a:solidFill>
                <a:latin typeface="Noto Sans JP" pitchFamily="34" charset="0"/>
                <a:ea typeface="Noto Sans JP" pitchFamily="34" charset="-122"/>
                <a:cs typeface="Noto Sans JP" pitchFamily="34" charset="-120"/>
              </a:rPr>
              <a:t>自分の一つを決めて、踏み出す（20分）</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どうやって作るか</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スキルを作るスキル、skill-creator に任せる</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810512"/>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作る価値があるのは、うちの部の議事録の書き方や、うちの試験報告書の書式のような固有のものだけです。</a:t>
            </a:r>
            <a:endParaRPr lang="en-US" sz="1350" dirty="0"/>
          </a:p>
        </p:txBody>
      </p:sp>
      <p:sp>
        <p:nvSpPr>
          <p:cNvPr id="6" name="Text 4"/>
          <p:cNvSpPr/>
          <p:nvPr/>
        </p:nvSpPr>
        <p:spPr>
          <a:xfrm>
            <a:off x="609905" y="2212848"/>
            <a:ext cx="2503170" cy="1572768"/>
          </a:xfrm>
          <a:prstGeom prst="roundRect">
            <a:avLst>
              <a:gd name="adj" fmla="val 4651"/>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7" name="Text 5"/>
          <p:cNvSpPr/>
          <p:nvPr/>
        </p:nvSpPr>
        <p:spPr>
          <a:xfrm>
            <a:off x="609905" y="2340864"/>
            <a:ext cx="2503170"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01</a:t>
            </a:r>
            <a:endParaRPr lang="en-US" sz="1350" dirty="0"/>
          </a:p>
        </p:txBody>
      </p:sp>
      <p:sp>
        <p:nvSpPr>
          <p:cNvPr id="8" name="Text 6"/>
          <p:cNvSpPr/>
          <p:nvPr/>
        </p:nvSpPr>
        <p:spPr>
          <a:xfrm>
            <a:off x="609905" y="2615184"/>
            <a:ext cx="2503170"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入れて、呼ぶ</a:t>
            </a:r>
            <a:endParaRPr lang="en-US" sz="1650" dirty="0"/>
          </a:p>
        </p:txBody>
      </p:sp>
      <p:sp>
        <p:nvSpPr>
          <p:cNvPr id="9" name="Text 7"/>
          <p:cNvSpPr/>
          <p:nvPr/>
        </p:nvSpPr>
        <p:spPr>
          <a:xfrm>
            <a:off x="609905" y="2962656"/>
            <a:ext cx="2503170" cy="566928"/>
          </a:xfrm>
          <a:prstGeom prst="rect">
            <a:avLst/>
          </a:prstGeom>
          <a:noFill/>
          <a:ln/>
        </p:spPr>
        <p:txBody>
          <a:bodyPr wrap="none" lIns="0" tIns="0" rIns="0" bIns="0" rtlCol="0" anchor="t"/>
          <a:lstStyle/>
          <a:p>
            <a:pPr algn="ctr" indent="0" marL="0">
              <a:lnSpc>
                <a:spcPct val="140000"/>
              </a:lnSpc>
              <a:buNone/>
            </a:pPr>
            <a:r>
              <a:rPr lang="en-US" sz="1350" dirty="0">
                <a:solidFill>
                  <a:srgbClr val="B0AEA5"/>
                </a:solidFill>
                <a:latin typeface="Noto Sans JP" pitchFamily="34" charset="0"/>
                <a:ea typeface="Noto Sans JP" pitchFamily="34" charset="-122"/>
                <a:cs typeface="Noto Sans JP" pitchFamily="34" charset="-120"/>
              </a:rPr>
              <a:t>/plugin install</a:t>
            </a:r>
            <a:endParaRPr lang="en-US" sz="1350" dirty="0"/>
          </a:p>
          <a:p>
            <a:pPr algn="ctr" indent="0" marL="0">
              <a:lnSpc>
                <a:spcPct val="140000"/>
              </a:lnSpc>
              <a:buNone/>
            </a:pPr>
            <a:r>
              <a:rPr lang="en-US" sz="1350" dirty="0">
                <a:solidFill>
                  <a:srgbClr val="B0AEA5"/>
                </a:solidFill>
                <a:latin typeface="Noto Sans JP" pitchFamily="34" charset="0"/>
                <a:ea typeface="Noto Sans JP" pitchFamily="34" charset="-122"/>
                <a:cs typeface="Noto Sans JP" pitchFamily="34" charset="-120"/>
              </a:rPr>
              <a:t>skill-creator</a:t>
            </a:r>
            <a:endParaRPr lang="en-US" sz="1350" dirty="0"/>
          </a:p>
        </p:txBody>
      </p:sp>
      <p:sp>
        <p:nvSpPr>
          <p:cNvPr id="10" name="Text 8"/>
          <p:cNvSpPr/>
          <p:nvPr/>
        </p:nvSpPr>
        <p:spPr>
          <a:xfrm>
            <a:off x="3113075" y="2212848"/>
            <a:ext cx="320040" cy="1572768"/>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a:t>
            </a:r>
            <a:endParaRPr lang="en-US" sz="2250" dirty="0"/>
          </a:p>
        </p:txBody>
      </p:sp>
      <p:sp>
        <p:nvSpPr>
          <p:cNvPr id="11" name="Text 9"/>
          <p:cNvSpPr/>
          <p:nvPr/>
        </p:nvSpPr>
        <p:spPr>
          <a:xfrm>
            <a:off x="3433115" y="2212848"/>
            <a:ext cx="2503170" cy="1572768"/>
          </a:xfrm>
          <a:prstGeom prst="roundRect">
            <a:avLst>
              <a:gd name="adj" fmla="val 4651"/>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2" name="Text 10"/>
          <p:cNvSpPr/>
          <p:nvPr/>
        </p:nvSpPr>
        <p:spPr>
          <a:xfrm>
            <a:off x="3433115" y="2340864"/>
            <a:ext cx="2503170"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02</a:t>
            </a:r>
            <a:endParaRPr lang="en-US" sz="1350" dirty="0"/>
          </a:p>
        </p:txBody>
      </p:sp>
      <p:sp>
        <p:nvSpPr>
          <p:cNvPr id="13" name="Text 11"/>
          <p:cNvSpPr/>
          <p:nvPr/>
        </p:nvSpPr>
        <p:spPr>
          <a:xfrm>
            <a:off x="3433115" y="2615184"/>
            <a:ext cx="2503170"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聞かれるまま答える</a:t>
            </a:r>
            <a:endParaRPr lang="en-US" sz="1650" dirty="0"/>
          </a:p>
        </p:txBody>
      </p:sp>
      <p:sp>
        <p:nvSpPr>
          <p:cNvPr id="14" name="Text 12"/>
          <p:cNvSpPr/>
          <p:nvPr/>
        </p:nvSpPr>
        <p:spPr>
          <a:xfrm>
            <a:off x="3433115" y="2962656"/>
            <a:ext cx="2503170" cy="566928"/>
          </a:xfrm>
          <a:prstGeom prst="rect">
            <a:avLst/>
          </a:prstGeom>
          <a:noFill/>
          <a:ln/>
        </p:spPr>
        <p:txBody>
          <a:bodyPr wrap="none" lIns="0" tIns="0" rIns="0" bIns="0" rtlCol="0" anchor="t"/>
          <a:lstStyle/>
          <a:p>
            <a:pPr algn="ctr" indent="0" marL="0">
              <a:lnSpc>
                <a:spcPct val="140000"/>
              </a:lnSpc>
              <a:buNone/>
            </a:pPr>
            <a:r>
              <a:rPr lang="en-US" sz="1350" dirty="0">
                <a:solidFill>
                  <a:srgbClr val="B0AEA5"/>
                </a:solidFill>
                <a:latin typeface="Noto Sans JP" pitchFamily="34" charset="0"/>
                <a:ea typeface="Noto Sans JP" pitchFamily="34" charset="-122"/>
                <a:cs typeface="Noto Sans JP" pitchFamily="34" charset="-120"/>
              </a:rPr>
              <a:t>何をする／いつ使う</a:t>
            </a:r>
            <a:endParaRPr lang="en-US" sz="1350" dirty="0"/>
          </a:p>
          <a:p>
            <a:pPr algn="ctr" indent="0" marL="0">
              <a:lnSpc>
                <a:spcPct val="140000"/>
              </a:lnSpc>
              <a:buNone/>
            </a:pPr>
            <a:r>
              <a:rPr lang="en-US" sz="1350" dirty="0">
                <a:solidFill>
                  <a:srgbClr val="B0AEA5"/>
                </a:solidFill>
                <a:latin typeface="Noto Sans JP" pitchFamily="34" charset="0"/>
                <a:ea typeface="Noto Sans JP" pitchFamily="34" charset="-122"/>
                <a:cs typeface="Noto Sans JP" pitchFamily="34" charset="-120"/>
              </a:rPr>
              <a:t>／どんな手順か</a:t>
            </a:r>
            <a:endParaRPr lang="en-US" sz="1350" dirty="0"/>
          </a:p>
        </p:txBody>
      </p:sp>
      <p:sp>
        <p:nvSpPr>
          <p:cNvPr id="15" name="Text 13"/>
          <p:cNvSpPr/>
          <p:nvPr/>
        </p:nvSpPr>
        <p:spPr>
          <a:xfrm>
            <a:off x="5936285" y="2212848"/>
            <a:ext cx="320040" cy="1572768"/>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a:t>
            </a:r>
            <a:endParaRPr lang="en-US" sz="2250" dirty="0"/>
          </a:p>
        </p:txBody>
      </p:sp>
      <p:sp>
        <p:nvSpPr>
          <p:cNvPr id="16" name="Text 14"/>
          <p:cNvSpPr/>
          <p:nvPr/>
        </p:nvSpPr>
        <p:spPr>
          <a:xfrm>
            <a:off x="6256325" y="2212848"/>
            <a:ext cx="2503170" cy="1572768"/>
          </a:xfrm>
          <a:prstGeom prst="roundRect">
            <a:avLst>
              <a:gd name="adj" fmla="val 4651"/>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7" name="Text 15"/>
          <p:cNvSpPr/>
          <p:nvPr/>
        </p:nvSpPr>
        <p:spPr>
          <a:xfrm>
            <a:off x="6256325" y="2340864"/>
            <a:ext cx="2503170"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03</a:t>
            </a:r>
            <a:endParaRPr lang="en-US" sz="1350" dirty="0"/>
          </a:p>
        </p:txBody>
      </p:sp>
      <p:sp>
        <p:nvSpPr>
          <p:cNvPr id="18" name="Text 16"/>
          <p:cNvSpPr/>
          <p:nvPr/>
        </p:nvSpPr>
        <p:spPr>
          <a:xfrm>
            <a:off x="6256325" y="2615184"/>
            <a:ext cx="2503170"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SKILL.md ができる</a:t>
            </a:r>
            <a:endParaRPr lang="en-US" sz="1650" dirty="0"/>
          </a:p>
        </p:txBody>
      </p:sp>
      <p:sp>
        <p:nvSpPr>
          <p:cNvPr id="19" name="Text 17"/>
          <p:cNvSpPr/>
          <p:nvPr/>
        </p:nvSpPr>
        <p:spPr>
          <a:xfrm>
            <a:off x="6256325" y="2962656"/>
            <a:ext cx="2503170" cy="566928"/>
          </a:xfrm>
          <a:prstGeom prst="rect">
            <a:avLst/>
          </a:prstGeom>
          <a:noFill/>
          <a:ln/>
        </p:spPr>
        <p:txBody>
          <a:bodyPr wrap="none" lIns="0" tIns="0" rIns="0" bIns="0" rtlCol="0" anchor="t"/>
          <a:lstStyle/>
          <a:p>
            <a:pPr algn="ctr" indent="0" marL="0">
              <a:lnSpc>
                <a:spcPct val="140000"/>
              </a:lnSpc>
              <a:buNone/>
            </a:pPr>
            <a:r>
              <a:rPr lang="en-US" sz="1350" dirty="0">
                <a:solidFill>
                  <a:srgbClr val="B0AEA5"/>
                </a:solidFill>
                <a:latin typeface="Noto Sans JP" pitchFamily="34" charset="0"/>
                <a:ea typeface="Noto Sans JP" pitchFamily="34" charset="-122"/>
                <a:cs typeface="Noto Sans JP" pitchFamily="34" charset="-120"/>
              </a:rPr>
              <a:t>フォルダごと</a:t>
            </a:r>
            <a:endParaRPr lang="en-US" sz="1350" dirty="0"/>
          </a:p>
          <a:p>
            <a:pPr algn="ctr" indent="0" marL="0">
              <a:lnSpc>
                <a:spcPct val="140000"/>
              </a:lnSpc>
              <a:buNone/>
            </a:pPr>
            <a:r>
              <a:rPr lang="en-US" sz="1350" dirty="0">
                <a:solidFill>
                  <a:srgbClr val="B0AEA5"/>
                </a:solidFill>
                <a:latin typeface="Noto Sans JP" pitchFamily="34" charset="0"/>
                <a:ea typeface="Noto Sans JP" pitchFamily="34" charset="-122"/>
                <a:cs typeface="Noto Sans JP" pitchFamily="34" charset="-120"/>
              </a:rPr>
              <a:t>生成される</a:t>
            </a:r>
            <a:endParaRPr lang="en-US" sz="1350" dirty="0"/>
          </a:p>
        </p:txBody>
      </p:sp>
      <p:sp>
        <p:nvSpPr>
          <p:cNvPr id="20" name="Text 18"/>
          <p:cNvSpPr/>
          <p:nvPr/>
        </p:nvSpPr>
        <p:spPr>
          <a:xfrm>
            <a:off x="8759495" y="2212848"/>
            <a:ext cx="320040" cy="1572768"/>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a:t>
            </a:r>
            <a:endParaRPr lang="en-US" sz="2250" dirty="0"/>
          </a:p>
        </p:txBody>
      </p:sp>
      <p:sp>
        <p:nvSpPr>
          <p:cNvPr id="21" name="Text 19"/>
          <p:cNvSpPr/>
          <p:nvPr/>
        </p:nvSpPr>
        <p:spPr>
          <a:xfrm>
            <a:off x="9079535" y="2212848"/>
            <a:ext cx="2503170" cy="1572768"/>
          </a:xfrm>
          <a:prstGeom prst="roundRect">
            <a:avLst>
              <a:gd name="adj" fmla="val 4651"/>
            </a:avLst>
          </a:prstGeom>
          <a:solidFill>
            <a:srgbClr val="232321"/>
          </a:solidFill>
          <a:ln w="1905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2" name="Text 20"/>
          <p:cNvSpPr/>
          <p:nvPr/>
        </p:nvSpPr>
        <p:spPr>
          <a:xfrm>
            <a:off x="9079535" y="2340864"/>
            <a:ext cx="2503170" cy="237744"/>
          </a:xfrm>
          <a:prstGeom prst="rect">
            <a:avLst/>
          </a:prstGeom>
          <a:noFill/>
          <a:ln/>
        </p:spPr>
        <p:txBody>
          <a:bodyPr wrap="none" lIns="0" tIns="0" rIns="0" bIns="0" rtlCol="0" anchor="ctr"/>
          <a:lstStyle/>
          <a:p>
            <a:pPr algn="ctr" indent="0" marL="0">
              <a:buNone/>
            </a:pPr>
            <a:r>
              <a:rPr lang="en-US" sz="1350" b="1" dirty="0">
                <a:solidFill>
                  <a:srgbClr val="D97757"/>
                </a:solidFill>
                <a:latin typeface="Noto Sans JP" pitchFamily="34" charset="0"/>
                <a:ea typeface="Noto Sans JP" pitchFamily="34" charset="-122"/>
                <a:cs typeface="Noto Sans JP" pitchFamily="34" charset="-120"/>
              </a:rPr>
              <a:t>04</a:t>
            </a:r>
            <a:endParaRPr lang="en-US" sz="1350" dirty="0"/>
          </a:p>
        </p:txBody>
      </p:sp>
      <p:sp>
        <p:nvSpPr>
          <p:cNvPr id="23" name="Text 21"/>
          <p:cNvSpPr/>
          <p:nvPr/>
        </p:nvSpPr>
        <p:spPr>
          <a:xfrm>
            <a:off x="9079535" y="2615184"/>
            <a:ext cx="2503170" cy="310896"/>
          </a:xfrm>
          <a:prstGeom prst="rect">
            <a:avLst/>
          </a:prstGeom>
          <a:noFill/>
          <a:ln/>
        </p:spPr>
        <p:txBody>
          <a:bodyPr wrap="none" lIns="0" tIns="0" rIns="0" bIns="0" rtlCol="0" anchor="ctr"/>
          <a:lstStyle/>
          <a:p>
            <a:pPr algn="ctr" indent="0" marL="0">
              <a:buNone/>
            </a:pPr>
            <a:r>
              <a:rPr lang="en-US" sz="1650" b="1" dirty="0">
                <a:solidFill>
                  <a:srgbClr val="FAF9F5"/>
                </a:solidFill>
                <a:latin typeface="Noto Sans JP" pitchFamily="34" charset="0"/>
                <a:ea typeface="Noto Sans JP" pitchFamily="34" charset="-122"/>
                <a:cs typeface="Noto Sans JP" pitchFamily="34" charset="-120"/>
              </a:rPr>
              <a:t>効き目を測る</a:t>
            </a:r>
            <a:endParaRPr lang="en-US" sz="1650" dirty="0"/>
          </a:p>
        </p:txBody>
      </p:sp>
      <p:sp>
        <p:nvSpPr>
          <p:cNvPr id="24" name="Text 22"/>
          <p:cNvSpPr/>
          <p:nvPr/>
        </p:nvSpPr>
        <p:spPr>
          <a:xfrm>
            <a:off x="9079535" y="2962656"/>
            <a:ext cx="2503170" cy="566928"/>
          </a:xfrm>
          <a:prstGeom prst="rect">
            <a:avLst/>
          </a:prstGeom>
          <a:noFill/>
          <a:ln/>
        </p:spPr>
        <p:txBody>
          <a:bodyPr wrap="none" lIns="0" tIns="0" rIns="0" bIns="0" rtlCol="0" anchor="t"/>
          <a:lstStyle/>
          <a:p>
            <a:pPr algn="ctr" indent="0" marL="0">
              <a:lnSpc>
                <a:spcPct val="140000"/>
              </a:lnSpc>
              <a:buNone/>
            </a:pPr>
            <a:r>
              <a:rPr lang="en-US" sz="1350" dirty="0">
                <a:solidFill>
                  <a:srgbClr val="B0AEA5"/>
                </a:solidFill>
                <a:latin typeface="Noto Sans JP" pitchFamily="34" charset="0"/>
                <a:ea typeface="Noto Sans JP" pitchFamily="34" charset="-122"/>
                <a:cs typeface="Noto Sans JP" pitchFamily="34" charset="-120"/>
              </a:rPr>
              <a:t>有りと無しで</a:t>
            </a:r>
            <a:endParaRPr lang="en-US" sz="1350" dirty="0"/>
          </a:p>
          <a:p>
            <a:pPr algn="ctr" indent="0" marL="0">
              <a:lnSpc>
                <a:spcPct val="140000"/>
              </a:lnSpc>
              <a:buNone/>
            </a:pPr>
            <a:r>
              <a:rPr lang="en-US" sz="1350" dirty="0">
                <a:solidFill>
                  <a:srgbClr val="B0AEA5"/>
                </a:solidFill>
                <a:latin typeface="Noto Sans JP" pitchFamily="34" charset="0"/>
                <a:ea typeface="Noto Sans JP" pitchFamily="34" charset="-122"/>
                <a:cs typeface="Noto Sans JP" pitchFamily="34" charset="-120"/>
              </a:rPr>
              <a:t>比べる</a:t>
            </a:r>
            <a:endParaRPr lang="en-US" sz="1350" dirty="0"/>
          </a:p>
        </p:txBody>
      </p:sp>
      <p:sp>
        <p:nvSpPr>
          <p:cNvPr id="25" name="Text 23"/>
          <p:cNvSpPr/>
          <p:nvPr/>
        </p:nvSpPr>
        <p:spPr>
          <a:xfrm>
            <a:off x="609905" y="3977640"/>
            <a:ext cx="3505200" cy="1828800"/>
          </a:xfrm>
          <a:prstGeom prst="roundRect">
            <a:avLst>
              <a:gd name="adj" fmla="val 5000"/>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6" name="Text 24"/>
          <p:cNvSpPr/>
          <p:nvPr/>
        </p:nvSpPr>
        <p:spPr>
          <a:xfrm>
            <a:off x="838505" y="4178808"/>
            <a:ext cx="3048000" cy="256032"/>
          </a:xfrm>
          <a:prstGeom prst="rect">
            <a:avLst/>
          </a:prstGeom>
          <a:noFill/>
          <a:ln/>
        </p:spPr>
        <p:txBody>
          <a:bodyPr wrap="none" lIns="0" tIns="0" rIns="0" bIns="0" rtlCol="0" anchor="ctr"/>
          <a:lstStyle/>
          <a:p>
            <a:pPr indent="0" marL="0">
              <a:buNone/>
            </a:pPr>
            <a:r>
              <a:rPr lang="en-US" sz="1350" b="1" spc="200" kern="0" dirty="0">
                <a:solidFill>
                  <a:srgbClr val="D97757"/>
                </a:solidFill>
                <a:latin typeface="Noto Sans JP" pitchFamily="34" charset="0"/>
                <a:ea typeface="Noto Sans JP" pitchFamily="34" charset="-122"/>
                <a:cs typeface="Noto Sans JP" pitchFamily="34" charset="-120"/>
              </a:rPr>
              <a:t>作る</a:t>
            </a:r>
            <a:endParaRPr lang="en-US" sz="1350" dirty="0"/>
          </a:p>
        </p:txBody>
      </p:sp>
      <p:sp>
        <p:nvSpPr>
          <p:cNvPr id="27" name="Text 25"/>
          <p:cNvSpPr/>
          <p:nvPr/>
        </p:nvSpPr>
        <p:spPr>
          <a:xfrm>
            <a:off x="838505" y="4507992"/>
            <a:ext cx="3048000" cy="82296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対話で聞かれることに</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日本語で答えるだけ。</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書式は向こうが整える。</a:t>
            </a:r>
            <a:endParaRPr lang="en-US" sz="1650" dirty="0"/>
          </a:p>
        </p:txBody>
      </p:sp>
      <p:sp>
        <p:nvSpPr>
          <p:cNvPr id="28" name="Text 26"/>
          <p:cNvSpPr/>
          <p:nvPr/>
        </p:nvSpPr>
        <p:spPr>
          <a:xfrm>
            <a:off x="4343705" y="3977640"/>
            <a:ext cx="3505200" cy="1828800"/>
          </a:xfrm>
          <a:prstGeom prst="roundRect">
            <a:avLst>
              <a:gd name="adj" fmla="val 5000"/>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29" name="Text 27"/>
          <p:cNvSpPr/>
          <p:nvPr/>
        </p:nvSpPr>
        <p:spPr>
          <a:xfrm>
            <a:off x="4572305" y="4178808"/>
            <a:ext cx="3048000" cy="256032"/>
          </a:xfrm>
          <a:prstGeom prst="rect">
            <a:avLst/>
          </a:prstGeom>
          <a:noFill/>
          <a:ln/>
        </p:spPr>
        <p:txBody>
          <a:bodyPr wrap="none" lIns="0" tIns="0" rIns="0" bIns="0" rtlCol="0" anchor="ctr"/>
          <a:lstStyle/>
          <a:p>
            <a:pPr indent="0" marL="0">
              <a:buNone/>
            </a:pPr>
            <a:r>
              <a:rPr lang="en-US" sz="1350" b="1" spc="200" kern="0" dirty="0">
                <a:solidFill>
                  <a:srgbClr val="6A9BCC"/>
                </a:solidFill>
                <a:latin typeface="Noto Sans JP" pitchFamily="34" charset="0"/>
                <a:ea typeface="Noto Sans JP" pitchFamily="34" charset="-122"/>
                <a:cs typeface="Noto Sans JP" pitchFamily="34" charset="-120"/>
              </a:rPr>
              <a:t>測る</a:t>
            </a:r>
            <a:endParaRPr lang="en-US" sz="1350" dirty="0"/>
          </a:p>
        </p:txBody>
      </p:sp>
      <p:sp>
        <p:nvSpPr>
          <p:cNvPr id="30" name="Text 28"/>
          <p:cNvSpPr/>
          <p:nvPr/>
        </p:nvSpPr>
        <p:spPr>
          <a:xfrm>
            <a:off x="4572305" y="4507992"/>
            <a:ext cx="3048000" cy="82296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スキル有りと無しで、</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結果・時間・トークンを</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比べて出してくれる。</a:t>
            </a:r>
            <a:endParaRPr lang="en-US" sz="1650" dirty="0"/>
          </a:p>
        </p:txBody>
      </p:sp>
      <p:sp>
        <p:nvSpPr>
          <p:cNvPr id="31" name="Text 29"/>
          <p:cNvSpPr/>
          <p:nvPr/>
        </p:nvSpPr>
        <p:spPr>
          <a:xfrm>
            <a:off x="8077505" y="3977640"/>
            <a:ext cx="3505200" cy="1828800"/>
          </a:xfrm>
          <a:prstGeom prst="roundRect">
            <a:avLst>
              <a:gd name="adj" fmla="val 5000"/>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32" name="Text 30"/>
          <p:cNvSpPr/>
          <p:nvPr/>
        </p:nvSpPr>
        <p:spPr>
          <a:xfrm>
            <a:off x="8306105" y="4178808"/>
            <a:ext cx="3048000" cy="256032"/>
          </a:xfrm>
          <a:prstGeom prst="rect">
            <a:avLst/>
          </a:prstGeom>
          <a:noFill/>
          <a:ln/>
        </p:spPr>
        <p:txBody>
          <a:bodyPr wrap="none" lIns="0" tIns="0" rIns="0" bIns="0" rtlCol="0" anchor="ctr"/>
          <a:lstStyle/>
          <a:p>
            <a:pPr indent="0" marL="0">
              <a:buNone/>
            </a:pPr>
            <a:r>
              <a:rPr lang="en-US" sz="1350" b="1" spc="200" kern="0" dirty="0">
                <a:solidFill>
                  <a:srgbClr val="788C5D"/>
                </a:solidFill>
                <a:latin typeface="Noto Sans JP" pitchFamily="34" charset="0"/>
                <a:ea typeface="Noto Sans JP" pitchFamily="34" charset="-122"/>
                <a:cs typeface="Noto Sans JP" pitchFamily="34" charset="-120"/>
              </a:rPr>
              <a:t>直す</a:t>
            </a:r>
            <a:endParaRPr lang="en-US" sz="1350" dirty="0"/>
          </a:p>
        </p:txBody>
      </p:sp>
      <p:sp>
        <p:nvSpPr>
          <p:cNvPr id="33" name="Text 31"/>
          <p:cNvSpPr/>
          <p:nvPr/>
        </p:nvSpPr>
        <p:spPr>
          <a:xfrm>
            <a:off x="8306105" y="4507992"/>
            <a:ext cx="3048000" cy="822960"/>
          </a:xfrm>
          <a:prstGeom prst="rect">
            <a:avLst/>
          </a:prstGeom>
          <a:noFill/>
          <a:ln/>
        </p:spPr>
        <p:txBody>
          <a:bodyPr wrap="none" lIns="0" tIns="0" rIns="0" bIns="0" rtlCol="0" anchor="t"/>
          <a:lstStyle/>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狙ったときに発動するか</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を測り、説明文の</a:t>
            </a:r>
            <a:endParaRPr lang="en-US" sz="1650" dirty="0"/>
          </a:p>
          <a:p>
            <a:pPr indent="0" marL="0">
              <a:lnSpc>
                <a:spcPct val="150000"/>
              </a:lnSpc>
              <a:buNone/>
            </a:pPr>
            <a:r>
              <a:rPr lang="en-US" sz="1650" dirty="0">
                <a:solidFill>
                  <a:srgbClr val="FAF9F5"/>
                </a:solidFill>
                <a:latin typeface="Noto Sans JP" pitchFamily="34" charset="0"/>
                <a:ea typeface="Noto Sans JP" pitchFamily="34" charset="-122"/>
                <a:cs typeface="Noto Sans JP" pitchFamily="34" charset="-120"/>
              </a:rPr>
              <a:t>修正案を出してくれる。</a:t>
            </a:r>
            <a:endParaRPr lang="en-US" sz="1650" dirty="0"/>
          </a:p>
        </p:txBody>
      </p:sp>
      <p:sp>
        <p:nvSpPr>
          <p:cNvPr id="34" name="Text 32"/>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19</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ワークBの進め方</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何を手順書にするかだけ決めて、あとは任せる</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65960"/>
            <a:ext cx="1417320" cy="566928"/>
          </a:xfrm>
          <a:prstGeom prst="rect">
            <a:avLst/>
          </a:prstGeom>
          <a:noFill/>
          <a:ln/>
        </p:spPr>
        <p:txBody>
          <a:bodyPr wrap="none" lIns="0" tIns="0" rIns="0" bIns="0" rtlCol="0" anchor="ctr"/>
          <a:lstStyle/>
          <a:p>
            <a:pPr indent="0" marL="0">
              <a:buNone/>
            </a:pPr>
            <a:r>
              <a:rPr lang="en-US" sz="1800" b="1" dirty="0">
                <a:solidFill>
                  <a:srgbClr val="D97757"/>
                </a:solidFill>
                <a:latin typeface="Noto Sans JP" pitchFamily="34" charset="0"/>
                <a:ea typeface="Noto Sans JP" pitchFamily="34" charset="-122"/>
                <a:cs typeface="Noto Sans JP" pitchFamily="34" charset="-120"/>
              </a:rPr>
              <a:t>01 選ぶ</a:t>
            </a:r>
            <a:endParaRPr lang="en-US" sz="1800" dirty="0"/>
          </a:p>
        </p:txBody>
      </p:sp>
      <p:sp>
        <p:nvSpPr>
          <p:cNvPr id="6" name="Text 4"/>
          <p:cNvSpPr/>
          <p:nvPr/>
        </p:nvSpPr>
        <p:spPr>
          <a:xfrm>
            <a:off x="2164385" y="1965960"/>
            <a:ext cx="9418320" cy="566928"/>
          </a:xfrm>
          <a:prstGeom prst="rect">
            <a:avLst/>
          </a:prstGeom>
          <a:noFill/>
          <a:ln/>
        </p:spPr>
        <p:txBody>
          <a:bodyPr wrap="none" lIns="0" tIns="0" rIns="0" bIns="0" rtlCol="0" anchor="ctr"/>
          <a:lstStyle/>
          <a:p>
            <a:pPr indent="0" marL="0">
              <a:buNone/>
            </a:pPr>
            <a:r>
              <a:rPr lang="en-US" sz="1650" dirty="0">
                <a:solidFill>
                  <a:srgbClr val="FAF9F5"/>
                </a:solidFill>
                <a:latin typeface="Noto Sans JP" pitchFamily="34" charset="0"/>
                <a:ea typeface="Noto Sans JP" pitchFamily="34" charset="-122"/>
                <a:cs typeface="Noto Sans JP" pitchFamily="34" charset="-120"/>
              </a:rPr>
              <a:t>メモした題材から一つ。週に一回以上やっていて、やり方が決まっている作業</a:t>
            </a:r>
            <a:endParaRPr lang="en-US" sz="1650" dirty="0"/>
          </a:p>
        </p:txBody>
      </p:sp>
      <p:sp>
        <p:nvSpPr>
          <p:cNvPr id="7" name="Text 5"/>
          <p:cNvSpPr/>
          <p:nvPr/>
        </p:nvSpPr>
        <p:spPr>
          <a:xfrm>
            <a:off x="609905" y="253288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8" name="Text 6"/>
          <p:cNvSpPr/>
          <p:nvPr/>
        </p:nvSpPr>
        <p:spPr>
          <a:xfrm>
            <a:off x="609905" y="2578608"/>
            <a:ext cx="1417320" cy="566928"/>
          </a:xfrm>
          <a:prstGeom prst="rect">
            <a:avLst/>
          </a:prstGeom>
          <a:noFill/>
          <a:ln/>
        </p:spPr>
        <p:txBody>
          <a:bodyPr wrap="none" lIns="0" tIns="0" rIns="0" bIns="0" rtlCol="0" anchor="ctr"/>
          <a:lstStyle/>
          <a:p>
            <a:pPr indent="0" marL="0">
              <a:buNone/>
            </a:pPr>
            <a:r>
              <a:rPr lang="en-US" sz="1800" b="1" dirty="0">
                <a:solidFill>
                  <a:srgbClr val="6A9BCC"/>
                </a:solidFill>
                <a:latin typeface="Noto Sans JP" pitchFamily="34" charset="0"/>
                <a:ea typeface="Noto Sans JP" pitchFamily="34" charset="-122"/>
                <a:cs typeface="Noto Sans JP" pitchFamily="34" charset="-120"/>
              </a:rPr>
              <a:t>02 呼ぶ</a:t>
            </a:r>
            <a:endParaRPr lang="en-US" sz="1800" dirty="0"/>
          </a:p>
        </p:txBody>
      </p:sp>
      <p:sp>
        <p:nvSpPr>
          <p:cNvPr id="9" name="Text 7"/>
          <p:cNvSpPr/>
          <p:nvPr/>
        </p:nvSpPr>
        <p:spPr>
          <a:xfrm>
            <a:off x="2164385" y="2578608"/>
            <a:ext cx="9418320" cy="566928"/>
          </a:xfrm>
          <a:prstGeom prst="rect">
            <a:avLst/>
          </a:prstGeom>
          <a:noFill/>
          <a:ln/>
        </p:spPr>
        <p:txBody>
          <a:bodyPr wrap="none" lIns="0" tIns="0" rIns="0" bIns="0" rtlCol="0" anchor="ctr"/>
          <a:lstStyle/>
          <a:p>
            <a:pPr indent="0" marL="0">
              <a:buNone/>
            </a:pPr>
            <a:r>
              <a:rPr lang="en-US" sz="1650" dirty="0">
                <a:solidFill>
                  <a:srgbClr val="FAF9F5"/>
                </a:solidFill>
                <a:latin typeface="Noto Sans JP" pitchFamily="34" charset="0"/>
                <a:ea typeface="Noto Sans JP" pitchFamily="34" charset="-122"/>
                <a:cs typeface="Noto Sans JP" pitchFamily="34" charset="-120"/>
              </a:rPr>
              <a:t>純正の一覧から skill-creator を入れて呼び出す（リロードを忘れずに）</a:t>
            </a:r>
            <a:endParaRPr lang="en-US" sz="1650" dirty="0"/>
          </a:p>
        </p:txBody>
      </p:sp>
      <p:sp>
        <p:nvSpPr>
          <p:cNvPr id="10" name="Text 8"/>
          <p:cNvSpPr/>
          <p:nvPr/>
        </p:nvSpPr>
        <p:spPr>
          <a:xfrm>
            <a:off x="609905" y="3145536"/>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1" name="Text 9"/>
          <p:cNvSpPr/>
          <p:nvPr/>
        </p:nvSpPr>
        <p:spPr>
          <a:xfrm>
            <a:off x="609905" y="3191256"/>
            <a:ext cx="1417320" cy="566928"/>
          </a:xfrm>
          <a:prstGeom prst="rect">
            <a:avLst/>
          </a:prstGeom>
          <a:noFill/>
          <a:ln/>
        </p:spPr>
        <p:txBody>
          <a:bodyPr wrap="none" lIns="0" tIns="0" rIns="0" bIns="0" rtlCol="0" anchor="ctr"/>
          <a:lstStyle/>
          <a:p>
            <a:pPr indent="0" marL="0">
              <a:buNone/>
            </a:pPr>
            <a:r>
              <a:rPr lang="en-US" sz="1800" b="1" dirty="0">
                <a:solidFill>
                  <a:srgbClr val="788C5D"/>
                </a:solidFill>
                <a:latin typeface="Noto Sans JP" pitchFamily="34" charset="0"/>
                <a:ea typeface="Noto Sans JP" pitchFamily="34" charset="-122"/>
                <a:cs typeface="Noto Sans JP" pitchFamily="34" charset="-120"/>
              </a:rPr>
              <a:t>03 答える</a:t>
            </a:r>
            <a:endParaRPr lang="en-US" sz="1800" dirty="0"/>
          </a:p>
        </p:txBody>
      </p:sp>
      <p:sp>
        <p:nvSpPr>
          <p:cNvPr id="12" name="Text 10"/>
          <p:cNvSpPr/>
          <p:nvPr/>
        </p:nvSpPr>
        <p:spPr>
          <a:xfrm>
            <a:off x="2164385" y="3191256"/>
            <a:ext cx="9418320" cy="566928"/>
          </a:xfrm>
          <a:prstGeom prst="rect">
            <a:avLst/>
          </a:prstGeom>
          <a:noFill/>
          <a:ln/>
        </p:spPr>
        <p:txBody>
          <a:bodyPr wrap="none" lIns="0" tIns="0" rIns="0" bIns="0" rtlCol="0" anchor="ctr"/>
          <a:lstStyle/>
          <a:p>
            <a:pPr indent="0" marL="0">
              <a:buNone/>
            </a:pPr>
            <a:r>
              <a:rPr lang="en-US" sz="1650" dirty="0">
                <a:solidFill>
                  <a:srgbClr val="FAF9F5"/>
                </a:solidFill>
                <a:latin typeface="Noto Sans JP" pitchFamily="34" charset="0"/>
                <a:ea typeface="Noto Sans JP" pitchFamily="34" charset="-122"/>
                <a:cs typeface="Noto Sans JP" pitchFamily="34" charset="-120"/>
              </a:rPr>
              <a:t>何をするものか、どういうときに使うか、と聞かれるので日本語で答える</a:t>
            </a:r>
            <a:endParaRPr lang="en-US" sz="1650" dirty="0"/>
          </a:p>
        </p:txBody>
      </p:sp>
      <p:sp>
        <p:nvSpPr>
          <p:cNvPr id="13" name="Text 11"/>
          <p:cNvSpPr/>
          <p:nvPr/>
        </p:nvSpPr>
        <p:spPr>
          <a:xfrm>
            <a:off x="609905" y="3758184"/>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4" name="Text 12"/>
          <p:cNvSpPr/>
          <p:nvPr/>
        </p:nvSpPr>
        <p:spPr>
          <a:xfrm>
            <a:off x="609905" y="4023360"/>
            <a:ext cx="10972800" cy="822960"/>
          </a:xfrm>
          <a:prstGeom prst="roundRect">
            <a:avLst>
              <a:gd name="adj" fmla="val 11111"/>
            </a:avLst>
          </a:prstGeom>
          <a:solidFill>
            <a:srgbClr val="232321"/>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5" name="Text 13"/>
          <p:cNvSpPr/>
          <p:nvPr/>
        </p:nvSpPr>
        <p:spPr>
          <a:xfrm>
            <a:off x="609905" y="4023360"/>
            <a:ext cx="10972800" cy="82296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完成は目標ではありません。決めて、作り始められていれば十分です</a:t>
            </a:r>
            <a:endParaRPr lang="en-US" sz="2250" dirty="0"/>
          </a:p>
        </p:txBody>
      </p:sp>
      <p:sp>
        <p:nvSpPr>
          <p:cNvPr id="16" name="Text 14"/>
          <p:cNvSpPr/>
          <p:nvPr/>
        </p:nvSpPr>
        <p:spPr>
          <a:xfrm>
            <a:off x="609905" y="5120640"/>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十二分半で終わらなくて当たり前です。途中の状態は残りますので、続きは持ち帰ってください。</a:t>
            </a:r>
            <a:endParaRPr lang="en-US" sz="1350" dirty="0"/>
          </a:p>
        </p:txBody>
      </p:sp>
      <p:sp>
        <p:nvSpPr>
          <p:cNvPr id="17" name="Text 15"/>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20</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ワークBの振り返り</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何を手順書にしようとしたかを共有する</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65960"/>
            <a:ext cx="3553968" cy="868680"/>
          </a:xfrm>
          <a:prstGeom prst="roundRect">
            <a:avLst>
              <a:gd name="adj" fmla="val 10526"/>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6" name="Text 4"/>
          <p:cNvSpPr/>
          <p:nvPr/>
        </p:nvSpPr>
        <p:spPr>
          <a:xfrm>
            <a:off x="838505" y="2112264"/>
            <a:ext cx="3096768" cy="219456"/>
          </a:xfrm>
          <a:prstGeom prst="rect">
            <a:avLst/>
          </a:prstGeom>
          <a:noFill/>
          <a:ln/>
        </p:spPr>
        <p:txBody>
          <a:bodyPr wrap="none" lIns="0" tIns="0" rIns="0" bIns="0" rtlCol="0" anchor="ctr"/>
          <a:lstStyle/>
          <a:p>
            <a:pPr indent="0" marL="0">
              <a:buNone/>
            </a:pPr>
            <a:r>
              <a:rPr lang="en-US" sz="1050" b="1" spc="100" kern="0" dirty="0">
                <a:solidFill>
                  <a:srgbClr val="D97757"/>
                </a:solidFill>
                <a:latin typeface="Noto Sans JP" pitchFamily="34" charset="0"/>
                <a:ea typeface="Noto Sans JP" pitchFamily="34" charset="-122"/>
                <a:cs typeface="Noto Sans JP" pitchFamily="34" charset="-120"/>
              </a:rPr>
              <a:t>01</a:t>
            </a:r>
            <a:endParaRPr lang="en-US" sz="1050" dirty="0"/>
          </a:p>
        </p:txBody>
      </p:sp>
      <p:sp>
        <p:nvSpPr>
          <p:cNvPr id="7" name="Text 5"/>
          <p:cNvSpPr/>
          <p:nvPr/>
        </p:nvSpPr>
        <p:spPr>
          <a:xfrm>
            <a:off x="838505" y="2377440"/>
            <a:ext cx="3096768" cy="274320"/>
          </a:xfrm>
          <a:prstGeom prst="rect">
            <a:avLst/>
          </a:prstGeom>
          <a:noFill/>
          <a:ln/>
        </p:spPr>
        <p:txBody>
          <a:bodyPr wrap="none" lIns="0" tIns="0" rIns="0" bIns="0" rtlCol="0" anchor="t"/>
          <a:lstStyle/>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何を題材に選んだか</a:t>
            </a:r>
            <a:endParaRPr lang="en-US" sz="1350" dirty="0"/>
          </a:p>
        </p:txBody>
      </p:sp>
      <p:sp>
        <p:nvSpPr>
          <p:cNvPr id="8" name="Text 6"/>
          <p:cNvSpPr/>
          <p:nvPr/>
        </p:nvSpPr>
        <p:spPr>
          <a:xfrm>
            <a:off x="4319321" y="1965960"/>
            <a:ext cx="3553968" cy="868680"/>
          </a:xfrm>
          <a:prstGeom prst="roundRect">
            <a:avLst>
              <a:gd name="adj" fmla="val 10526"/>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9" name="Text 7"/>
          <p:cNvSpPr/>
          <p:nvPr/>
        </p:nvSpPr>
        <p:spPr>
          <a:xfrm>
            <a:off x="4547921" y="2112264"/>
            <a:ext cx="3096768" cy="219456"/>
          </a:xfrm>
          <a:prstGeom prst="rect">
            <a:avLst/>
          </a:prstGeom>
          <a:noFill/>
          <a:ln/>
        </p:spPr>
        <p:txBody>
          <a:bodyPr wrap="none" lIns="0" tIns="0" rIns="0" bIns="0" rtlCol="0" anchor="ctr"/>
          <a:lstStyle/>
          <a:p>
            <a:pPr indent="0" marL="0">
              <a:buNone/>
            </a:pPr>
            <a:r>
              <a:rPr lang="en-US" sz="1050" b="1" spc="100" kern="0" dirty="0">
                <a:solidFill>
                  <a:srgbClr val="6A9BCC"/>
                </a:solidFill>
                <a:latin typeface="Noto Sans JP" pitchFamily="34" charset="0"/>
                <a:ea typeface="Noto Sans JP" pitchFamily="34" charset="-122"/>
                <a:cs typeface="Noto Sans JP" pitchFamily="34" charset="-120"/>
              </a:rPr>
              <a:t>02</a:t>
            </a:r>
            <a:endParaRPr lang="en-US" sz="1050" dirty="0"/>
          </a:p>
        </p:txBody>
      </p:sp>
      <p:sp>
        <p:nvSpPr>
          <p:cNvPr id="10" name="Text 8"/>
          <p:cNvSpPr/>
          <p:nvPr/>
        </p:nvSpPr>
        <p:spPr>
          <a:xfrm>
            <a:off x="4547921" y="2377440"/>
            <a:ext cx="3096768" cy="274320"/>
          </a:xfrm>
          <a:prstGeom prst="rect">
            <a:avLst/>
          </a:prstGeom>
          <a:noFill/>
          <a:ln/>
        </p:spPr>
        <p:txBody>
          <a:bodyPr wrap="none" lIns="0" tIns="0" rIns="0" bIns="0" rtlCol="0" anchor="t"/>
          <a:lstStyle/>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どこまで進んだか</a:t>
            </a:r>
            <a:endParaRPr lang="en-US" sz="1350" dirty="0"/>
          </a:p>
        </p:txBody>
      </p:sp>
      <p:sp>
        <p:nvSpPr>
          <p:cNvPr id="11" name="Text 9"/>
          <p:cNvSpPr/>
          <p:nvPr/>
        </p:nvSpPr>
        <p:spPr>
          <a:xfrm>
            <a:off x="8028737" y="1965960"/>
            <a:ext cx="3553968" cy="868680"/>
          </a:xfrm>
          <a:prstGeom prst="roundRect">
            <a:avLst>
              <a:gd name="adj" fmla="val 10526"/>
            </a:avLst>
          </a:prstGeom>
          <a:solidFill>
            <a:srgbClr val="232321"/>
          </a:solidFill>
          <a:ln w="19050">
            <a:solidFill>
              <a:srgbClr val="3D3D3A"/>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2" name="Text 10"/>
          <p:cNvSpPr/>
          <p:nvPr/>
        </p:nvSpPr>
        <p:spPr>
          <a:xfrm>
            <a:off x="8257337" y="2112264"/>
            <a:ext cx="3096768" cy="219456"/>
          </a:xfrm>
          <a:prstGeom prst="rect">
            <a:avLst/>
          </a:prstGeom>
          <a:noFill/>
          <a:ln/>
        </p:spPr>
        <p:txBody>
          <a:bodyPr wrap="none" lIns="0" tIns="0" rIns="0" bIns="0" rtlCol="0" anchor="ctr"/>
          <a:lstStyle/>
          <a:p>
            <a:pPr indent="0" marL="0">
              <a:buNone/>
            </a:pPr>
            <a:r>
              <a:rPr lang="en-US" sz="1050" b="1" spc="100" kern="0" dirty="0">
                <a:solidFill>
                  <a:srgbClr val="788C5D"/>
                </a:solidFill>
                <a:latin typeface="Noto Sans JP" pitchFamily="34" charset="0"/>
                <a:ea typeface="Noto Sans JP" pitchFamily="34" charset="-122"/>
                <a:cs typeface="Noto Sans JP" pitchFamily="34" charset="-120"/>
              </a:rPr>
              <a:t>03</a:t>
            </a:r>
            <a:endParaRPr lang="en-US" sz="1050" dirty="0"/>
          </a:p>
        </p:txBody>
      </p:sp>
      <p:sp>
        <p:nvSpPr>
          <p:cNvPr id="13" name="Text 11"/>
          <p:cNvSpPr/>
          <p:nvPr/>
        </p:nvSpPr>
        <p:spPr>
          <a:xfrm>
            <a:off x="8257337" y="2377440"/>
            <a:ext cx="3096768" cy="274320"/>
          </a:xfrm>
          <a:prstGeom prst="rect">
            <a:avLst/>
          </a:prstGeom>
          <a:noFill/>
          <a:ln/>
        </p:spPr>
        <p:txBody>
          <a:bodyPr wrap="none" lIns="0" tIns="0" rIns="0" bIns="0" rtlCol="0" anchor="t"/>
          <a:lstStyle/>
          <a:p>
            <a:pPr indent="0" marL="0">
              <a:lnSpc>
                <a:spcPct val="145000"/>
              </a:lnSpc>
              <a:buNone/>
            </a:pPr>
            <a:r>
              <a:rPr lang="en-US" sz="1350" dirty="0">
                <a:solidFill>
                  <a:srgbClr val="FAF9F5"/>
                </a:solidFill>
                <a:latin typeface="Noto Sans JP" pitchFamily="34" charset="0"/>
                <a:ea typeface="Noto Sans JP" pitchFamily="34" charset="-122"/>
                <a:cs typeface="Noto Sans JP" pitchFamily="34" charset="-120"/>
              </a:rPr>
              <a:t>何に詰まったか</a:t>
            </a:r>
            <a:endParaRPr lang="en-US" sz="1350" dirty="0"/>
          </a:p>
        </p:txBody>
      </p:sp>
      <p:sp>
        <p:nvSpPr>
          <p:cNvPr id="14" name="Text 12"/>
          <p:cNvSpPr/>
          <p:nvPr/>
        </p:nvSpPr>
        <p:spPr>
          <a:xfrm>
            <a:off x="609905" y="3108960"/>
            <a:ext cx="10972800" cy="822960"/>
          </a:xfrm>
          <a:prstGeom prst="roundRect">
            <a:avLst>
              <a:gd name="adj" fmla="val 11111"/>
            </a:avLst>
          </a:prstGeom>
          <a:solidFill>
            <a:srgbClr val="232321"/>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5" name="Text 13"/>
          <p:cNvSpPr/>
          <p:nvPr/>
        </p:nvSpPr>
        <p:spPr>
          <a:xfrm>
            <a:off x="609905" y="3108960"/>
            <a:ext cx="10972800" cy="82296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完成していなくて当たり前です</a:t>
            </a:r>
            <a:endParaRPr lang="en-US" sz="2250" dirty="0"/>
          </a:p>
        </p:txBody>
      </p:sp>
      <p:sp>
        <p:nvSpPr>
          <p:cNvPr id="16" name="Text 14"/>
          <p:cNvSpPr/>
          <p:nvPr/>
        </p:nvSpPr>
        <p:spPr>
          <a:xfrm>
            <a:off x="609905" y="4206240"/>
            <a:ext cx="10972800" cy="292608"/>
          </a:xfrm>
          <a:prstGeom prst="rect">
            <a:avLst/>
          </a:prstGeom>
          <a:noFill/>
          <a:ln/>
        </p:spPr>
        <p:txBody>
          <a:bodyPr wrap="none" lIns="0" tIns="0" rIns="0" bIns="0" rtlCol="0" anchor="t"/>
          <a:lstStyle/>
          <a:p>
            <a:pPr indent="0" marL="0">
              <a:lnSpc>
                <a:spcPct val="150000"/>
              </a:lnSpc>
              <a:buNone/>
            </a:pPr>
            <a:r>
              <a:rPr lang="en-US" sz="1350" dirty="0">
                <a:solidFill>
                  <a:srgbClr val="B0AEA5"/>
                </a:solidFill>
                <a:latin typeface="Noto Sans JP" pitchFamily="34" charset="0"/>
                <a:ea typeface="Noto Sans JP" pitchFamily="34" charset="-122"/>
                <a:cs typeface="Noto Sans JP" pitchFamily="34" charset="-120"/>
              </a:rPr>
              <a:t>何を手順書にしようと思ったか、を言葉にできていれば十分です。お一人三十秒ずつでどうぞ。</a:t>
            </a:r>
            <a:endParaRPr lang="en-US" sz="1350" dirty="0"/>
          </a:p>
        </p:txBody>
      </p:sp>
      <p:sp>
        <p:nvSpPr>
          <p:cNvPr id="17" name="Text 15"/>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21</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09905" y="384048"/>
            <a:ext cx="10972800" cy="640080"/>
          </a:xfrm>
          <a:prstGeom prst="rect">
            <a:avLst/>
          </a:prstGeom>
          <a:noFill/>
          <a:ln/>
        </p:spPr>
        <p:txBody>
          <a:bodyPr wrap="none" lIns="0" tIns="0" rIns="0" bIns="0" rtlCol="0" anchor="ctr"/>
          <a:lstStyle/>
          <a:p>
            <a:pPr indent="0" marL="0">
              <a:buNone/>
            </a:pPr>
            <a:r>
              <a:rPr lang="en-US" sz="3600" b="1" dirty="0">
                <a:solidFill>
                  <a:srgbClr val="FAF9F5"/>
                </a:solidFill>
                <a:latin typeface="Noto Sans JP" pitchFamily="34" charset="0"/>
                <a:ea typeface="Noto Sans JP" pitchFamily="34" charset="-122"/>
                <a:cs typeface="Noto Sans JP" pitchFamily="34" charset="-120"/>
              </a:rPr>
              <a:t>二度目からは、あなたの手順書がある</a:t>
            </a:r>
            <a:endParaRPr lang="en-US" sz="3600" dirty="0"/>
          </a:p>
        </p:txBody>
      </p:sp>
      <p:sp>
        <p:nvSpPr>
          <p:cNvPr id="3" name="Text 1"/>
          <p:cNvSpPr/>
          <p:nvPr/>
        </p:nvSpPr>
        <p:spPr>
          <a:xfrm>
            <a:off x="609905" y="1078992"/>
            <a:ext cx="10972800" cy="502920"/>
          </a:xfrm>
          <a:prstGeom prst="rect">
            <a:avLst/>
          </a:prstGeom>
          <a:noFill/>
          <a:ln/>
        </p:spPr>
        <p:txBody>
          <a:bodyPr wrap="none" lIns="0" tIns="0" rIns="0" bIns="0" rtlCol="0" anchor="ctr"/>
          <a:lstStyle/>
          <a:p>
            <a:pPr indent="0" marL="0">
              <a:buNone/>
            </a:pPr>
            <a:r>
              <a:rPr lang="en-US" sz="2550" dirty="0">
                <a:solidFill>
                  <a:srgbClr val="B0AEA5"/>
                </a:solidFill>
                <a:latin typeface="Noto Sans JP" pitchFamily="34" charset="0"/>
                <a:ea typeface="Noto Sans JP" pitchFamily="34" charset="-122"/>
                <a:cs typeface="Noto Sans JP" pitchFamily="34" charset="-120"/>
              </a:rPr>
              <a:t>今日、やり方が残る形になりました</a:t>
            </a:r>
            <a:endParaRPr lang="en-US" sz="2550" dirty="0"/>
          </a:p>
        </p:txBody>
      </p:sp>
      <p:sp>
        <p:nvSpPr>
          <p:cNvPr id="4" name="Text 2"/>
          <p:cNvSpPr/>
          <p:nvPr/>
        </p:nvSpPr>
        <p:spPr>
          <a:xfrm>
            <a:off x="609905" y="166420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5" name="Text 3"/>
          <p:cNvSpPr/>
          <p:nvPr/>
        </p:nvSpPr>
        <p:spPr>
          <a:xfrm>
            <a:off x="609905" y="1965960"/>
            <a:ext cx="548640" cy="658368"/>
          </a:xfrm>
          <a:prstGeom prst="rect">
            <a:avLst/>
          </a:prstGeom>
          <a:noFill/>
          <a:ln/>
        </p:spPr>
        <p:txBody>
          <a:bodyPr wrap="none" lIns="0" tIns="0" rIns="0" bIns="0" rtlCol="0" anchor="t"/>
          <a:lstStyle/>
          <a:p>
            <a:pPr indent="0" marL="0">
              <a:buNone/>
            </a:pPr>
            <a:r>
              <a:rPr lang="en-US" sz="2250" b="1" dirty="0">
                <a:solidFill>
                  <a:srgbClr val="D97757"/>
                </a:solidFill>
                <a:latin typeface="Noto Sans JP" pitchFamily="34" charset="0"/>
                <a:ea typeface="Noto Sans JP" pitchFamily="34" charset="-122"/>
                <a:cs typeface="Noto Sans JP" pitchFamily="34" charset="-120"/>
              </a:rPr>
              <a:t>1</a:t>
            </a:r>
            <a:endParaRPr lang="en-US" sz="2250" dirty="0"/>
          </a:p>
        </p:txBody>
      </p:sp>
      <p:sp>
        <p:nvSpPr>
          <p:cNvPr id="6" name="Text 4"/>
          <p:cNvSpPr/>
          <p:nvPr/>
        </p:nvSpPr>
        <p:spPr>
          <a:xfrm>
            <a:off x="1295705" y="1965960"/>
            <a:ext cx="10287000" cy="658368"/>
          </a:xfrm>
          <a:prstGeom prst="rect">
            <a:avLst/>
          </a:prstGeom>
          <a:noFill/>
          <a:ln/>
        </p:spPr>
        <p:txBody>
          <a:bodyPr wrap="none" lIns="0" tIns="0" rIns="0" bIns="0" rtlCol="0" anchor="t"/>
          <a:lstStyle/>
          <a:p>
            <a:pPr indent="0" marL="0">
              <a:buNone/>
            </a:pPr>
            <a:r>
              <a:rPr lang="en-US" sz="1800" dirty="0">
                <a:solidFill>
                  <a:srgbClr val="FAF9F5"/>
                </a:solidFill>
                <a:latin typeface="Noto Sans JP" pitchFamily="34" charset="0"/>
                <a:ea typeface="Noto Sans JP" pitchFamily="34" charset="-122"/>
                <a:cs typeface="Noto Sans JP" pitchFamily="34" charset="-120"/>
              </a:rPr>
              <a:t>手元に、公開されたスキルが一つと、作りかけの自分のスキルが一つ</a:t>
            </a:r>
            <a:endParaRPr lang="en-US" sz="1800" dirty="0"/>
          </a:p>
        </p:txBody>
      </p:sp>
      <p:sp>
        <p:nvSpPr>
          <p:cNvPr id="7" name="Text 5"/>
          <p:cNvSpPr/>
          <p:nvPr/>
        </p:nvSpPr>
        <p:spPr>
          <a:xfrm>
            <a:off x="609905" y="2624328"/>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8" name="Text 6"/>
          <p:cNvSpPr/>
          <p:nvPr/>
        </p:nvSpPr>
        <p:spPr>
          <a:xfrm>
            <a:off x="609905" y="2715768"/>
            <a:ext cx="548640" cy="658368"/>
          </a:xfrm>
          <a:prstGeom prst="rect">
            <a:avLst/>
          </a:prstGeom>
          <a:noFill/>
          <a:ln/>
        </p:spPr>
        <p:txBody>
          <a:bodyPr wrap="none" lIns="0" tIns="0" rIns="0" bIns="0" rtlCol="0" anchor="t"/>
          <a:lstStyle/>
          <a:p>
            <a:pPr indent="0" marL="0">
              <a:buNone/>
            </a:pPr>
            <a:r>
              <a:rPr lang="en-US" sz="2250" b="1" dirty="0">
                <a:solidFill>
                  <a:srgbClr val="6A9BCC"/>
                </a:solidFill>
                <a:latin typeface="Noto Sans JP" pitchFamily="34" charset="0"/>
                <a:ea typeface="Noto Sans JP" pitchFamily="34" charset="-122"/>
                <a:cs typeface="Noto Sans JP" pitchFamily="34" charset="-120"/>
              </a:rPr>
              <a:t>2</a:t>
            </a:r>
            <a:endParaRPr lang="en-US" sz="2250" dirty="0"/>
          </a:p>
        </p:txBody>
      </p:sp>
      <p:sp>
        <p:nvSpPr>
          <p:cNvPr id="9" name="Text 7"/>
          <p:cNvSpPr/>
          <p:nvPr/>
        </p:nvSpPr>
        <p:spPr>
          <a:xfrm>
            <a:off x="1295705" y="2715768"/>
            <a:ext cx="10287000" cy="658368"/>
          </a:xfrm>
          <a:prstGeom prst="rect">
            <a:avLst/>
          </a:prstGeom>
          <a:noFill/>
          <a:ln/>
        </p:spPr>
        <p:txBody>
          <a:bodyPr wrap="none" lIns="0" tIns="0" rIns="0" bIns="0" rtlCol="0" anchor="t"/>
          <a:lstStyle/>
          <a:p>
            <a:pPr indent="0" marL="0">
              <a:buNone/>
            </a:pPr>
            <a:r>
              <a:rPr lang="en-US" sz="1800" dirty="0">
                <a:solidFill>
                  <a:srgbClr val="FAF9F5"/>
                </a:solidFill>
                <a:latin typeface="Noto Sans JP" pitchFamily="34" charset="0"/>
                <a:ea typeface="Noto Sans JP" pitchFamily="34" charset="-122"/>
                <a:cs typeface="Noto Sans JP" pitchFamily="34" charset="-120"/>
              </a:rPr>
              <a:t>持ち帰り物は、今日のスライドと、探し方・入れ方・最小の型の一枚</a:t>
            </a:r>
            <a:endParaRPr lang="en-US" sz="1800" dirty="0"/>
          </a:p>
        </p:txBody>
      </p:sp>
      <p:sp>
        <p:nvSpPr>
          <p:cNvPr id="10" name="Text 8"/>
          <p:cNvSpPr/>
          <p:nvPr/>
        </p:nvSpPr>
        <p:spPr>
          <a:xfrm>
            <a:off x="609905" y="3374136"/>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1" name="Text 9"/>
          <p:cNvSpPr/>
          <p:nvPr/>
        </p:nvSpPr>
        <p:spPr>
          <a:xfrm>
            <a:off x="609905" y="3465576"/>
            <a:ext cx="548640" cy="658368"/>
          </a:xfrm>
          <a:prstGeom prst="rect">
            <a:avLst/>
          </a:prstGeom>
          <a:noFill/>
          <a:ln/>
        </p:spPr>
        <p:txBody>
          <a:bodyPr wrap="none" lIns="0" tIns="0" rIns="0" bIns="0" rtlCol="0" anchor="t"/>
          <a:lstStyle/>
          <a:p>
            <a:pPr indent="0" marL="0">
              <a:buNone/>
            </a:pPr>
            <a:r>
              <a:rPr lang="en-US" sz="2250" b="1" dirty="0">
                <a:solidFill>
                  <a:srgbClr val="788C5D"/>
                </a:solidFill>
                <a:latin typeface="Noto Sans JP" pitchFamily="34" charset="0"/>
                <a:ea typeface="Noto Sans JP" pitchFamily="34" charset="-122"/>
                <a:cs typeface="Noto Sans JP" pitchFamily="34" charset="-120"/>
              </a:rPr>
              <a:t>3</a:t>
            </a:r>
            <a:endParaRPr lang="en-US" sz="2250" dirty="0"/>
          </a:p>
        </p:txBody>
      </p:sp>
      <p:sp>
        <p:nvSpPr>
          <p:cNvPr id="12" name="Text 10"/>
          <p:cNvSpPr/>
          <p:nvPr/>
        </p:nvSpPr>
        <p:spPr>
          <a:xfrm>
            <a:off x="1295705" y="3465576"/>
            <a:ext cx="10287000" cy="658368"/>
          </a:xfrm>
          <a:prstGeom prst="rect">
            <a:avLst/>
          </a:prstGeom>
          <a:noFill/>
          <a:ln/>
        </p:spPr>
        <p:txBody>
          <a:bodyPr wrap="none" lIns="0" tIns="0" rIns="0" bIns="0" rtlCol="0" anchor="t"/>
          <a:lstStyle/>
          <a:p>
            <a:pPr indent="0" marL="0">
              <a:buNone/>
            </a:pPr>
            <a:r>
              <a:rPr lang="en-US" sz="1800" dirty="0">
                <a:solidFill>
                  <a:srgbClr val="FAF9F5"/>
                </a:solidFill>
                <a:latin typeface="Noto Sans JP" pitchFamily="34" charset="0"/>
                <a:ea typeface="Noto Sans JP" pitchFamily="34" charset="-122"/>
                <a:cs typeface="Noto Sans JP" pitchFamily="34" charset="-120"/>
              </a:rPr>
              <a:t>次の一歩は、作りかけを一本仕上げること。一ヶ月使わなければ外すこと</a:t>
            </a:r>
            <a:endParaRPr lang="en-US" sz="1800" dirty="0"/>
          </a:p>
        </p:txBody>
      </p:sp>
      <p:sp>
        <p:nvSpPr>
          <p:cNvPr id="13" name="Text 11"/>
          <p:cNvSpPr/>
          <p:nvPr/>
        </p:nvSpPr>
        <p:spPr>
          <a:xfrm>
            <a:off x="609905" y="4123944"/>
            <a:ext cx="10972800" cy="0"/>
          </a:xfrm>
          <a:prstGeom prst="line">
            <a:avLst/>
          </a:prstGeom>
          <a:noFill/>
          <a:ln w="12700">
            <a:solidFill>
              <a:srgbClr val="3D3D3A"/>
            </a:solidFill>
            <a:prstDash val="solid"/>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4" name="Text 12"/>
          <p:cNvSpPr/>
          <p:nvPr/>
        </p:nvSpPr>
        <p:spPr>
          <a:xfrm>
            <a:off x="609905" y="4434840"/>
            <a:ext cx="10972800" cy="822960"/>
          </a:xfrm>
          <a:prstGeom prst="roundRect">
            <a:avLst>
              <a:gd name="adj" fmla="val 11111"/>
            </a:avLst>
          </a:prstGeom>
          <a:solidFill>
            <a:srgbClr val="232321"/>
          </a:solidFill>
          <a:ln w="27940">
            <a:solidFill>
              <a:srgbClr val="D97757"/>
            </a:solidFill>
          </a:ln>
        </p:spPr>
        <p:txBody>
          <a:bodyPr wrap="none" lIns="0" tIns="0" rIns="0" bIns="0" rtlCol="0" anchor="ctr"/>
          <a:lstStyle/>
          <a:p>
            <a:pPr indent="0" marL="0">
              <a:buNone/>
            </a:pPr>
            <a:r>
              <a:rPr lang="en-US" dirty="0">
                <a:solidFill>
                  <a:srgbClr val="000000"/>
                </a:solidFill>
                <a:latin typeface="Noto Sans JP" pitchFamily="34" charset="0"/>
                <a:ea typeface="Noto Sans JP" pitchFamily="34" charset="-122"/>
                <a:cs typeface="Noto Sans JP" pitchFamily="34" charset="-120"/>
              </a:rPr>
              <a:t> </a:t>
            </a:r>
            <a:endParaRPr lang="en-US" dirty="0"/>
          </a:p>
        </p:txBody>
      </p:sp>
      <p:sp>
        <p:nvSpPr>
          <p:cNvPr id="15" name="Text 13"/>
          <p:cNvSpPr/>
          <p:nvPr/>
        </p:nvSpPr>
        <p:spPr>
          <a:xfrm>
            <a:off x="609905" y="4434840"/>
            <a:ext cx="10972800" cy="822960"/>
          </a:xfrm>
          <a:prstGeom prst="rect">
            <a:avLst/>
          </a:prstGeom>
          <a:noFill/>
          <a:ln/>
        </p:spPr>
        <p:txBody>
          <a:bodyPr wrap="none" lIns="0" tIns="0" rIns="0" bIns="0" rtlCol="0" anchor="ctr"/>
          <a:lstStyle/>
          <a:p>
            <a:pPr algn="ctr" indent="0" marL="0">
              <a:buNone/>
            </a:pPr>
            <a:r>
              <a:rPr lang="en-US" sz="2250" b="1" dirty="0">
                <a:solidFill>
                  <a:srgbClr val="D97757"/>
                </a:solidFill>
                <a:latin typeface="Noto Sans JP" pitchFamily="34" charset="0"/>
                <a:ea typeface="Noto Sans JP" pitchFamily="34" charset="-122"/>
                <a:cs typeface="Noto Sans JP" pitchFamily="34" charset="-120"/>
              </a:rPr>
              <a:t>一度きりで、終わらせない</a:t>
            </a:r>
            <a:endParaRPr lang="en-US" sz="2250" dirty="0"/>
          </a:p>
        </p:txBody>
      </p:sp>
      <p:sp>
        <p:nvSpPr>
          <p:cNvPr id="16" name="Text 14"/>
          <p:cNvSpPr/>
          <p:nvPr/>
        </p:nvSpPr>
        <p:spPr>
          <a:xfrm>
            <a:off x="10058400" y="6355080"/>
            <a:ext cx="1673352" cy="320040"/>
          </a:xfrm>
          <a:prstGeom prst="rect">
            <a:avLst/>
          </a:prstGeom>
          <a:noFill/>
          <a:ln/>
        </p:spPr>
        <p:txBody>
          <a:bodyPr wrap="none" lIns="0" tIns="0" rIns="0" bIns="0" rtlCol="0" anchor="ctr"/>
          <a:lstStyle/>
          <a:p>
            <a:pPr algn="r" indent="0" marL="0">
              <a:buNone/>
            </a:pPr>
            <a:r>
              <a:rPr lang="en-US" sz="1050" dirty="0">
                <a:solidFill>
                  <a:srgbClr val="B0AEA5"/>
                </a:solidFill>
                <a:latin typeface="Noto Sans JP" pitchFamily="34" charset="0"/>
                <a:ea typeface="Noto Sans JP" pitchFamily="34" charset="-122"/>
                <a:cs typeface="Noto Sans JP" pitchFamily="34" charset="-120"/>
              </a:rPr>
              <a:t>22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一度きりで、終わらせない — Claude Code エージェントスキル入門</dc:title>
  <dc:subject>PptxGenJS Presentation</dc:subject>
  <dc:creator>create_seminar_skills</dc:creator>
  <cp:lastModifiedBy>create_seminar_skills</cp:lastModifiedBy>
  <cp:revision>1</cp:revision>
  <dcterms:created xsi:type="dcterms:W3CDTF">2026-08-02T13:20:38Z</dcterms:created>
  <dcterms:modified xsi:type="dcterms:W3CDTF">2026-08-02T13:20:38Z</dcterms:modified>
</cp:coreProperties>
</file>